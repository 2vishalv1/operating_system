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411" r:id="rId3"/>
    <p:sldId id="412" r:id="rId4"/>
    <p:sldId id="413" r:id="rId5"/>
    <p:sldId id="468" r:id="rId6"/>
    <p:sldId id="414" r:id="rId7"/>
    <p:sldId id="499" r:id="rId8"/>
    <p:sldId id="415" r:id="rId9"/>
    <p:sldId id="416" r:id="rId10"/>
    <p:sldId id="417" r:id="rId11"/>
    <p:sldId id="419" r:id="rId12"/>
    <p:sldId id="469" r:id="rId13"/>
    <p:sldId id="421" r:id="rId14"/>
    <p:sldId id="422" r:id="rId15"/>
    <p:sldId id="423" r:id="rId16"/>
    <p:sldId id="500" r:id="rId17"/>
    <p:sldId id="501" r:id="rId18"/>
    <p:sldId id="428" r:id="rId19"/>
    <p:sldId id="429" r:id="rId20"/>
    <p:sldId id="431" r:id="rId21"/>
    <p:sldId id="430" r:id="rId22"/>
    <p:sldId id="432" r:id="rId23"/>
    <p:sldId id="478" r:id="rId24"/>
    <p:sldId id="434" r:id="rId25"/>
    <p:sldId id="471" r:id="rId26"/>
    <p:sldId id="502" r:id="rId27"/>
    <p:sldId id="435" r:id="rId28"/>
    <p:sldId id="436" r:id="rId29"/>
    <p:sldId id="43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11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1CB643-DCC8-44F3-A0A2-A3DCDD9E66E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D70974-B9D7-44BB-842A-1DF1E23F6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04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0DF96DF-3F74-4EB3-AA2E-7D9494973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557FD8-EB60-4E74-935E-C71DFE670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BCFB357-A457-418B-BC82-12A7792871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AC72817-56C5-4C77-BF6F-D63723000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730F164-3563-441D-A2BB-9ECF873C6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8081F0E-1362-4F6F-BE70-E88D6BFB0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FB97593-0041-4772-A59B-E780BE22D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77EF500-B7A4-4BC7-84F3-DC9FCA5B5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55D7E6C-E4BC-4E16-83B1-ED424A354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6D47F81-B4E3-449F-BAFA-037C27364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9F52C5D-9955-47A2-9EA6-38FEB66EF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6218432-9C5A-4AD0-9E05-B77965972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42EA566-EA1E-431B-9110-DD679A87E3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C1B7D9C-8A76-4C14-A850-8C9DC9F5D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F878B3E-8479-4A7F-B924-0DB8314B23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282D934-92EA-49D5-A68F-69E0FE530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9AB2CB0-7084-4003-8F6F-84F247F5E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808F682-D9AD-4570-A2CA-1F45861E4D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D975521-C031-44A8-80BF-39B38B75F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A3DECD5-2795-49AC-8BF6-9DFEFF419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BB1EDE5-9E4C-42E1-B87C-545C7237B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24A6F99-D8AD-44C9-8834-3BFC2627F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A783162-EACC-46A4-B314-BFAA15B50D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DCB06C7-C4C1-4DF4-AE1C-75C2D1E2F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19DD103-275F-46A0-BEB3-576DC18D6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9ADCDDC-7641-41D4-AAB2-2DC5DA954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FCFEC24-8D51-4AAB-8657-81C987750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FAB513B-E127-4650-9171-574B0AF72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EC96916-1BAE-4A4E-BF94-2604763DB9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FEBB5C8-282F-4906-80B9-C81D70161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7605DEB-C81B-41F2-ABA8-D21CD717FA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20811E7-D32E-4B74-9C5E-4F2EBBA71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ADFF460-F732-4F8E-9BEC-BDC62B69C0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27A0BF-8535-41FD-9918-F0C0C2585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97FF49F-1D45-469B-875E-F2DC1DDA4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9FD0D0-FC60-49A7-A825-489FF222C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6060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6C03FFC-61A1-4E2B-BB58-CEF8239A97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1C4ACA0-7908-4D31-AF21-00AD91730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4A77185-263F-40EF-B517-050039163E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3895C72-BFF8-4918-95C2-8FFB7A879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99F2A1A-F415-4861-9317-8DF50F438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8EDBADE-A031-473C-85B2-8404A6820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3A7F482-09C8-4234-BA8B-E06C784513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97F5174-3BAF-4B1B-846E-3DB7430B2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6F678B6-0AFA-4070-84E8-E0DDD2DCB2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07DE2B4-6350-4A16-8897-F8F2804C1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8301404-D876-4FA9-9859-EB43354FAF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B83674B-F150-4C3E-831A-26B553169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4F8BBD9-185E-425D-9763-2A1219F95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11B4F24-2CE2-4D89-BDF4-88019FD32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C4BAC-D575-BF26-55FC-ED71B9F7E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0BCA82-3C72-BC33-A957-A35EA1069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4D723-6418-D85C-A514-01174D0A8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1F19-39CC-4F31-881A-05464A945BD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A6D0D-4F64-AA18-5F32-DE4BBC39D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70F1C-F44B-A18E-B1A0-9ACD5A05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1850-F50E-463E-95B4-E13B4C6D5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084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02FC-586B-3DE3-F722-6E20BD802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7E66D-8CDF-C33A-D87D-B56C23835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3AA4B-BCDB-1443-59BB-882627C8E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1F19-39CC-4F31-881A-05464A945BD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C0448-4A41-37CE-3926-D07479CAE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D703C-42F8-7433-2AB6-FC0C208EA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1850-F50E-463E-95B4-E13B4C6D5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034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892E8-D9C3-D050-2A51-3281CE564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D7D56-73D3-09EF-FC96-8AEEBA876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FC019-BAE2-C408-CE75-44B3263BD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1F19-39CC-4F31-881A-05464A945BD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13B91-7E9A-A783-59E2-35D7F22DD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B466E-A5D8-4865-9A45-10C8691A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1850-F50E-463E-95B4-E13B4C6D5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531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F276-3E01-9749-0F50-505526833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5D60D-A176-EACE-1D7E-B08BF7F8EC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BAFDB-D0F7-B11F-A06F-066DA9178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C5801-5D89-7DF4-7EBD-0FACE14B3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1F19-39CC-4F31-881A-05464A945BD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EBB67-F1F3-809C-8C5C-527CF20CC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0CEA8-48DD-A3E6-33A2-7E0B8308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1850-F50E-463E-95B4-E13B4C6D5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51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6DF1B-772D-849C-B3A2-7C4AB800F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A204B-2B1A-E261-02E7-5CB5241BB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38A3E-851F-D790-2CC8-20C85C815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CA0833-B6C8-5263-049D-67DA88C05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D23E42-51BF-7813-FF57-96B565835B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1AF455-7452-E023-DB78-78A6828C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1F19-39CC-4F31-881A-05464A945BD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3C350-9FCA-C263-0421-D5D1C4743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D66EC7-8DC2-6D93-DE02-B8FA95CAF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1850-F50E-463E-95B4-E13B4C6D5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38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00873-5336-A58B-5D14-F8738B73F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91DF9E-17C9-5855-68DF-D6CDA55C6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1F19-39CC-4F31-881A-05464A945BD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804D6-1294-14E6-1FDB-45CFFC10F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B6D640-C95F-322B-4F7A-CE7CCE2DA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1850-F50E-463E-95B4-E13B4C6D5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07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486ED2-8717-463D-DD68-B408902A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1F19-39CC-4F31-881A-05464A945BD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00D06B-A206-2364-31D0-631FE5F1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71047-950B-C965-603D-30B6C17B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1850-F50E-463E-95B4-E13B4C6D5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206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E0360-ECBA-1C87-5410-1E1ABD431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62B5-77D4-B350-6211-DCD30B2B6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CC778-3A0F-3AB6-591D-972CFE188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BDC2D-8FCD-69AF-3203-962713421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1F19-39CC-4F31-881A-05464A945BD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8454D-FDC6-75DA-5B78-BBE8D927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540AA-F0DA-1728-9D50-41D467949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1850-F50E-463E-95B4-E13B4C6D5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693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41C18-36FE-F705-0F3B-115C1DE41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8AA777-2A5C-B212-EBF5-511DEAB0E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CDCCF-7F89-BAE4-97F0-0A6361E82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CCB020-409C-1036-0382-1091D417C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1F19-39CC-4F31-881A-05464A945BD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489E5-0F50-2FBB-C222-EE1B2837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FA90B-1E5E-FF68-86FC-EC5DD3B44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1850-F50E-463E-95B4-E13B4C6D5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4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598F7-D040-F881-B8F4-DA42780AF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B56BBC-ADBF-73E2-AC2F-9699BA910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C31E8-21FF-27A5-C3B5-1FE7C6947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1F19-39CC-4F31-881A-05464A945BD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9B6BE-6873-CEF7-20B9-5E99C658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B255C-DA8D-D939-CBDC-A427C270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1850-F50E-463E-95B4-E13B4C6D5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94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7982AF-255B-9A49-4305-DCB7E4DF21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03ED2-041F-68CA-AC5D-66C23B622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B1509-89B3-E41B-9352-A4552486A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1F19-39CC-4F31-881A-05464A945BD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F10D1-B84D-C06F-96E9-14B011DF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EC19B-3D39-2C9F-F9CD-C0E8B5C19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1850-F50E-463E-95B4-E13B4C6D5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488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696BA4-4C07-FFEB-434B-29587AE0B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51201-1162-F369-6BBF-3F0CF812B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A997F-EC55-81DC-94D6-8F882B4015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41F19-39CC-4F31-881A-05464A945BD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255B7-BE6D-9D48-ACC0-5713AC625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19CCD-DC8E-1457-D9DD-4C773DA0F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321850-F50E-463E-95B4-E13B4C6D5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12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2084-9A18-6B8D-549E-09DE634583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Operating System: Process </a:t>
            </a:r>
            <a:r>
              <a:rPr lang="en-IN" dirty="0" err="1"/>
              <a:t>Mgmt</a:t>
            </a:r>
            <a:r>
              <a:rPr lang="en-IN" dirty="0"/>
              <a:t> - 1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4C8FE-9EF5-9182-E730-46B57E626F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Lecture 2-3-4</a:t>
            </a:r>
          </a:p>
        </p:txBody>
      </p:sp>
    </p:spTree>
    <p:extLst>
      <p:ext uri="{BB962C8B-B14F-4D97-AF65-F5344CB8AC3E}">
        <p14:creationId xmlns:p14="http://schemas.microsoft.com/office/powerpoint/2010/main" val="1517197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3F2AA79-94D9-4276-9C41-F8DFF30014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68651" y="228601"/>
            <a:ext cx="6380163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C7B4A6B-A9B9-465A-90EA-66F577052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25688" y="1149350"/>
            <a:ext cx="7791450" cy="3822700"/>
          </a:xfrm>
        </p:spPr>
        <p:txBody>
          <a:bodyPr>
            <a:normAutofit/>
          </a:bodyPr>
          <a:lstStyle/>
          <a:p>
            <a:r>
              <a:rPr lang="en-US" altLang="en-US" dirty="0"/>
              <a:t>Process Concept</a:t>
            </a:r>
          </a:p>
          <a:p>
            <a:r>
              <a:rPr lang="en-US" altLang="en-US" dirty="0"/>
              <a:t>Process Scheduling</a:t>
            </a:r>
          </a:p>
          <a:p>
            <a:r>
              <a:rPr lang="en-US" altLang="en-US" dirty="0"/>
              <a:t>Operations on Processes</a:t>
            </a:r>
          </a:p>
          <a:p>
            <a:r>
              <a:rPr lang="en-US" altLang="en-US" dirty="0"/>
              <a:t>Interprocess Communication</a:t>
            </a:r>
          </a:p>
          <a:p>
            <a:r>
              <a:rPr lang="en-US" altLang="en-US" dirty="0"/>
              <a:t>IPC in Shared-Memory Systems</a:t>
            </a:r>
          </a:p>
          <a:p>
            <a:r>
              <a:rPr lang="en-US" altLang="en-US" dirty="0"/>
              <a:t>IPC in Message-Passing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8163CEC-73A6-4E96-880E-3A57C5F4B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653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A0DD2938-EA4E-48BC-A833-20DE32AC1B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4557" y="1138239"/>
            <a:ext cx="10313233" cy="4530725"/>
          </a:xfrm>
        </p:spPr>
        <p:txBody>
          <a:bodyPr>
            <a:normAutofit/>
          </a:bodyPr>
          <a:lstStyle/>
          <a:p>
            <a:r>
              <a:rPr lang="en-US" altLang="en-US" dirty="0"/>
              <a:t>Identify the </a:t>
            </a:r>
            <a:r>
              <a:rPr lang="en-US" altLang="en-US" b="1" dirty="0"/>
              <a:t>separate components of a process </a:t>
            </a:r>
            <a:r>
              <a:rPr lang="en-US" altLang="en-US" dirty="0"/>
              <a:t>and illustrate how they are </a:t>
            </a:r>
            <a:r>
              <a:rPr lang="en-US" altLang="en-US" b="1" dirty="0"/>
              <a:t>represented and scheduled </a:t>
            </a:r>
            <a:r>
              <a:rPr lang="en-US" altLang="en-US" dirty="0"/>
              <a:t>in an operating system.</a:t>
            </a:r>
          </a:p>
          <a:p>
            <a:r>
              <a:rPr lang="en-US" altLang="en-US" dirty="0"/>
              <a:t>Describe how </a:t>
            </a:r>
            <a:r>
              <a:rPr lang="en-US" altLang="en-US" b="1" dirty="0"/>
              <a:t>processes are created and terminated </a:t>
            </a:r>
            <a:r>
              <a:rPr lang="en-US" altLang="en-US" dirty="0"/>
              <a:t>in an operating system, including developing programs using the appropriate system calls that perform these operations.</a:t>
            </a:r>
          </a:p>
          <a:p>
            <a:r>
              <a:rPr lang="en-US" altLang="en-US" dirty="0"/>
              <a:t>Describe and contrast </a:t>
            </a:r>
            <a:r>
              <a:rPr lang="en-US" altLang="en-US" b="1" dirty="0" err="1"/>
              <a:t>interprocess</a:t>
            </a:r>
            <a:r>
              <a:rPr lang="en-US" altLang="en-US" b="1" dirty="0"/>
              <a:t> communication </a:t>
            </a:r>
            <a:r>
              <a:rPr lang="en-US" altLang="en-US" dirty="0"/>
              <a:t>using </a:t>
            </a:r>
            <a:r>
              <a:rPr lang="en-US" altLang="en-US" b="1" dirty="0"/>
              <a:t>shared memory and message passing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E8AE27-E50C-40A0-B477-CFFEC3475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00388" y="222251"/>
            <a:ext cx="6107112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Process Concept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D446FCF-843C-4B0E-B66C-D60BED277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17750" y="1206501"/>
            <a:ext cx="7624536" cy="475887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An operating system executes a variety of programs that run as a process.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dirty="0"/>
              <a:t> – a program in execution; process execution must progress in sequential fashion. No parallel execution of instructions of a  single process</a:t>
            </a:r>
          </a:p>
          <a:p>
            <a:r>
              <a:rPr lang="en-US" altLang="en-US" dirty="0"/>
              <a:t>Multiple parts</a:t>
            </a:r>
          </a:p>
          <a:p>
            <a:pPr lvl="1"/>
            <a:r>
              <a:rPr lang="en-US" altLang="en-US" dirty="0"/>
              <a:t>The program code, 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</a:p>
          <a:p>
            <a:pPr lvl="1"/>
            <a:r>
              <a:rPr lang="en-US" altLang="en-US" dirty="0"/>
              <a:t>Current activity including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program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counter</a:t>
            </a:r>
            <a:r>
              <a:rPr lang="en-US" altLang="en-US" dirty="0"/>
              <a:t>, processor registers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</a:t>
            </a:r>
            <a:r>
              <a:rPr lang="en-US" altLang="en-US" b="1" dirty="0"/>
              <a:t> </a:t>
            </a:r>
            <a:r>
              <a:rPr lang="en-US" altLang="en-US" dirty="0"/>
              <a:t>containing temporary data</a:t>
            </a:r>
          </a:p>
          <a:p>
            <a:pPr lvl="2"/>
            <a:r>
              <a:rPr lang="en-US" altLang="en-US" dirty="0"/>
              <a:t>Function parameters, return addresses, local variables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  <a:r>
              <a:rPr lang="en-US" altLang="en-US" b="1" dirty="0"/>
              <a:t> </a:t>
            </a:r>
            <a:r>
              <a:rPr lang="en-US" altLang="en-US" dirty="0"/>
              <a:t>containing global variables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Heap</a:t>
            </a:r>
            <a:r>
              <a:rPr lang="en-US" altLang="en-US" b="1" dirty="0"/>
              <a:t> </a:t>
            </a:r>
            <a:r>
              <a:rPr lang="en-US" altLang="en-US" dirty="0"/>
              <a:t>containing memory dynamically allocated during run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9FB78B1-A72C-494F-9718-8FF44F750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00388" y="230188"/>
            <a:ext cx="61071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Process Concept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B99AC1A-7079-467A-A88A-5DCC86E36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17751" y="1203325"/>
            <a:ext cx="6949621" cy="4595132"/>
          </a:xfrm>
        </p:spPr>
        <p:txBody>
          <a:bodyPr/>
          <a:lstStyle/>
          <a:p>
            <a:r>
              <a:rPr lang="en-US" altLang="en-US" dirty="0"/>
              <a:t>Program is </a:t>
            </a:r>
            <a:r>
              <a:rPr lang="en-US" altLang="en-US" b="1" dirty="0"/>
              <a:t>passive</a:t>
            </a:r>
            <a:r>
              <a:rPr lang="en-US" altLang="en-US" dirty="0"/>
              <a:t> entity stored on disk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executable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dirty="0"/>
              <a:t>); process is </a:t>
            </a:r>
            <a:r>
              <a:rPr lang="en-US" altLang="en-US" b="1" dirty="0"/>
              <a:t>active</a:t>
            </a:r>
            <a:r>
              <a:rPr lang="en-US" altLang="en-US" b="1" i="1" dirty="0"/>
              <a:t> </a:t>
            </a:r>
          </a:p>
          <a:p>
            <a:pPr lvl="1"/>
            <a:r>
              <a:rPr lang="en-US" altLang="en-US" dirty="0"/>
              <a:t>Program becomes process when an executable file is loaded into memory</a:t>
            </a:r>
          </a:p>
          <a:p>
            <a:r>
              <a:rPr lang="en-US" altLang="en-US" dirty="0"/>
              <a:t>Execution of program started via GUI mouse clicks, command line entry of its name, etc.</a:t>
            </a:r>
          </a:p>
          <a:p>
            <a:r>
              <a:rPr lang="en-US" altLang="en-US" dirty="0"/>
              <a:t>One program can be several processes</a:t>
            </a:r>
          </a:p>
          <a:p>
            <a:pPr lvl="1"/>
            <a:r>
              <a:rPr lang="en-US" altLang="en-US" dirty="0"/>
              <a:t>Consider multiple users executing the same program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AFA67C-5037-4199-ADB3-2B949804B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2251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Process in Memory</a:t>
            </a: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56913459-B2A5-4780-A47A-63C55AF8C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550" y="1595439"/>
            <a:ext cx="2655888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F0918BC-EE47-4B64-B75C-97D41C08D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8057" y="196398"/>
            <a:ext cx="8077200" cy="57626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Memory Layout of a C Program</a:t>
            </a:r>
          </a:p>
        </p:txBody>
      </p:sp>
      <p:pic>
        <p:nvPicPr>
          <p:cNvPr id="17411" name="Picture 1">
            <a:extLst>
              <a:ext uri="{FF2B5EF4-FFF2-40B4-BE49-F238E27FC236}">
                <a16:creationId xmlns:a16="http://schemas.microsoft.com/office/drawing/2014/main" id="{E58EFC16-5ABF-4B34-B546-50AB9FB81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1701801"/>
            <a:ext cx="7227888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890CFA9-9E5C-4419-8C0A-3AE15BC75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489" y="228601"/>
            <a:ext cx="6251575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Process State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24CBB90-3DD4-48C6-830E-D5B680DA8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30451" y="1246189"/>
            <a:ext cx="7370763" cy="3254375"/>
          </a:xfrm>
        </p:spPr>
        <p:txBody>
          <a:bodyPr/>
          <a:lstStyle/>
          <a:p>
            <a:r>
              <a:rPr lang="en-US" altLang="en-US" dirty="0"/>
              <a:t>As a process executes, it changes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</a:p>
          <a:p>
            <a:pPr lvl="1"/>
            <a:r>
              <a:rPr lang="en-US" altLang="en-US" b="1" dirty="0"/>
              <a:t>New</a:t>
            </a:r>
            <a:r>
              <a:rPr lang="en-US" altLang="en-US" dirty="0"/>
              <a:t>:  The process is being created</a:t>
            </a:r>
          </a:p>
          <a:p>
            <a:pPr lvl="1"/>
            <a:r>
              <a:rPr lang="en-US" altLang="en-US" b="1" dirty="0"/>
              <a:t>Running</a:t>
            </a:r>
            <a:r>
              <a:rPr lang="en-US" altLang="en-US" dirty="0"/>
              <a:t>:  Instructions are being executed</a:t>
            </a:r>
          </a:p>
          <a:p>
            <a:pPr lvl="1"/>
            <a:r>
              <a:rPr lang="en-US" altLang="en-US" b="1" dirty="0"/>
              <a:t>Waiting</a:t>
            </a:r>
            <a:r>
              <a:rPr lang="en-US" altLang="en-US" dirty="0"/>
              <a:t>:  The process is waiting for some event to occur</a:t>
            </a:r>
          </a:p>
          <a:p>
            <a:pPr lvl="1"/>
            <a:r>
              <a:rPr lang="en-US" altLang="en-US" b="1" dirty="0"/>
              <a:t>Ready</a:t>
            </a:r>
            <a:r>
              <a:rPr lang="en-US" altLang="en-US" dirty="0"/>
              <a:t>:  The process is waiting to be assigned to a processor</a:t>
            </a:r>
          </a:p>
          <a:p>
            <a:pPr lvl="1"/>
            <a:r>
              <a:rPr lang="en-US" altLang="en-US" b="1" dirty="0"/>
              <a:t>Terminated</a:t>
            </a:r>
            <a:r>
              <a:rPr lang="en-US" altLang="en-US" dirty="0"/>
              <a:t>:  The process has finished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3351C7C-1AE3-4532-A2F7-C7EB33BCD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63776" y="228601"/>
            <a:ext cx="7947025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Diagram of Process State</a:t>
            </a:r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C48543A4-67CA-450C-8237-41432A1A6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914" y="2238375"/>
            <a:ext cx="5591175" cy="217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C14ED24-AEFF-4F38-8076-4F8FF58C3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0814" y="193903"/>
            <a:ext cx="75199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Process Control Block (PCB)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EEAF946-6112-4200-8913-ED1F42CE1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73991" y="1823223"/>
            <a:ext cx="5616122" cy="4417927"/>
          </a:xfrm>
        </p:spPr>
        <p:txBody>
          <a:bodyPr/>
          <a:lstStyle/>
          <a:p>
            <a:r>
              <a:rPr lang="en-US" altLang="en-US" sz="1700" dirty="0"/>
              <a:t>Process state – running, waiting, etc.</a:t>
            </a:r>
          </a:p>
          <a:p>
            <a:r>
              <a:rPr lang="en-US" altLang="en-US" sz="1700" dirty="0"/>
              <a:t>Program counter – location of instruction to next execute</a:t>
            </a:r>
          </a:p>
          <a:p>
            <a:r>
              <a:rPr lang="en-US" altLang="en-US" sz="1700" dirty="0"/>
              <a:t>CPU registers – contents of all process-centric registers</a:t>
            </a:r>
          </a:p>
          <a:p>
            <a:r>
              <a:rPr lang="en-US" altLang="en-US" sz="1700" dirty="0"/>
              <a:t>CPU scheduling information- priorities, scheduling queue pointers</a:t>
            </a:r>
          </a:p>
          <a:p>
            <a:r>
              <a:rPr lang="en-US" altLang="en-US" sz="1700" dirty="0"/>
              <a:t>Memory-management information – memory allocated to the process</a:t>
            </a:r>
          </a:p>
          <a:p>
            <a:r>
              <a:rPr lang="en-US" altLang="en-US" sz="1700" dirty="0"/>
              <a:t>Accounting information – CPU used, clock time elapsed since start, time limits</a:t>
            </a:r>
          </a:p>
          <a:p>
            <a:r>
              <a:rPr lang="en-US" altLang="en-US" sz="1700" dirty="0"/>
              <a:t>I/O status information – I/O devices allocated to process, list of open files</a:t>
            </a:r>
          </a:p>
          <a:p>
            <a:endParaRPr lang="en-US" altLang="en-US" dirty="0"/>
          </a:p>
        </p:txBody>
      </p:sp>
      <p:pic>
        <p:nvPicPr>
          <p:cNvPr id="22532" name="Picture 1">
            <a:extLst>
              <a:ext uri="{FF2B5EF4-FFF2-40B4-BE49-F238E27FC236}">
                <a16:creationId xmlns:a16="http://schemas.microsoft.com/office/drawing/2014/main" id="{4C1B42D7-9239-4535-8C25-EF8AF0D92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729" y="2121126"/>
            <a:ext cx="1854200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519650-4D5E-45C9-BCF6-B2C0554D33E2}"/>
              </a:ext>
            </a:extLst>
          </p:cNvPr>
          <p:cNvSpPr txBox="1"/>
          <p:nvPr/>
        </p:nvSpPr>
        <p:spPr>
          <a:xfrm>
            <a:off x="2293491" y="1110345"/>
            <a:ext cx="6874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00" dirty="0"/>
              <a:t>Information associated with each process(also called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task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sz="1700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8D9066D-6E62-480A-A448-F88C6FB24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5401" y="230188"/>
            <a:ext cx="7383463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Threads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FE53719-71CB-4158-A535-768E646E4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17751" y="1059091"/>
            <a:ext cx="7116536" cy="4013652"/>
          </a:xfrm>
        </p:spPr>
        <p:txBody>
          <a:bodyPr/>
          <a:lstStyle/>
          <a:p>
            <a:r>
              <a:rPr lang="en-US" altLang="en-US" dirty="0"/>
              <a:t>So far, process has a single thread of execution</a:t>
            </a:r>
          </a:p>
          <a:p>
            <a:r>
              <a:rPr lang="en-US" altLang="en-US" dirty="0"/>
              <a:t>Consider having multiple program counters per process</a:t>
            </a:r>
          </a:p>
          <a:p>
            <a:pPr lvl="1"/>
            <a:r>
              <a:rPr lang="en-US" altLang="en-US" dirty="0"/>
              <a:t>Multiple locations can execute at once</a:t>
            </a:r>
          </a:p>
          <a:p>
            <a:pPr lvl="2"/>
            <a:r>
              <a:rPr lang="en-US" altLang="en-US" dirty="0"/>
              <a:t>Multiple threads of control -&gt;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threads</a:t>
            </a:r>
          </a:p>
          <a:p>
            <a:r>
              <a:rPr lang="en-US" altLang="en-US" dirty="0"/>
              <a:t>Must then have storage for thread details, multiple program counters in PCB</a:t>
            </a:r>
          </a:p>
          <a:p>
            <a:r>
              <a:rPr lang="en-US" altLang="en-US" dirty="0"/>
              <a:t>Explore in detail in Chapter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249B161E-EAED-4DCF-B609-D8AB274D0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4438" y="228601"/>
            <a:ext cx="8005762" cy="5762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Process Representation in Linux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1363C44F-7AD0-4380-824D-C4E77F3B3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/>
              <a:t>Represented by the C structure </a:t>
            </a:r>
            <a:r>
              <a:rPr lang="en-US" altLang="en-US">
                <a:latin typeface="Courier New" panose="02070309020205020404" pitchFamily="49" charset="0"/>
              </a:rPr>
              <a:t>task_struct</a:t>
            </a:r>
          </a:p>
          <a:p>
            <a:pPr>
              <a:buFont typeface="Monotype Sorts" pitchFamily="-84" charset="2"/>
              <a:buNone/>
            </a:pP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pid t_pid; 			/* process identifier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long state; 			/* state of the process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unsigned int time_slice 	/* scheduling information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struct task_struct *parent;/* this process</a:t>
            </a:r>
            <a:r>
              <a:rPr lang="ja-JP" altLang="en-US" sz="1600">
                <a:latin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</a:rPr>
              <a:t>s parent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list_head children; /* this process</a:t>
            </a:r>
            <a:r>
              <a:rPr lang="ja-JP" altLang="en-US" sz="1600">
                <a:latin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</a:rPr>
              <a:t>s children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files_struct *files;/* list of open files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mm_struct *mm; 	/* address space of this process */</a:t>
            </a:r>
            <a:endParaRPr lang="en-US" altLang="en-US" sz="1600">
              <a:latin typeface="Courier New" panose="02070309020205020404" pitchFamily="49" charset="0"/>
            </a:endParaRPr>
          </a:p>
        </p:txBody>
      </p:sp>
      <p:pic>
        <p:nvPicPr>
          <p:cNvPr id="26628" name="Picture 1">
            <a:extLst>
              <a:ext uri="{FF2B5EF4-FFF2-40B4-BE49-F238E27FC236}">
                <a16:creationId xmlns:a16="http://schemas.microsoft.com/office/drawing/2014/main" id="{93AD06B9-FDEF-4097-849B-AE5BDEF25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325" y="4075114"/>
            <a:ext cx="4578350" cy="157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6D14E00-AC36-46B6-804B-3B1E61B7A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3500" y="172132"/>
            <a:ext cx="7645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Process Scheduling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D9E4484-1299-4947-B075-F0D9269BB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4738" y="1119418"/>
            <a:ext cx="6456362" cy="3839445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scheduler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selects among available processes for next execution on CPU core</a:t>
            </a:r>
          </a:p>
          <a:p>
            <a:r>
              <a:rPr lang="en-US" altLang="en-US" dirty="0"/>
              <a:t>Goal -- Maximize CPU use, quickly switch processes onto CPU core</a:t>
            </a:r>
          </a:p>
          <a:p>
            <a:r>
              <a:rPr lang="en-US" altLang="en-US" dirty="0"/>
              <a:t>Maintains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scheduling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processes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set of all processes residing in main memory, ready and waiting to execute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Wait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set of processes waiting for an event (i.e., I/O)</a:t>
            </a:r>
          </a:p>
          <a:p>
            <a:pPr lvl="1"/>
            <a:r>
              <a:rPr lang="en-US" altLang="en-US" dirty="0"/>
              <a:t>Processes migrate among the various queues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9FFB59-5D7F-4075-B911-2B593B517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8726" y="349250"/>
            <a:ext cx="7591425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Ready and Wait Queues</a:t>
            </a:r>
          </a:p>
        </p:txBody>
      </p:sp>
      <p:pic>
        <p:nvPicPr>
          <p:cNvPr id="29699" name="Picture 1">
            <a:extLst>
              <a:ext uri="{FF2B5EF4-FFF2-40B4-BE49-F238E27FC236}">
                <a16:creationId xmlns:a16="http://schemas.microsoft.com/office/drawing/2014/main" id="{BCBD9C55-CB2E-45AE-A528-0022312EC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1863726"/>
            <a:ext cx="4897438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8DB7F06-1635-4E8A-B106-08B7519EA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1413" y="2270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Representation of Process Scheduling</a:t>
            </a:r>
          </a:p>
        </p:txBody>
      </p:sp>
      <p:pic>
        <p:nvPicPr>
          <p:cNvPr id="31747" name="Picture 2">
            <a:extLst>
              <a:ext uri="{FF2B5EF4-FFF2-40B4-BE49-F238E27FC236}">
                <a16:creationId xmlns:a16="http://schemas.microsoft.com/office/drawing/2014/main" id="{A0A8D57B-B011-4BA3-A330-AE3AFD4CB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064" y="1897064"/>
            <a:ext cx="5229225" cy="301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294884C-D89B-43C5-8278-E1AFFD1E5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6963" y="228601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CPU Switch From Process to Process</a:t>
            </a:r>
          </a:p>
        </p:txBody>
      </p:sp>
      <p:sp>
        <p:nvSpPr>
          <p:cNvPr id="33795" name="TextBox 1">
            <a:extLst>
              <a:ext uri="{FF2B5EF4-FFF2-40B4-BE49-F238E27FC236}">
                <a16:creationId xmlns:a16="http://schemas.microsoft.com/office/drawing/2014/main" id="{2AC6A249-89C1-4E3A-A92E-5E91F7A23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2543" y="979488"/>
            <a:ext cx="685395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Verdana" panose="020B0604030504040204" pitchFamily="34" charset="0"/>
              </a:rPr>
              <a:t>A </a:t>
            </a:r>
            <a:r>
              <a:rPr kumimoji="0" lang="en-US" altLang="en-US" b="1" dirty="0">
                <a:latin typeface="Verdana" panose="020B0604030504040204" pitchFamily="34" charset="0"/>
              </a:rPr>
              <a:t>context switch </a:t>
            </a:r>
            <a:r>
              <a:rPr kumimoji="0" lang="en-US" altLang="en-US" dirty="0">
                <a:latin typeface="Verdana" panose="020B0604030504040204" pitchFamily="34" charset="0"/>
              </a:rPr>
              <a:t>occurs when the CPU  switches from one process to another.</a:t>
            </a:r>
          </a:p>
        </p:txBody>
      </p:sp>
      <p:pic>
        <p:nvPicPr>
          <p:cNvPr id="33796" name="Picture 1">
            <a:extLst>
              <a:ext uri="{FF2B5EF4-FFF2-40B4-BE49-F238E27FC236}">
                <a16:creationId xmlns:a16="http://schemas.microsoft.com/office/drawing/2014/main" id="{81BF3499-8F25-4834-B5FB-DDAE90411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084" y="1780486"/>
            <a:ext cx="5185155" cy="4237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69EF2C8-62D9-4AD3-A3DB-7E8B03141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87538" y="231776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Context Switch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FE77FD9-7213-4CFD-BE76-B9508F46FB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78077" y="1108075"/>
            <a:ext cx="6648693" cy="4413494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When CPU switches to another process, the system must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old process and load the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the new process via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switch</a:t>
            </a:r>
          </a:p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a process represented in the PCB</a:t>
            </a:r>
          </a:p>
          <a:p>
            <a:r>
              <a:rPr lang="en-US" altLang="en-US" dirty="0"/>
              <a:t>Context-switch time is pure overhead; the system does no useful work while switching</a:t>
            </a:r>
          </a:p>
          <a:p>
            <a:pPr lvl="1"/>
            <a:r>
              <a:rPr lang="en-US" altLang="en-US" dirty="0"/>
              <a:t>The more complex the OS and the PCB </a:t>
            </a:r>
            <a:r>
              <a:rPr lang="en-US" altLang="en-US" dirty="0">
                <a:sym typeface="Wingdings" panose="05000000000000000000" pitchFamily="2" charset="2"/>
              </a:rPr>
              <a:t> the </a:t>
            </a:r>
            <a:r>
              <a:rPr lang="en-US" altLang="en-US" dirty="0"/>
              <a:t>longer the context switch</a:t>
            </a:r>
          </a:p>
          <a:p>
            <a:r>
              <a:rPr lang="en-US" altLang="en-US" dirty="0"/>
              <a:t>Time dependent on hardware support</a:t>
            </a:r>
          </a:p>
          <a:p>
            <a:pPr lvl="1"/>
            <a:r>
              <a:rPr lang="en-US" altLang="en-US" dirty="0"/>
              <a:t>Some hardware provides multiple sets of registers per CPU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multiple contexts loaded at once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D9C18A1-E10D-464E-ADF5-DBECC2503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1748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Operations on Processes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EED5598-4581-4F9D-8CEF-0D1A5A554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73314" y="1233489"/>
            <a:ext cx="7381875" cy="4448175"/>
          </a:xfrm>
        </p:spPr>
        <p:txBody>
          <a:bodyPr/>
          <a:lstStyle/>
          <a:p>
            <a:r>
              <a:rPr lang="en-US" altLang="en-US" dirty="0"/>
              <a:t>System must provide mechanisms for:</a:t>
            </a:r>
          </a:p>
          <a:p>
            <a:pPr lvl="1"/>
            <a:r>
              <a:rPr lang="en-US" altLang="en-US" dirty="0"/>
              <a:t> Process creation</a:t>
            </a:r>
          </a:p>
          <a:p>
            <a:pPr lvl="1"/>
            <a:r>
              <a:rPr lang="en-US" altLang="en-US" dirty="0"/>
              <a:t> Process termination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072917A-2F04-4923-8279-E4AEA8CC4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47150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Process Creation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7F79436-9B7B-4340-B99C-8D1E08889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78075" y="1169989"/>
            <a:ext cx="6824540" cy="4984627"/>
          </a:xfrm>
        </p:spPr>
        <p:txBody>
          <a:bodyPr>
            <a:normAutofit lnSpcReduction="10000"/>
          </a:bodyPr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Parent</a:t>
            </a:r>
            <a:r>
              <a:rPr lang="en-US" altLang="en-US" b="1" dirty="0"/>
              <a:t> </a:t>
            </a:r>
            <a:r>
              <a:rPr lang="en-US" altLang="en-US" dirty="0"/>
              <a:t>process create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children</a:t>
            </a:r>
            <a:r>
              <a:rPr lang="en-US" altLang="en-US" b="1" dirty="0"/>
              <a:t> </a:t>
            </a:r>
            <a:r>
              <a:rPr lang="en-US" altLang="en-US" dirty="0"/>
              <a:t>processes, which, in turn create other processes, forming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tree</a:t>
            </a:r>
            <a:r>
              <a:rPr lang="en-US" altLang="en-US" dirty="0"/>
              <a:t> of processes</a:t>
            </a:r>
            <a:endParaRPr lang="en-US" altLang="en-US" sz="800" dirty="0"/>
          </a:p>
          <a:p>
            <a:r>
              <a:rPr lang="en-US" altLang="en-US" dirty="0"/>
              <a:t>Generally, process identified and managed via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pid</a:t>
            </a:r>
            <a:r>
              <a:rPr lang="en-US" altLang="en-US" dirty="0"/>
              <a:t>)</a:t>
            </a:r>
            <a:endParaRPr lang="en-US" altLang="en-US" sz="800" dirty="0"/>
          </a:p>
          <a:p>
            <a:r>
              <a:rPr lang="en-US" altLang="en-US" dirty="0"/>
              <a:t>Resource sharing options</a:t>
            </a:r>
          </a:p>
          <a:p>
            <a:pPr lvl="1"/>
            <a:r>
              <a:rPr lang="en-US" altLang="en-US" dirty="0"/>
              <a:t>Parent and children share all resources</a:t>
            </a:r>
          </a:p>
          <a:p>
            <a:pPr lvl="1"/>
            <a:r>
              <a:rPr lang="en-US" altLang="en-US" dirty="0"/>
              <a:t>Children share subset of parent</a:t>
            </a:r>
            <a:r>
              <a:rPr lang="ja-JP" altLang="en-US" dirty="0"/>
              <a:t>’</a:t>
            </a:r>
            <a:r>
              <a:rPr lang="en-US" altLang="ja-JP" dirty="0"/>
              <a:t>s resources</a:t>
            </a:r>
          </a:p>
          <a:p>
            <a:pPr lvl="1"/>
            <a:r>
              <a:rPr lang="en-US" altLang="en-US" dirty="0"/>
              <a:t>Parent and child share no resources</a:t>
            </a:r>
            <a:endParaRPr lang="en-US" altLang="en-US" sz="800" dirty="0"/>
          </a:p>
          <a:p>
            <a:r>
              <a:rPr lang="en-US" altLang="en-US" dirty="0"/>
              <a:t>Execution options</a:t>
            </a:r>
          </a:p>
          <a:p>
            <a:pPr lvl="1"/>
            <a:r>
              <a:rPr lang="en-US" altLang="en-US" dirty="0"/>
              <a:t>Parent and children execute concurrently</a:t>
            </a:r>
          </a:p>
          <a:p>
            <a:pPr lvl="1"/>
            <a:r>
              <a:rPr lang="en-US" altLang="en-US" dirty="0"/>
              <a:t>Parent waits until children terminate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E43D30-47DB-4A10-9067-ED0817C05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3976" y="217488"/>
            <a:ext cx="76168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Process Creation (Cont.)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A61E917-5669-429F-AA78-E90F2FCB8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35214" y="1060450"/>
            <a:ext cx="7800975" cy="5627688"/>
          </a:xfrm>
        </p:spPr>
        <p:txBody>
          <a:bodyPr/>
          <a:lstStyle/>
          <a:p>
            <a:r>
              <a:rPr lang="en-US" altLang="en-US" dirty="0"/>
              <a:t>Address space</a:t>
            </a:r>
          </a:p>
          <a:p>
            <a:pPr lvl="1"/>
            <a:r>
              <a:rPr lang="en-US" altLang="en-US" dirty="0"/>
              <a:t>Child duplicate of parent</a:t>
            </a:r>
          </a:p>
          <a:p>
            <a:pPr lvl="1"/>
            <a:r>
              <a:rPr lang="en-US" altLang="en-US" dirty="0"/>
              <a:t>Child has a program loaded into it</a:t>
            </a:r>
          </a:p>
          <a:p>
            <a:r>
              <a:rPr lang="en-US" altLang="en-US" dirty="0"/>
              <a:t>UNIX examples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exec()</a:t>
            </a:r>
            <a:r>
              <a:rPr lang="en-US" altLang="en-US" sz="2000" dirty="0"/>
              <a:t> </a:t>
            </a:r>
            <a:r>
              <a:rPr lang="en-US" altLang="en-US" dirty="0"/>
              <a:t>system call used after 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/>
              <a:t> </a:t>
            </a:r>
            <a:r>
              <a:rPr lang="en-US" altLang="en-US" dirty="0"/>
              <a:t>to replace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</a:p>
          <a:p>
            <a:pPr lvl="1"/>
            <a:r>
              <a:rPr lang="en-US" altLang="en-US" dirty="0"/>
              <a:t>Parent process calls </a:t>
            </a:r>
            <a:r>
              <a:rPr lang="en-US" altLang="en-US" sz="2000" b="1" dirty="0"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waiting for the child to terminate</a:t>
            </a:r>
          </a:p>
        </p:txBody>
      </p:sp>
      <p:pic>
        <p:nvPicPr>
          <p:cNvPr id="46084" name="Picture 1">
            <a:extLst>
              <a:ext uri="{FF2B5EF4-FFF2-40B4-BE49-F238E27FC236}">
                <a16:creationId xmlns:a16="http://schemas.microsoft.com/office/drawing/2014/main" id="{568A0721-FDA4-4095-BD34-B36CF2AB0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013" y="4392613"/>
            <a:ext cx="57467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39237D4-E7AC-45FA-BF2A-B2DEBB175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20989" y="222251"/>
            <a:ext cx="725963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 Tree of Processes in Linux</a:t>
            </a:r>
          </a:p>
        </p:txBody>
      </p:sp>
      <p:pic>
        <p:nvPicPr>
          <p:cNvPr id="44035" name="Picture 1">
            <a:extLst>
              <a:ext uri="{FF2B5EF4-FFF2-40B4-BE49-F238E27FC236}">
                <a16:creationId xmlns:a16="http://schemas.microsoft.com/office/drawing/2014/main" id="{EA22965C-6F67-436A-9A7E-32781923A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1" y="1701800"/>
            <a:ext cx="7985125" cy="343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3909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E1AA525-61E4-4CE5-B1B8-BBEC4CC5E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0950" y="2270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 Program Forking Separate Process</a:t>
            </a:r>
          </a:p>
        </p:txBody>
      </p:sp>
      <p:pic>
        <p:nvPicPr>
          <p:cNvPr id="48131" name="Picture 5" descr="Screen Shot 2012-12-04 at 11.21.10 AM.png">
            <a:extLst>
              <a:ext uri="{FF2B5EF4-FFF2-40B4-BE49-F238E27FC236}">
                <a16:creationId xmlns:a16="http://schemas.microsoft.com/office/drawing/2014/main" id="{D4AAA5E2-276C-448A-B064-DFAFD9023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69964"/>
            <a:ext cx="6038850" cy="56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F4113AE-3A57-4A41-B077-3753934F4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70163" y="228601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Creating a Separate Process via Windows API</a:t>
            </a:r>
          </a:p>
        </p:txBody>
      </p:sp>
      <p:pic>
        <p:nvPicPr>
          <p:cNvPr id="50179" name="Picture 1" descr="Screen Shot 2012-12-04 at 11.23.48 AM.png">
            <a:extLst>
              <a:ext uri="{FF2B5EF4-FFF2-40B4-BE49-F238E27FC236}">
                <a16:creationId xmlns:a16="http://schemas.microsoft.com/office/drawing/2014/main" id="{92929ABB-1259-4492-BE46-EE3BC21BF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239" y="963613"/>
            <a:ext cx="4365625" cy="553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3A2AC5D-C916-47B2-8787-ACB9BD2F9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70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Process Termination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AB8093C-E173-4473-A450-3BC8EBA8D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4738" y="1127982"/>
            <a:ext cx="7303354" cy="4463927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Process executes last statement and then asks the operating system to delete it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exit()</a:t>
            </a:r>
            <a:r>
              <a:rPr lang="en-US" altLang="en-US" sz="2000" dirty="0"/>
              <a:t> </a:t>
            </a:r>
            <a:r>
              <a:rPr lang="en-US" altLang="en-US" dirty="0"/>
              <a:t>system call.</a:t>
            </a:r>
          </a:p>
          <a:p>
            <a:pPr lvl="1"/>
            <a:r>
              <a:rPr lang="en-US" altLang="en-US" dirty="0"/>
              <a:t>Returns  status data from child to parent (via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Process</a:t>
            </a:r>
            <a:r>
              <a:rPr lang="ja-JP" altLang="en-US" dirty="0"/>
              <a:t>’</a:t>
            </a:r>
            <a:r>
              <a:rPr lang="en-US" altLang="ja-JP" dirty="0"/>
              <a:t> resources are deallocated by operating system</a:t>
            </a:r>
            <a:endParaRPr lang="en-US" altLang="en-US" dirty="0"/>
          </a:p>
          <a:p>
            <a:r>
              <a:rPr lang="en-US" altLang="en-US" dirty="0"/>
              <a:t>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abort()</a:t>
            </a:r>
            <a:r>
              <a:rPr lang="en-US" altLang="en-US" sz="2000" dirty="0"/>
              <a:t> </a:t>
            </a:r>
            <a:r>
              <a:rPr lang="en-US" altLang="en-US" dirty="0"/>
              <a:t>system call.  Some reasons for doing so:</a:t>
            </a:r>
          </a:p>
          <a:p>
            <a:pPr lvl="1"/>
            <a:r>
              <a:rPr lang="en-US" altLang="en-US" dirty="0"/>
              <a:t>Child has exceeded allocated resources</a:t>
            </a:r>
          </a:p>
          <a:p>
            <a:pPr lvl="1"/>
            <a:r>
              <a:rPr lang="en-US" altLang="en-US" dirty="0"/>
              <a:t>Task assigned to child is no longer required</a:t>
            </a:r>
          </a:p>
          <a:p>
            <a:pPr lvl="1"/>
            <a:r>
              <a:rPr lang="en-US" altLang="en-US" dirty="0"/>
              <a:t>The parent is exiting, and the operating systems does not allow  a child to continue if its parent terminates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0622719-68BE-4BB0-B168-1A3AE8D09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4817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Process Termination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7E8DAD2-CD54-4141-B861-1A2932EF0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79908" y="781418"/>
            <a:ext cx="7033724" cy="4787045"/>
          </a:xfrm>
        </p:spPr>
        <p:txBody>
          <a:bodyPr>
            <a:normAutofit fontScale="77500" lnSpcReduction="20000"/>
          </a:bodyPr>
          <a:lstStyle/>
          <a:p>
            <a:pPr marL="457200" lvl="1" indent="0">
              <a:buNone/>
            </a:pPr>
            <a:endParaRPr lang="en-US" altLang="en-US" sz="800" dirty="0"/>
          </a:p>
          <a:p>
            <a:r>
              <a:rPr lang="en-US" altLang="en-US" dirty="0"/>
              <a:t>Some operating systems do not allow child to exists if its parent has terminated.  If a process terminates, then all its children must also be terminated.</a:t>
            </a:r>
          </a:p>
          <a:p>
            <a:pPr lvl="1"/>
            <a:r>
              <a:rPr lang="en-US" altLang="en-US" b="1" dirty="0"/>
              <a:t>cascading termination.  </a:t>
            </a:r>
            <a:r>
              <a:rPr lang="en-US" altLang="en-US" dirty="0"/>
              <a:t>All children, grandchildren, etc.,  are  terminated.</a:t>
            </a:r>
            <a:endParaRPr lang="en-US" altLang="en-US" b="1" dirty="0"/>
          </a:p>
          <a:p>
            <a:pPr lvl="1"/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r>
              <a:rPr lang="en-US" altLang="en-US" dirty="0"/>
              <a:t>The parent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n-US" altLang="en-US" dirty="0"/>
              <a:t>The call returns status information and the pid of the terminated process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pid = wait(&amp;status); </a:t>
            </a:r>
          </a:p>
          <a:p>
            <a:r>
              <a:rPr lang="en-US" altLang="en-US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 process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zombie</a:t>
            </a:r>
          </a:p>
          <a:p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, process is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orphan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CCF9DC54-118C-447A-A3AB-7C2E98996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79124" y="119919"/>
            <a:ext cx="7743825" cy="576263"/>
          </a:xfrm>
        </p:spPr>
        <p:txBody>
          <a:bodyPr/>
          <a:lstStyle/>
          <a:p>
            <a:r>
              <a:rPr lang="en-US" altLang="en-US" sz="3000" dirty="0"/>
              <a:t>Android Process Importance Hierarchy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8675C949-6A9A-4638-902C-843874920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43151" y="1100969"/>
            <a:ext cx="7743825" cy="4530725"/>
          </a:xfrm>
        </p:spPr>
        <p:txBody>
          <a:bodyPr/>
          <a:lstStyle/>
          <a:p>
            <a:r>
              <a:rPr lang="en-US" altLang="en-US" dirty="0"/>
              <a:t>Mobile operating systems often have to terminate processes to reclaim system resources such as memory. From </a:t>
            </a:r>
            <a:r>
              <a:rPr lang="en-US" altLang="en-US" b="1" dirty="0"/>
              <a:t>most</a:t>
            </a:r>
            <a:r>
              <a:rPr lang="en-US" altLang="en-US" dirty="0"/>
              <a:t> to </a:t>
            </a:r>
            <a:r>
              <a:rPr lang="en-US" altLang="en-US" b="1" dirty="0"/>
              <a:t>least</a:t>
            </a:r>
            <a:r>
              <a:rPr lang="en-US" altLang="en-US" dirty="0"/>
              <a:t> important:</a:t>
            </a:r>
          </a:p>
          <a:p>
            <a:pPr lvl="1"/>
            <a:r>
              <a:rPr lang="en-US" altLang="en-US" dirty="0"/>
              <a:t>Foreground process</a:t>
            </a:r>
          </a:p>
          <a:p>
            <a:pPr lvl="1"/>
            <a:r>
              <a:rPr lang="en-US" altLang="en-US" dirty="0"/>
              <a:t>Visible process</a:t>
            </a:r>
          </a:p>
          <a:p>
            <a:pPr lvl="1"/>
            <a:r>
              <a:rPr lang="en-US" altLang="en-US" dirty="0"/>
              <a:t>Service process</a:t>
            </a:r>
          </a:p>
          <a:p>
            <a:pPr lvl="1"/>
            <a:r>
              <a:rPr lang="en-US" altLang="en-US" dirty="0"/>
              <a:t>Background process</a:t>
            </a:r>
          </a:p>
          <a:p>
            <a:pPr lvl="1"/>
            <a:r>
              <a:rPr lang="en-US" altLang="en-US" dirty="0"/>
              <a:t>Empty process</a:t>
            </a:r>
          </a:p>
          <a:p>
            <a:r>
              <a:rPr lang="en-US" altLang="en-US" dirty="0"/>
              <a:t>Android will begin terminating processes that are least important.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D6E94F8E-122F-4FED-9B3D-FD01E2845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26348" y="143365"/>
            <a:ext cx="7997825" cy="576263"/>
          </a:xfrm>
        </p:spPr>
        <p:txBody>
          <a:bodyPr/>
          <a:lstStyle/>
          <a:p>
            <a:r>
              <a:rPr lang="en-US" altLang="en-US" sz="2800" dirty="0" err="1"/>
              <a:t>Multiprocess</a:t>
            </a:r>
            <a:r>
              <a:rPr lang="en-US" altLang="en-US" sz="2800" dirty="0"/>
              <a:t> Architecture – Chrome Browser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360D7C25-6ED1-40E0-9C1E-876BC3EC89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39975" y="1073426"/>
            <a:ext cx="7805738" cy="4478752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Many web browsers ran as single process (some still do)</a:t>
            </a:r>
          </a:p>
          <a:p>
            <a:pPr lvl="1"/>
            <a:r>
              <a:rPr lang="en-US" altLang="en-US" dirty="0"/>
              <a:t>If one web site causes trouble, entire browser can hang or crash</a:t>
            </a:r>
          </a:p>
          <a:p>
            <a:r>
              <a:rPr lang="en-US" altLang="en-US" dirty="0"/>
              <a:t>Google Chrome Browser is </a:t>
            </a:r>
            <a:r>
              <a:rPr lang="en-US" altLang="en-US" dirty="0" err="1"/>
              <a:t>multiprocess</a:t>
            </a:r>
            <a:r>
              <a:rPr lang="en-US" altLang="en-US" dirty="0"/>
              <a:t> with 3 different types of processes: 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Browser</a:t>
            </a:r>
            <a:r>
              <a:rPr lang="en-US" altLang="en-US" dirty="0"/>
              <a:t> process manages user interface, disk and network I/O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Renderer</a:t>
            </a:r>
            <a:r>
              <a:rPr lang="en-US" altLang="en-US" dirty="0"/>
              <a:t> process renders web pages, deals with HTML, </a:t>
            </a:r>
            <a:r>
              <a:rPr lang="en-US" altLang="en-US" dirty="0" err="1"/>
              <a:t>Javascript</a:t>
            </a:r>
            <a:r>
              <a:rPr lang="en-US" altLang="en-US" dirty="0"/>
              <a:t>. A new renderer created for each website opened</a:t>
            </a:r>
          </a:p>
          <a:p>
            <a:pPr lvl="2"/>
            <a:r>
              <a:rPr lang="en-US" altLang="en-US" dirty="0"/>
              <a:t>Runs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sandbox</a:t>
            </a:r>
            <a:r>
              <a:rPr lang="en-US" altLang="en-US" dirty="0"/>
              <a:t> restricting disk and network I/O, minimizing effect of security exploits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Plug-in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process for each type of plug-in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57348" name="Picture 1">
            <a:extLst>
              <a:ext uri="{FF2B5EF4-FFF2-40B4-BE49-F238E27FC236}">
                <a16:creationId xmlns:a16="http://schemas.microsoft.com/office/drawing/2014/main" id="{FC10B725-AB13-417A-BEE0-FCE2190A3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950" y="4591124"/>
            <a:ext cx="6278563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09D0E5E8-A027-43B0-871E-ED73DF85B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5713" y="130054"/>
            <a:ext cx="7485062" cy="5762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Interprocess Communication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2EF26BE1-FCB0-440F-8834-E9B667D36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35213" y="1154114"/>
            <a:ext cx="7675562" cy="4530725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/>
              <a:t>Processes within a system may be </a:t>
            </a:r>
            <a:r>
              <a:rPr lang="en-US" altLang="en-US" b="1" i="1" dirty="0"/>
              <a:t>independent</a:t>
            </a:r>
            <a:r>
              <a:rPr lang="en-US" altLang="en-US" b="1" dirty="0"/>
              <a:t> </a:t>
            </a:r>
            <a:r>
              <a:rPr lang="en-US" altLang="en-US" dirty="0"/>
              <a:t>or </a:t>
            </a:r>
            <a:r>
              <a:rPr lang="en-US" altLang="en-US" b="1" i="1" dirty="0"/>
              <a:t>cooperating</a:t>
            </a:r>
          </a:p>
          <a:p>
            <a:r>
              <a:rPr lang="en-US" altLang="en-US" dirty="0"/>
              <a:t>Cooperating process can affect or be affected by other processes, including sharing data</a:t>
            </a:r>
          </a:p>
          <a:p>
            <a:r>
              <a:rPr lang="en-US" altLang="en-US" dirty="0"/>
              <a:t>Reasons for cooperating processes:</a:t>
            </a:r>
          </a:p>
          <a:p>
            <a:pPr lvl="1"/>
            <a:r>
              <a:rPr lang="en-US" altLang="en-US" dirty="0"/>
              <a:t>Information sharing</a:t>
            </a:r>
          </a:p>
          <a:p>
            <a:pPr lvl="1"/>
            <a:r>
              <a:rPr lang="en-US" altLang="en-US" dirty="0"/>
              <a:t>Computation speedup</a:t>
            </a:r>
          </a:p>
          <a:p>
            <a:pPr lvl="1"/>
            <a:r>
              <a:rPr lang="en-US" altLang="en-US" dirty="0"/>
              <a:t>Modularity</a:t>
            </a:r>
          </a:p>
          <a:p>
            <a:pPr lvl="1"/>
            <a:r>
              <a:rPr lang="en-US" altLang="en-US" dirty="0"/>
              <a:t>Convenience	</a:t>
            </a:r>
          </a:p>
          <a:p>
            <a:r>
              <a:rPr lang="en-US" altLang="en-US" dirty="0"/>
              <a:t>Cooperating processes need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IPC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Two models of IPC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Message passing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24006AF-9462-4FD7-8602-D757042B9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8601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Communications Models 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00B4232E-A93C-4613-91D0-E8A0948B6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489" y="1150939"/>
            <a:ext cx="6372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(a) Shared memory.  		(b) Message passing. </a:t>
            </a:r>
            <a:r>
              <a:rPr kumimoji="0" lang="en-US" altLang="en-US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1444" name="Picture 1">
            <a:extLst>
              <a:ext uri="{FF2B5EF4-FFF2-40B4-BE49-F238E27FC236}">
                <a16:creationId xmlns:a16="http://schemas.microsoft.com/office/drawing/2014/main" id="{3ED38AED-C0F5-4084-BE69-BF6EFD7FF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901" y="2016126"/>
            <a:ext cx="6246813" cy="399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3000</TotalTime>
  <Words>1315</Words>
  <Application>Microsoft Office PowerPoint</Application>
  <PresentationFormat>Widescreen</PresentationFormat>
  <Paragraphs>150</Paragraphs>
  <Slides>29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Aptos</vt:lpstr>
      <vt:lpstr>Aptos Display</vt:lpstr>
      <vt:lpstr>Arial</vt:lpstr>
      <vt:lpstr>Courier New</vt:lpstr>
      <vt:lpstr>Monotype Sorts</vt:lpstr>
      <vt:lpstr>Times New Roman</vt:lpstr>
      <vt:lpstr>Verdana</vt:lpstr>
      <vt:lpstr>Wingdings</vt:lpstr>
      <vt:lpstr>Office Theme</vt:lpstr>
      <vt:lpstr>Operating System: Process Mgmt - 1</vt:lpstr>
      <vt:lpstr>Outline</vt:lpstr>
      <vt:lpstr>Objectives</vt:lpstr>
      <vt:lpstr>Process Concept</vt:lpstr>
      <vt:lpstr>Process Concept (Cont.)</vt:lpstr>
      <vt:lpstr>Process in Memory</vt:lpstr>
      <vt:lpstr>Memory Layout of a C Program</vt:lpstr>
      <vt:lpstr>Process State</vt:lpstr>
      <vt:lpstr>Diagram of Process State</vt:lpstr>
      <vt:lpstr>Process Control Block (PCB)</vt:lpstr>
      <vt:lpstr>Threads</vt:lpstr>
      <vt:lpstr>Process Representation in Linux</vt:lpstr>
      <vt:lpstr>Process Scheduling</vt:lpstr>
      <vt:lpstr>Ready and Wait Queues</vt:lpstr>
      <vt:lpstr>Representation of Process Scheduling</vt:lpstr>
      <vt:lpstr>CPU Switch From Process to Process</vt:lpstr>
      <vt:lpstr>Context Switch</vt:lpstr>
      <vt:lpstr>Operations on Processes</vt:lpstr>
      <vt:lpstr>Process Creation</vt:lpstr>
      <vt:lpstr>Process Creation (Cont.)</vt:lpstr>
      <vt:lpstr>A Tree of Processes in Linux</vt:lpstr>
      <vt:lpstr>C Program Forking Separate Process</vt:lpstr>
      <vt:lpstr>Creating a Separate Process via Windows API</vt:lpstr>
      <vt:lpstr>Process Termination</vt:lpstr>
      <vt:lpstr>Process Termination</vt:lpstr>
      <vt:lpstr>Android Process Importance Hierarchy</vt:lpstr>
      <vt:lpstr>Multiprocess Architecture – Chrome Browser</vt:lpstr>
      <vt:lpstr>Interprocess Communication</vt:lpstr>
      <vt:lpstr>Communications Models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Sukhandeep Kaur</dc:creator>
  <cp:lastModifiedBy>Sukhandeep Kaur</cp:lastModifiedBy>
  <cp:revision>5</cp:revision>
  <dcterms:created xsi:type="dcterms:W3CDTF">2026-02-01T06:10:58Z</dcterms:created>
  <dcterms:modified xsi:type="dcterms:W3CDTF">2026-02-06T08:30:15Z</dcterms:modified>
</cp:coreProperties>
</file>