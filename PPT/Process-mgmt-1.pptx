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notesSlides/notesSlide18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notesSlides/notesSlide25.xml" ContentType="application/vnd.openxmlformats-officedocument.presentationml.notes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notesSlides/notesSlide1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9.xml" ContentType="application/vnd.openxmlformats-officedocument.presentationml.notes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notesSlides/notesSlide1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24.xml" ContentType="application/vnd.openxmlformats-officedocument.presentationml.notes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22.xml" ContentType="application/vnd.openxmlformats-officedocument.presentationml.notes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411" r:id="rId3"/>
    <p:sldId id="412" r:id="rId4"/>
    <p:sldId id="413" r:id="rId5"/>
    <p:sldId id="468" r:id="rId6"/>
    <p:sldId id="414" r:id="rId7"/>
    <p:sldId id="499" r:id="rId8"/>
    <p:sldId id="415" r:id="rId9"/>
    <p:sldId id="416" r:id="rId10"/>
    <p:sldId id="417" r:id="rId11"/>
    <p:sldId id="419" r:id="rId12"/>
    <p:sldId id="469" r:id="rId13"/>
    <p:sldId id="421" r:id="rId14"/>
    <p:sldId id="422" r:id="rId15"/>
    <p:sldId id="423" r:id="rId16"/>
    <p:sldId id="500" r:id="rId17"/>
    <p:sldId id="501" r:id="rId18"/>
    <p:sldId id="428" r:id="rId19"/>
    <p:sldId id="429" r:id="rId20"/>
    <p:sldId id="431" r:id="rId21"/>
    <p:sldId id="430" r:id="rId22"/>
    <p:sldId id="432" r:id="rId23"/>
    <p:sldId id="478" r:id="rId24"/>
    <p:sldId id="471" r:id="rId25"/>
    <p:sldId id="434" r:id="rId26"/>
    <p:sldId id="502" r:id="rId27"/>
    <p:sldId id="435" r:id="rId28"/>
    <p:sldId id="436" r:id="rId29"/>
    <p:sldId id="43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vertBarState="maximized">
    <p:restoredLeft sz="15152" autoAdjust="0"/>
    <p:restoredTop sz="94660"/>
  </p:normalViewPr>
  <p:slideViewPr>
    <p:cSldViewPr snapToGrid="0">
      <p:cViewPr varScale="1">
        <p:scale>
          <a:sx n="60" d="100"/>
          <a:sy n="60" d="100"/>
        </p:scale>
        <p:origin x="-348" y="-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1CB643-DCC8-44F3-A0A2-A3DCDD9E66E5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D70974-B9D7-44BB-842A-1DF1E23F6BCD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303104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xmlns="" id="{20DF96DF-3F74-4EB3-AA2E-7D9494973A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xmlns="" id="{E2557FD8-EB60-4E74-935E-C71DFE670F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xmlns="" id="{FBCFB357-A457-418B-BC82-12A77928713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xmlns="" id="{4AC72817-56C5-4C77-BF6F-D63723000C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xmlns="" id="{4730F164-3563-441D-A2BB-9ECF873C6BA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xmlns="" id="{58081F0E-1362-4F6F-BE70-E88D6BFB0B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xmlns="" id="{CFB97593-0041-4772-A59B-E780BE22DF4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xmlns="" id="{677EF500-B7A4-4BC7-84F3-DC9FCA5B575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xmlns="" id="{655D7E6C-E4BC-4E16-83B1-ED424A35489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xmlns="" id="{96D47F81-B4E3-449F-BAFA-037C273646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xmlns="" id="{A9F52C5D-9955-47A2-9EA6-38FEB66EF37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xmlns="" id="{E6218432-9C5A-4AD0-9E05-B779659723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xmlns="" id="{042EA566-EA1E-431B-9110-DD679A87E3A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xmlns="" id="{1C1B7D9C-8A76-4C14-A850-8C9DC9F5D5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xmlns="" id="{DF878B3E-8479-4A7F-B924-0DB8314B237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xmlns="" id="{2282D934-92EA-49D5-A68F-69E0FE53072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59AB2CB0-7084-4003-8F6F-84F247F5EB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6808F682-D9AD-4570-A2CA-1F45861E4D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xmlns="" id="{3D975521-C031-44A8-80BF-39B38B75F0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>
            <a:extLst>
              <a:ext uri="{FF2B5EF4-FFF2-40B4-BE49-F238E27FC236}">
                <a16:creationId xmlns:a16="http://schemas.microsoft.com/office/drawing/2014/main" xmlns="" id="{1A3DECD5-2795-49AC-8BF6-9DFEFF419D7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xmlns="" id="{CBB1EDE5-9E4C-42E1-B87C-545C7237B7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xmlns="" id="{E24A6F99-D8AD-44C9-8834-3BFC2627FE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xmlns="" id="{8A783162-EACC-46A4-B314-BFAA15B50D8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1" name="Rectangle 3">
            <a:extLst>
              <a:ext uri="{FF2B5EF4-FFF2-40B4-BE49-F238E27FC236}">
                <a16:creationId xmlns:a16="http://schemas.microsoft.com/office/drawing/2014/main" xmlns="" id="{FDCB06C7-C4C1-4DF4-AE1C-75C2D1E2FA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xmlns="" id="{D19DD103-275F-46A0-BEB3-576DC18D62D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xmlns="" id="{E9ADCDDC-7641-41D4-AAB2-2DC5DA9547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xmlns="" id="{DFCFEC24-8D51-4AAB-8657-81C98775092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xmlns="" id="{4FAB513B-E127-4650-9171-574B0AF722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xmlns="" id="{9EC96916-1BAE-4A4E-BF94-2604763DB99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3" name="Rectangle 3">
            <a:extLst>
              <a:ext uri="{FF2B5EF4-FFF2-40B4-BE49-F238E27FC236}">
                <a16:creationId xmlns:a16="http://schemas.microsoft.com/office/drawing/2014/main" xmlns="" id="{7FEBB5C8-282F-4906-80B9-C81D701613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xmlns="" id="{17605DEB-C81B-41F2-ABA8-D21CD717FA7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xmlns="" id="{520811E7-D32E-4B74-9C5E-4F2EBBA715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xmlns="" id="{CADFF460-F732-4F8E-9BEC-BDC62B69C0F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7" name="Rectangle 3">
            <a:extLst>
              <a:ext uri="{FF2B5EF4-FFF2-40B4-BE49-F238E27FC236}">
                <a16:creationId xmlns:a16="http://schemas.microsoft.com/office/drawing/2014/main" xmlns="" id="{E427A0BF-8535-41FD-9918-F0C0C2585C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xmlns="" id="{297FF49F-1D45-469B-875E-F2DC1DDA4D3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59" name="Rectangle 3">
            <a:extLst>
              <a:ext uri="{FF2B5EF4-FFF2-40B4-BE49-F238E27FC236}">
                <a16:creationId xmlns:a16="http://schemas.microsoft.com/office/drawing/2014/main" xmlns="" id="{949FD0D0-FC60-49A7-A825-489FF222CA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9206060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>
            <a:extLst>
              <a:ext uri="{FF2B5EF4-FFF2-40B4-BE49-F238E27FC236}">
                <a16:creationId xmlns:a16="http://schemas.microsoft.com/office/drawing/2014/main" xmlns="" id="{36C03FFC-61A1-4E2B-BB58-CEF8239A977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5" name="Rectangle 3">
            <a:extLst>
              <a:ext uri="{FF2B5EF4-FFF2-40B4-BE49-F238E27FC236}">
                <a16:creationId xmlns:a16="http://schemas.microsoft.com/office/drawing/2014/main" xmlns="" id="{E1C4ACA0-7908-4D31-AF21-00AD91730D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>
            <a:extLst>
              <a:ext uri="{FF2B5EF4-FFF2-40B4-BE49-F238E27FC236}">
                <a16:creationId xmlns:a16="http://schemas.microsoft.com/office/drawing/2014/main" xmlns="" id="{74A77185-263F-40EF-B517-050039163EB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3" name="Rectangle 3">
            <a:extLst>
              <a:ext uri="{FF2B5EF4-FFF2-40B4-BE49-F238E27FC236}">
                <a16:creationId xmlns:a16="http://schemas.microsoft.com/office/drawing/2014/main" xmlns="" id="{93895C72-BFF8-4918-95C2-8FFB7A879F7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xmlns="" id="{03A7F482-09C8-4234-BA8B-E06C784513B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299" name="Rectangle 3">
            <a:extLst>
              <a:ext uri="{FF2B5EF4-FFF2-40B4-BE49-F238E27FC236}">
                <a16:creationId xmlns:a16="http://schemas.microsoft.com/office/drawing/2014/main" xmlns="" id="{F97F5174-3BAF-4B1B-846E-3DB7430B29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>
            <a:extLst>
              <a:ext uri="{FF2B5EF4-FFF2-40B4-BE49-F238E27FC236}">
                <a16:creationId xmlns:a16="http://schemas.microsoft.com/office/drawing/2014/main" xmlns="" id="{599F2A1A-F415-4861-9317-8DF50F438DE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1" name="Rectangle 3">
            <a:extLst>
              <a:ext uri="{FF2B5EF4-FFF2-40B4-BE49-F238E27FC236}">
                <a16:creationId xmlns:a16="http://schemas.microsoft.com/office/drawing/2014/main" xmlns="" id="{68EDBADE-A031-473C-85B2-8404A68200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>
            <a:extLst>
              <a:ext uri="{FF2B5EF4-FFF2-40B4-BE49-F238E27FC236}">
                <a16:creationId xmlns:a16="http://schemas.microsoft.com/office/drawing/2014/main" xmlns="" id="{46F678B6-0AFA-4070-84E8-E0DDD2DCB29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1" name="Rectangle 3">
            <a:extLst>
              <a:ext uri="{FF2B5EF4-FFF2-40B4-BE49-F238E27FC236}">
                <a16:creationId xmlns:a16="http://schemas.microsoft.com/office/drawing/2014/main" xmlns="" id="{607DE2B4-6350-4A16-8897-F8F2804C1A8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2">
            <a:extLst>
              <a:ext uri="{FF2B5EF4-FFF2-40B4-BE49-F238E27FC236}">
                <a16:creationId xmlns:a16="http://schemas.microsoft.com/office/drawing/2014/main" xmlns="" id="{B8301404-D876-4FA9-9859-EB43354FAFA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19" name="Rectangle 3">
            <a:extLst>
              <a:ext uri="{FF2B5EF4-FFF2-40B4-BE49-F238E27FC236}">
                <a16:creationId xmlns:a16="http://schemas.microsoft.com/office/drawing/2014/main" xmlns="" id="{EB83674B-F150-4C3E-831A-26B553169A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>
            <a:extLst>
              <a:ext uri="{FF2B5EF4-FFF2-40B4-BE49-F238E27FC236}">
                <a16:creationId xmlns:a16="http://schemas.microsoft.com/office/drawing/2014/main" xmlns="" id="{34F8BBD9-185E-425D-9763-2A1219F950A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7" name="Rectangle 3">
            <a:extLst>
              <a:ext uri="{FF2B5EF4-FFF2-40B4-BE49-F238E27FC236}">
                <a16:creationId xmlns:a16="http://schemas.microsoft.com/office/drawing/2014/main" xmlns="" id="{C11B4F24-2CE2-4D89-BDF4-88019FD32B7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5CC4BAC-D575-BF26-55FC-ED71B9F7E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50BCA82-3C72-BC33-A957-A35EA10695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FB4D723-6418-D85C-A514-01174D0A8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F6A6D0D-4F64-AA18-5F32-DE4BBC39D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4B370F1C-F44B-A18E-B1A0-9ACD5A05F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1697084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15A02FC-586B-3DE3-F722-6E20BD802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C17E66D-8CDF-C33A-D87D-B56C23835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FB3AA4B-BCDB-1443-59BB-882627C8E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C3C0448-4A41-37CE-3926-D07479CAE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A3D703C-42F8-7433-2AB6-FC0C208EA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4284034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D892E8-D9C3-D050-2A51-3281CE564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874D7D56-73D3-09EF-FC96-8AEEBA8769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B7FC019-BAE2-C408-CE75-44B3263BD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1913B91-7E9A-A783-59E2-35D7F22DD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74B466E-A5D8-4865-9A45-10C8691A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3617531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55F276-3E01-9749-0F50-505526833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DD5D60D-A176-EACE-1D7E-B08BF7F8EC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C82BAFDB-D0F7-B11F-A06F-066DA91781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D4DC5801-5D89-7DF4-7EBD-0FACE14B3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8EEBB67-F1F3-809C-8C5C-527CF20CC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2BE0CEA8-48DD-A3E6-33A2-7E0B8308C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4071515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56DF1B-772D-849C-B3A2-7C4AB800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5DAA204B-2B1A-E261-02E7-5CB5241BB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1F838A3E-851F-D790-2CC8-20C85C8150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33CA0833-B6C8-5263-049D-67DA88C05F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D8D23E42-51BF-7813-FF57-96B565835B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031AF455-7452-E023-DB78-78A6828C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383C350-9FCA-C263-0421-D5D1C4743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06D66EC7-8DC2-6D93-DE02-B8FA95CAF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1865383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00873-5336-A58B-5D14-F8738B73F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3A91DF9E-17C9-5855-68DF-D6CDA55C6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F4E804D6-1294-14E6-1FDB-45CFFC10F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8EB6D640-C95F-322B-4F7A-CE7CCE2DA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3391076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FB486ED2-8717-463D-DD68-B408902A8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4800D06B-A206-2364-31D0-631FE5F12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5A71047-950B-C965-603D-30B6C17B6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211206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28E0360-ECBA-1C87-5410-1E1ABD431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92162B5-77D4-B350-6211-DCD30B2B6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DF0CC778-3A0F-3AB6-591D-972CFE1880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D1BDC2D-8FCD-69AF-3203-962713421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1C38454D-FDC6-75DA-5B78-BBE8D927E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25540AA-F0DA-1728-9D50-41D467949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1876693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B741C18-36FE-F705-0F3B-115C1DE41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588AA777-2A5C-B212-EBF5-511DEAB0E2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915CDCCF-7F89-BAE4-97F0-0A6361E82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10CCB020-409C-1036-0382-1091D417C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021489E5-0F50-2FBB-C222-EE1B28376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C0FA90B-1E5E-FF68-86FC-EC5DD3B44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559457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7598F7-D040-F881-B8F4-DA42780A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49B56BBC-ADBF-73E2-AC2F-9699BA9108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FCC31E8-21FF-27A5-C3B5-1FE7C6947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4A9B6BE-6873-CEF7-20B9-5E99C6589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0BB255C-DA8D-D939-CBDC-A427C270A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98594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2B7982AF-255B-9A49-4305-DCB7E4DF21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B5903ED2-041F-68CA-AC5D-66C23B6222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F0B1509-89B3-E41B-9352-A4552486A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A5F10D1-B84D-C06F-96E9-14B011DF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0EEC19B-3D39-2C9F-F9CD-C0E8B5C19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1169488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DB696BA4-4C07-FFEB-434B-29587AE0B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8DA51201-1162-F369-6BBF-3F0CF812B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62A997F-EC55-81DC-94D6-8F882B4015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41F19-39CC-4F31-881A-05464A945BDB}" type="datetimeFigureOut">
              <a:rPr lang="en-IN" smtClean="0"/>
              <a:pPr/>
              <a:t>09-03-2026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F6255B7-BE6D-9D48-ACC0-5713AC625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3519CCD-DC8E-1457-D9DD-4C773DA0F3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321850-F50E-463E-95B4-E13B4C6D5005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189129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CC2084-9A18-6B8D-549E-09DE634583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Operating System: Process </a:t>
            </a:r>
            <a:r>
              <a:rPr lang="en-IN" dirty="0" err="1"/>
              <a:t>Mgmt</a:t>
            </a:r>
            <a:r>
              <a:rPr lang="en-IN" dirty="0"/>
              <a:t> - 1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9DC4C8FE-9EF5-9182-E730-46B57E626F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Lecture 2-3-4</a:t>
            </a:r>
          </a:p>
        </p:txBody>
      </p:sp>
    </p:spTree>
    <p:extLst>
      <p:ext uri="{BB962C8B-B14F-4D97-AF65-F5344CB8AC3E}">
        <p14:creationId xmlns:p14="http://schemas.microsoft.com/office/powerpoint/2010/main" xmlns="" val="1517197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xmlns="" id="{43F2AA79-94D9-4276-9C41-F8DFF30014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168651" y="228601"/>
            <a:ext cx="6380163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Outline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xmlns="" id="{5C7B4A6B-A9B9-465A-90EA-66F5770523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25688" y="1149350"/>
            <a:ext cx="7791450" cy="3822700"/>
          </a:xfrm>
        </p:spPr>
        <p:txBody>
          <a:bodyPr>
            <a:normAutofit/>
          </a:bodyPr>
          <a:lstStyle/>
          <a:p>
            <a:r>
              <a:rPr lang="en-US" altLang="en-US" dirty="0"/>
              <a:t>Process Concept</a:t>
            </a:r>
          </a:p>
          <a:p>
            <a:r>
              <a:rPr lang="en-US" altLang="en-US" dirty="0"/>
              <a:t>Process Scheduling</a:t>
            </a:r>
          </a:p>
          <a:p>
            <a:r>
              <a:rPr lang="en-US" altLang="en-US" dirty="0"/>
              <a:t>Operations on Processes</a:t>
            </a:r>
          </a:p>
          <a:p>
            <a:r>
              <a:rPr lang="en-US" altLang="en-US" dirty="0"/>
              <a:t>Interprocess Communication</a:t>
            </a:r>
          </a:p>
          <a:p>
            <a:r>
              <a:rPr lang="en-US" altLang="en-US" dirty="0"/>
              <a:t>IPC in Shared-Memory Systems</a:t>
            </a:r>
          </a:p>
          <a:p>
            <a:r>
              <a:rPr lang="en-US" altLang="en-US" dirty="0"/>
              <a:t>IPC in Message-Passing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>
            <a:extLst>
              <a:ext uri="{FF2B5EF4-FFF2-40B4-BE49-F238E27FC236}">
                <a16:creationId xmlns:a16="http://schemas.microsoft.com/office/drawing/2014/main" xmlns="" id="{28163CEC-73A6-4E96-880E-3A57C5F4B1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236538"/>
            <a:ext cx="82296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Objectives</a:t>
            </a:r>
          </a:p>
        </p:txBody>
      </p:sp>
      <p:sp>
        <p:nvSpPr>
          <p:cNvPr id="9219" name="Content Placeholder 2">
            <a:extLst>
              <a:ext uri="{FF2B5EF4-FFF2-40B4-BE49-F238E27FC236}">
                <a16:creationId xmlns:a16="http://schemas.microsoft.com/office/drawing/2014/main" xmlns="" id="{A0DD2938-EA4E-48BC-A833-20DE32AC1BF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74557" y="1138239"/>
            <a:ext cx="10313233" cy="4530725"/>
          </a:xfrm>
        </p:spPr>
        <p:txBody>
          <a:bodyPr>
            <a:normAutofit/>
          </a:bodyPr>
          <a:lstStyle/>
          <a:p>
            <a:r>
              <a:rPr lang="en-US" altLang="en-US" dirty="0"/>
              <a:t>Identify the </a:t>
            </a:r>
            <a:r>
              <a:rPr lang="en-US" altLang="en-US" b="1" dirty="0"/>
              <a:t>separate components of a process </a:t>
            </a:r>
            <a:r>
              <a:rPr lang="en-US" altLang="en-US" dirty="0"/>
              <a:t>and illustrate how they are </a:t>
            </a:r>
            <a:r>
              <a:rPr lang="en-US" altLang="en-US" b="1" dirty="0"/>
              <a:t>represented and scheduled </a:t>
            </a:r>
            <a:r>
              <a:rPr lang="en-US" altLang="en-US" dirty="0"/>
              <a:t>in an operating system.</a:t>
            </a:r>
          </a:p>
          <a:p>
            <a:r>
              <a:rPr lang="en-US" altLang="en-US" dirty="0"/>
              <a:t>Describe how </a:t>
            </a:r>
            <a:r>
              <a:rPr lang="en-US" altLang="en-US" b="1" dirty="0"/>
              <a:t>processes are created and terminated </a:t>
            </a:r>
            <a:r>
              <a:rPr lang="en-US" altLang="en-US" dirty="0"/>
              <a:t>in an operating system, including developing programs using the appropriate system calls that perform these operations.</a:t>
            </a:r>
          </a:p>
          <a:p>
            <a:r>
              <a:rPr lang="en-US" altLang="en-US" dirty="0"/>
              <a:t>Describe and contrast </a:t>
            </a:r>
            <a:r>
              <a:rPr lang="en-US" altLang="en-US" b="1" dirty="0" err="1"/>
              <a:t>interprocess</a:t>
            </a:r>
            <a:r>
              <a:rPr lang="en-US" altLang="en-US" b="1" dirty="0"/>
              <a:t> communication </a:t>
            </a:r>
            <a:r>
              <a:rPr lang="en-US" altLang="en-US" dirty="0"/>
              <a:t>using </a:t>
            </a:r>
            <a:r>
              <a:rPr lang="en-US" altLang="en-US" b="1" dirty="0"/>
              <a:t>shared memory and message passing</a:t>
            </a:r>
            <a:r>
              <a:rPr lang="en-US" altLang="en-US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xmlns="" id="{17E8AE27-E50C-40A0-B477-CFFEC3475E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100388" y="222251"/>
            <a:ext cx="6107112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Process Concept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xmlns="" id="{5D446FCF-843C-4B0E-B66C-D60BED2777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17750" y="1206501"/>
            <a:ext cx="7624536" cy="4758871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altLang="en-US" dirty="0"/>
              <a:t>An operating system executes a variety of programs that run as a process.</a:t>
            </a:r>
          </a:p>
          <a:p>
            <a:pPr>
              <a:lnSpc>
                <a:spcPct val="90000"/>
              </a:lnSpc>
            </a:pP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Process</a:t>
            </a:r>
            <a:r>
              <a:rPr lang="en-US" altLang="en-US" dirty="0"/>
              <a:t> – a program in execution; process execution must progress in sequential fashion. No parallel execution of instructions of a  single process</a:t>
            </a:r>
          </a:p>
          <a:p>
            <a:r>
              <a:rPr lang="en-US" altLang="en-US" dirty="0"/>
              <a:t>Multiple parts</a:t>
            </a:r>
          </a:p>
          <a:p>
            <a:pPr lvl="1"/>
            <a:r>
              <a:rPr lang="en-US" altLang="en-US" dirty="0"/>
              <a:t>The program code, also called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text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section</a:t>
            </a:r>
          </a:p>
          <a:p>
            <a:pPr lvl="1"/>
            <a:r>
              <a:rPr lang="en-US" altLang="en-US" dirty="0"/>
              <a:t>Current activity including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program</a:t>
            </a:r>
            <a:r>
              <a:rPr lang="en-US" altLang="en-US" b="1" dirty="0"/>
              <a:t>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counter</a:t>
            </a:r>
            <a:r>
              <a:rPr lang="en-US" altLang="en-US" dirty="0"/>
              <a:t>, processor registers</a:t>
            </a:r>
          </a:p>
          <a:p>
            <a:pPr lvl="1"/>
            <a:r>
              <a:rPr lang="en-US" altLang="en-US" b="1" dirty="0">
                <a:solidFill>
                  <a:srgbClr val="006699"/>
                </a:solidFill>
                <a:latin typeface="+mj-lt"/>
              </a:rPr>
              <a:t>Stack</a:t>
            </a:r>
            <a:r>
              <a:rPr lang="en-US" altLang="en-US" b="1" dirty="0"/>
              <a:t> </a:t>
            </a:r>
            <a:r>
              <a:rPr lang="en-US" altLang="en-US" dirty="0"/>
              <a:t>containing temporary data</a:t>
            </a:r>
          </a:p>
          <a:p>
            <a:pPr lvl="2"/>
            <a:r>
              <a:rPr lang="en-US" altLang="en-US" dirty="0"/>
              <a:t>Function parameters, return addresses, local variables</a:t>
            </a:r>
          </a:p>
          <a:p>
            <a:pPr lvl="1"/>
            <a:r>
              <a:rPr lang="en-US" altLang="en-US" b="1" dirty="0">
                <a:solidFill>
                  <a:srgbClr val="006699"/>
                </a:solidFill>
                <a:latin typeface="+mj-lt"/>
              </a:rPr>
              <a:t>Data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section</a:t>
            </a:r>
            <a:r>
              <a:rPr lang="en-US" altLang="en-US" b="1" dirty="0"/>
              <a:t> </a:t>
            </a:r>
            <a:r>
              <a:rPr lang="en-US" altLang="en-US" dirty="0"/>
              <a:t>containing global variables</a:t>
            </a:r>
          </a:p>
          <a:p>
            <a:pPr lvl="1"/>
            <a:r>
              <a:rPr lang="en-US" altLang="en-US" b="1" dirty="0">
                <a:solidFill>
                  <a:srgbClr val="006699"/>
                </a:solidFill>
                <a:latin typeface="+mj-lt"/>
              </a:rPr>
              <a:t>Heap</a:t>
            </a:r>
            <a:r>
              <a:rPr lang="en-US" altLang="en-US" b="1" dirty="0"/>
              <a:t> </a:t>
            </a:r>
            <a:r>
              <a:rPr lang="en-US" altLang="en-US" dirty="0"/>
              <a:t>containing memory dynamically allocated during run time</a:t>
            </a:r>
          </a:p>
          <a:p>
            <a:pPr>
              <a:lnSpc>
                <a:spcPct val="90000"/>
              </a:lnSpc>
              <a:buFont typeface="Monotype Sorts" pitchFamily="-84" charset="2"/>
              <a:buNone/>
            </a:pPr>
            <a:endParaRPr lang="en-US" altLang="en-US" dirty="0"/>
          </a:p>
          <a:p>
            <a:pPr>
              <a:lnSpc>
                <a:spcPct val="90000"/>
              </a:lnSpc>
              <a:buFont typeface="Monotype Sorts" pitchFamily="-84" charset="2"/>
              <a:buNone/>
            </a:pPr>
            <a:endParaRPr lang="en-US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xmlns="" id="{39FB78B1-A72C-494F-9718-8FF44F7505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100388" y="230188"/>
            <a:ext cx="6107112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Process Concept (Cont.)</a:t>
            </a:r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xmlns="" id="{1B99AC1A-7079-467A-A88A-5DCC86E364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17751" y="1203325"/>
            <a:ext cx="6949621" cy="4595132"/>
          </a:xfrm>
        </p:spPr>
        <p:txBody>
          <a:bodyPr/>
          <a:lstStyle/>
          <a:p>
            <a:r>
              <a:rPr lang="en-US" altLang="en-US" dirty="0"/>
              <a:t>Program is </a:t>
            </a:r>
            <a:r>
              <a:rPr lang="en-US" altLang="en-US" b="1" dirty="0"/>
              <a:t>passive</a:t>
            </a:r>
            <a:r>
              <a:rPr lang="en-US" altLang="en-US" dirty="0"/>
              <a:t> entity stored on disk (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executable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file</a:t>
            </a:r>
            <a:r>
              <a:rPr lang="en-US" altLang="en-US" dirty="0"/>
              <a:t>); process is </a:t>
            </a:r>
            <a:r>
              <a:rPr lang="en-US" altLang="en-US" b="1" dirty="0"/>
              <a:t>active</a:t>
            </a:r>
            <a:r>
              <a:rPr lang="en-US" altLang="en-US" b="1" i="1" dirty="0"/>
              <a:t> </a:t>
            </a:r>
          </a:p>
          <a:p>
            <a:pPr lvl="1"/>
            <a:r>
              <a:rPr lang="en-US" altLang="en-US" dirty="0"/>
              <a:t>Program becomes process when an executable file is loaded into memory</a:t>
            </a:r>
          </a:p>
          <a:p>
            <a:r>
              <a:rPr lang="en-US" altLang="en-US" dirty="0"/>
              <a:t>Execution of program started via GUI mouse clicks, command line entry of its name, etc.</a:t>
            </a:r>
          </a:p>
          <a:p>
            <a:r>
              <a:rPr lang="en-US" altLang="en-US" dirty="0"/>
              <a:t>One program can be several processes</a:t>
            </a:r>
          </a:p>
          <a:p>
            <a:pPr lvl="1"/>
            <a:r>
              <a:rPr lang="en-US" altLang="en-US" dirty="0"/>
              <a:t>Consider multiple users executing the same program</a:t>
            </a:r>
          </a:p>
          <a:p>
            <a:pPr>
              <a:lnSpc>
                <a:spcPct val="90000"/>
              </a:lnSpc>
            </a:pPr>
            <a:endParaRPr lang="en-US" altLang="en-US" dirty="0"/>
          </a:p>
          <a:p>
            <a:pPr>
              <a:lnSpc>
                <a:spcPct val="90000"/>
              </a:lnSpc>
              <a:buFont typeface="Monotype Sorts" pitchFamily="-84" charset="2"/>
              <a:buNone/>
            </a:pPr>
            <a:endParaRPr lang="en-US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xmlns="" id="{20AFA67C-5037-4199-ADB3-2B949804BC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222251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Process in Memory</a:t>
            </a:r>
          </a:p>
        </p:txBody>
      </p:sp>
      <p:pic>
        <p:nvPicPr>
          <p:cNvPr id="15363" name="Picture 1">
            <a:extLst>
              <a:ext uri="{FF2B5EF4-FFF2-40B4-BE49-F238E27FC236}">
                <a16:creationId xmlns:a16="http://schemas.microsoft.com/office/drawing/2014/main" xmlns="" id="{56913459-B2A5-4780-A47A-63C55AF8C3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4781550" y="1595439"/>
            <a:ext cx="2655888" cy="4249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xmlns="" id="{5F0918BC-EE47-4B64-B75C-97D41C08DC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98057" y="196398"/>
            <a:ext cx="8077200" cy="576263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Memory Layout of a C Program</a:t>
            </a:r>
          </a:p>
        </p:txBody>
      </p:sp>
      <p:pic>
        <p:nvPicPr>
          <p:cNvPr id="17411" name="Picture 1">
            <a:extLst>
              <a:ext uri="{FF2B5EF4-FFF2-40B4-BE49-F238E27FC236}">
                <a16:creationId xmlns:a16="http://schemas.microsoft.com/office/drawing/2014/main" xmlns="" id="{E58EFC16-5ABF-4B34-B546-50AB9FB818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2476500" y="1701801"/>
            <a:ext cx="7227888" cy="3433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xmlns="" id="{0890CFA9-9E5C-4419-8C0A-3AE15BC7584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884489" y="228601"/>
            <a:ext cx="6251575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Process State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xmlns="" id="{024CBB90-3DD4-48C6-830E-D5B680DA86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30451" y="1246189"/>
            <a:ext cx="7370763" cy="3254375"/>
          </a:xfrm>
        </p:spPr>
        <p:txBody>
          <a:bodyPr>
            <a:normAutofit lnSpcReduction="10000"/>
          </a:bodyPr>
          <a:lstStyle/>
          <a:p>
            <a:r>
              <a:rPr lang="en-US" altLang="en-US" dirty="0"/>
              <a:t>As a process executes, it changes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state</a:t>
            </a:r>
          </a:p>
          <a:p>
            <a:pPr lvl="1"/>
            <a:r>
              <a:rPr lang="en-US" altLang="en-US" b="1" dirty="0"/>
              <a:t>New</a:t>
            </a:r>
            <a:r>
              <a:rPr lang="en-US" altLang="en-US" dirty="0"/>
              <a:t>:  The process is being created</a:t>
            </a:r>
          </a:p>
          <a:p>
            <a:pPr lvl="1"/>
            <a:r>
              <a:rPr lang="en-US" altLang="en-US" b="1" dirty="0"/>
              <a:t>Running</a:t>
            </a:r>
            <a:r>
              <a:rPr lang="en-US" altLang="en-US" dirty="0"/>
              <a:t>:  Instructions are being executed</a:t>
            </a:r>
          </a:p>
          <a:p>
            <a:pPr lvl="1"/>
            <a:r>
              <a:rPr lang="en-US" altLang="en-US" b="1" dirty="0"/>
              <a:t>Waiting</a:t>
            </a:r>
            <a:r>
              <a:rPr lang="en-US" altLang="en-US" dirty="0"/>
              <a:t>:  The process is waiting for some event to occur</a:t>
            </a:r>
          </a:p>
          <a:p>
            <a:pPr lvl="1"/>
            <a:r>
              <a:rPr lang="en-US" altLang="en-US" b="1" dirty="0"/>
              <a:t>Ready</a:t>
            </a:r>
            <a:r>
              <a:rPr lang="en-US" altLang="en-US" dirty="0"/>
              <a:t>:  The process is waiting to be assigned to a processor</a:t>
            </a:r>
          </a:p>
          <a:p>
            <a:pPr lvl="1"/>
            <a:r>
              <a:rPr lang="en-US" altLang="en-US" b="1" dirty="0"/>
              <a:t>Terminated</a:t>
            </a:r>
            <a:r>
              <a:rPr lang="en-US" altLang="en-US" dirty="0"/>
              <a:t>:  The process has finished execution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xmlns="" id="{03351C7C-1AE3-4532-A2F7-C7EB33BCDB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63776" y="228601"/>
            <a:ext cx="7947025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Diagram of Process State</a:t>
            </a:r>
          </a:p>
        </p:txBody>
      </p:sp>
      <p:pic>
        <p:nvPicPr>
          <p:cNvPr id="20483" name="Picture 1">
            <a:extLst>
              <a:ext uri="{FF2B5EF4-FFF2-40B4-BE49-F238E27FC236}">
                <a16:creationId xmlns:a16="http://schemas.microsoft.com/office/drawing/2014/main" xmlns="" id="{C48543A4-67CA-450C-8237-41432A1A6B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617914" y="2238375"/>
            <a:ext cx="5591175" cy="2179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xmlns="" id="{FC14ED24-AEFF-4F38-8076-4F8FF58C3F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690814" y="193903"/>
            <a:ext cx="7519987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Process Control Block (PCB)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xmlns="" id="{DEEAF946-6112-4200-8913-ED1F42CE1EF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73991" y="1823223"/>
            <a:ext cx="5616122" cy="4417927"/>
          </a:xfrm>
        </p:spPr>
        <p:txBody>
          <a:bodyPr/>
          <a:lstStyle/>
          <a:p>
            <a:r>
              <a:rPr lang="en-US" altLang="en-US" sz="1700" dirty="0"/>
              <a:t>Process state – running, waiting, etc.</a:t>
            </a:r>
          </a:p>
          <a:p>
            <a:r>
              <a:rPr lang="en-US" altLang="en-US" sz="1700" dirty="0"/>
              <a:t>Program counter – location of instruction to next execute</a:t>
            </a:r>
          </a:p>
          <a:p>
            <a:r>
              <a:rPr lang="en-US" altLang="en-US" sz="1700" dirty="0"/>
              <a:t>CPU registers – contents of all process-centric registers</a:t>
            </a:r>
          </a:p>
          <a:p>
            <a:r>
              <a:rPr lang="en-US" altLang="en-US" sz="1700" dirty="0"/>
              <a:t>CPU scheduling information- priorities, scheduling queue pointers</a:t>
            </a:r>
          </a:p>
          <a:p>
            <a:r>
              <a:rPr lang="en-US" altLang="en-US" sz="1700" dirty="0"/>
              <a:t>Memory-management information – memory allocated to the process</a:t>
            </a:r>
          </a:p>
          <a:p>
            <a:r>
              <a:rPr lang="en-US" altLang="en-US" sz="1700" dirty="0"/>
              <a:t>Accounting information – CPU used, clock time elapsed since start, time limits</a:t>
            </a:r>
          </a:p>
          <a:p>
            <a:r>
              <a:rPr lang="en-US" altLang="en-US" sz="1700" dirty="0"/>
              <a:t>I/O status information – I/O devices allocated to process, list of open files</a:t>
            </a:r>
          </a:p>
          <a:p>
            <a:endParaRPr lang="en-US" altLang="en-US" dirty="0"/>
          </a:p>
        </p:txBody>
      </p:sp>
      <p:pic>
        <p:nvPicPr>
          <p:cNvPr id="22532" name="Picture 1">
            <a:extLst>
              <a:ext uri="{FF2B5EF4-FFF2-40B4-BE49-F238E27FC236}">
                <a16:creationId xmlns:a16="http://schemas.microsoft.com/office/drawing/2014/main" xmlns="" id="{4C1B42D7-9239-4535-8C25-EF8AF0D926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8147729" y="2121126"/>
            <a:ext cx="1854200" cy="301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7519650-4D5E-45C9-BCF6-B2C0554D33E2}"/>
              </a:ext>
            </a:extLst>
          </p:cNvPr>
          <p:cNvSpPr txBox="1"/>
          <p:nvPr/>
        </p:nvSpPr>
        <p:spPr>
          <a:xfrm>
            <a:off x="2293491" y="1110345"/>
            <a:ext cx="6874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700" dirty="0"/>
              <a:t>Information associated with each process(also called </a:t>
            </a:r>
            <a:r>
              <a:rPr kumimoji="1" lang="en-US" altLang="en-US" b="1" dirty="0">
                <a:solidFill>
                  <a:srgbClr val="006699"/>
                </a:solidFill>
                <a:latin typeface="+mj-lt"/>
              </a:rPr>
              <a:t>task</a:t>
            </a:r>
            <a:r>
              <a:rPr lang="en-US" altLang="en-US" sz="1700" b="1" dirty="0">
                <a:solidFill>
                  <a:srgbClr val="3366FF"/>
                </a:solidFill>
              </a:rPr>
              <a:t> </a:t>
            </a:r>
            <a:r>
              <a:rPr kumimoji="1" lang="en-US" altLang="en-US" b="1" dirty="0">
                <a:solidFill>
                  <a:srgbClr val="006699"/>
                </a:solidFill>
                <a:latin typeface="+mj-lt"/>
              </a:rPr>
              <a:t>control</a:t>
            </a:r>
            <a:r>
              <a:rPr lang="en-US" altLang="en-US" sz="1700" b="1" dirty="0">
                <a:solidFill>
                  <a:srgbClr val="3366FF"/>
                </a:solidFill>
              </a:rPr>
              <a:t> </a:t>
            </a:r>
            <a:r>
              <a:rPr kumimoji="1" lang="en-US" altLang="en-US" b="1" dirty="0">
                <a:solidFill>
                  <a:srgbClr val="006699"/>
                </a:solidFill>
                <a:latin typeface="+mj-lt"/>
              </a:rPr>
              <a:t>block</a:t>
            </a:r>
            <a:r>
              <a:rPr lang="en-US" altLang="en-US" sz="1700" dirty="0"/>
              <a:t>)</a:t>
            </a:r>
          </a:p>
          <a:p>
            <a:pPr>
              <a:buFont typeface="Monotype Sorts" pitchFamily="-84" charset="2"/>
              <a:buNone/>
            </a:pPr>
            <a:r>
              <a:rPr lang="en-US" altLang="en-US" dirty="0"/>
              <a:t> 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xmlns="" id="{18D9066D-6E62-480A-A448-F88C6FB241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65401" y="230188"/>
            <a:ext cx="7383463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Threads</a:t>
            </a:r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xmlns="" id="{5FE53719-71CB-4158-A535-768E646E48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17751" y="1059091"/>
            <a:ext cx="7116536" cy="4013652"/>
          </a:xfrm>
        </p:spPr>
        <p:txBody>
          <a:bodyPr/>
          <a:lstStyle/>
          <a:p>
            <a:r>
              <a:rPr lang="en-US" altLang="en-US" dirty="0"/>
              <a:t>So far, process has a single thread of execution</a:t>
            </a:r>
          </a:p>
          <a:p>
            <a:r>
              <a:rPr lang="en-US" altLang="en-US" dirty="0"/>
              <a:t>Consider having multiple program counters per process</a:t>
            </a:r>
          </a:p>
          <a:p>
            <a:pPr lvl="1"/>
            <a:r>
              <a:rPr lang="en-US" altLang="en-US" dirty="0"/>
              <a:t>Multiple locations can execute at once</a:t>
            </a:r>
          </a:p>
          <a:p>
            <a:pPr lvl="2"/>
            <a:r>
              <a:rPr lang="en-US" altLang="en-US" dirty="0"/>
              <a:t>Multiple threads of control -&gt;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threads</a:t>
            </a:r>
          </a:p>
          <a:p>
            <a:r>
              <a:rPr lang="en-US" altLang="en-US" dirty="0"/>
              <a:t>Must then have storage for thread details, multiple program counters in PCB</a:t>
            </a:r>
          </a:p>
          <a:p>
            <a:r>
              <a:rPr lang="en-US" altLang="en-US" dirty="0"/>
              <a:t>Explore in detail in Chapter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>
            <a:extLst>
              <a:ext uri="{FF2B5EF4-FFF2-40B4-BE49-F238E27FC236}">
                <a16:creationId xmlns:a16="http://schemas.microsoft.com/office/drawing/2014/main" xmlns="" id="{249B161E-EAED-4DCF-B609-D8AB274D03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84438" y="228601"/>
            <a:ext cx="8005762" cy="576263"/>
          </a:xfrm>
        </p:spPr>
        <p:txBody>
          <a:bodyPr>
            <a:normAutofit fontScale="90000"/>
          </a:bodyPr>
          <a:lstStyle/>
          <a:p>
            <a:r>
              <a:rPr lang="en-US" altLang="en-US"/>
              <a:t>Process Representation in Linux</a:t>
            </a:r>
          </a:p>
        </p:txBody>
      </p:sp>
      <p:sp>
        <p:nvSpPr>
          <p:cNvPr id="26627" name="Content Placeholder 2">
            <a:extLst>
              <a:ext uri="{FF2B5EF4-FFF2-40B4-BE49-F238E27FC236}">
                <a16:creationId xmlns:a16="http://schemas.microsoft.com/office/drawing/2014/main" xmlns="" id="{1363C44F-7AD0-4380-824D-C4E77F3B346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pitchFamily="-84" charset="2"/>
              <a:buNone/>
            </a:pPr>
            <a:r>
              <a:rPr lang="en-US" altLang="en-US"/>
              <a:t>Represented by the C structure </a:t>
            </a:r>
            <a:r>
              <a:rPr lang="en-US" altLang="en-US">
                <a:latin typeface="Courier New" panose="02070309020205020404" pitchFamily="49" charset="0"/>
              </a:rPr>
              <a:t>task_struct</a:t>
            </a:r>
          </a:p>
          <a:p>
            <a:pPr>
              <a:buFont typeface="Monotype Sorts" pitchFamily="-84" charset="2"/>
              <a:buNone/>
            </a:pPr>
            <a:r>
              <a:rPr lang="en-US" altLang="en-US">
                <a:latin typeface="Courier New" panose="02070309020205020404" pitchFamily="49" charset="0"/>
              </a:rPr>
              <a:t/>
            </a:r>
            <a:br>
              <a:rPr lang="en-US" altLang="en-US">
                <a:latin typeface="Courier New" panose="02070309020205020404" pitchFamily="49" charset="0"/>
              </a:rPr>
            </a:br>
            <a:r>
              <a:rPr lang="en-US" altLang="en-US" sz="1600">
                <a:latin typeface="Courier New" panose="02070309020205020404" pitchFamily="49" charset="0"/>
              </a:rPr>
              <a:t>pid t_pid; 			/* process identifier */ </a:t>
            </a:r>
            <a:br>
              <a:rPr lang="en-US" altLang="en-US" sz="1600">
                <a:latin typeface="Courier New" panose="02070309020205020404" pitchFamily="49" charset="0"/>
              </a:rPr>
            </a:br>
            <a:r>
              <a:rPr lang="en-US" altLang="en-US" sz="1600">
                <a:latin typeface="Courier New" panose="02070309020205020404" pitchFamily="49" charset="0"/>
              </a:rPr>
              <a:t>long state; 			/* state of the process */ </a:t>
            </a:r>
            <a:br>
              <a:rPr lang="en-US" altLang="en-US" sz="1600">
                <a:latin typeface="Courier New" panose="02070309020205020404" pitchFamily="49" charset="0"/>
              </a:rPr>
            </a:br>
            <a:r>
              <a:rPr lang="en-US" altLang="en-US" sz="1600">
                <a:latin typeface="Courier New" panose="02070309020205020404" pitchFamily="49" charset="0"/>
              </a:rPr>
              <a:t>unsigned int time_slice 	/* scheduling information */ </a:t>
            </a:r>
            <a:br>
              <a:rPr lang="en-US" altLang="en-US" sz="1600">
                <a:latin typeface="Courier New" panose="02070309020205020404" pitchFamily="49" charset="0"/>
              </a:rPr>
            </a:br>
            <a:r>
              <a:rPr lang="en-US" altLang="en-US" sz="1600">
                <a:latin typeface="Courier New" panose="02070309020205020404" pitchFamily="49" charset="0"/>
              </a:rPr>
              <a:t>struct task_struct *parent;/* this process</a:t>
            </a:r>
            <a:r>
              <a:rPr lang="ja-JP" altLang="en-US" sz="1600">
                <a:latin typeface="Courier New" panose="02070309020205020404" pitchFamily="49" charset="0"/>
              </a:rPr>
              <a:t>’</a:t>
            </a:r>
            <a:r>
              <a:rPr lang="en-US" altLang="ja-JP" sz="1600">
                <a:latin typeface="Courier New" panose="02070309020205020404" pitchFamily="49" charset="0"/>
              </a:rPr>
              <a:t>s parent */ </a:t>
            </a:r>
            <a:br>
              <a:rPr lang="en-US" altLang="ja-JP" sz="1600">
                <a:latin typeface="Courier New" panose="02070309020205020404" pitchFamily="49" charset="0"/>
              </a:rPr>
            </a:br>
            <a:r>
              <a:rPr lang="en-US" altLang="ja-JP" sz="1600">
                <a:latin typeface="Courier New" panose="02070309020205020404" pitchFamily="49" charset="0"/>
              </a:rPr>
              <a:t>struct list_head children; /* this process</a:t>
            </a:r>
            <a:r>
              <a:rPr lang="ja-JP" altLang="en-US" sz="1600">
                <a:latin typeface="Courier New" panose="02070309020205020404" pitchFamily="49" charset="0"/>
              </a:rPr>
              <a:t>’</a:t>
            </a:r>
            <a:r>
              <a:rPr lang="en-US" altLang="ja-JP" sz="1600">
                <a:latin typeface="Courier New" panose="02070309020205020404" pitchFamily="49" charset="0"/>
              </a:rPr>
              <a:t>s children */ </a:t>
            </a:r>
            <a:br>
              <a:rPr lang="en-US" altLang="ja-JP" sz="1600">
                <a:latin typeface="Courier New" panose="02070309020205020404" pitchFamily="49" charset="0"/>
              </a:rPr>
            </a:br>
            <a:r>
              <a:rPr lang="en-US" altLang="ja-JP" sz="1600">
                <a:latin typeface="Courier New" panose="02070309020205020404" pitchFamily="49" charset="0"/>
              </a:rPr>
              <a:t>struct files_struct *files;/* list of open files */ </a:t>
            </a:r>
            <a:br>
              <a:rPr lang="en-US" altLang="ja-JP" sz="1600">
                <a:latin typeface="Courier New" panose="02070309020205020404" pitchFamily="49" charset="0"/>
              </a:rPr>
            </a:br>
            <a:r>
              <a:rPr lang="en-US" altLang="ja-JP" sz="1600">
                <a:latin typeface="Courier New" panose="02070309020205020404" pitchFamily="49" charset="0"/>
              </a:rPr>
              <a:t>struct mm_struct *mm; 	/* address space of this process */</a:t>
            </a:r>
            <a:endParaRPr lang="en-US" altLang="en-US" sz="1600">
              <a:latin typeface="Courier New" panose="02070309020205020404" pitchFamily="49" charset="0"/>
            </a:endParaRPr>
          </a:p>
        </p:txBody>
      </p:sp>
      <p:pic>
        <p:nvPicPr>
          <p:cNvPr id="26628" name="Picture 1">
            <a:extLst>
              <a:ext uri="{FF2B5EF4-FFF2-40B4-BE49-F238E27FC236}">
                <a16:creationId xmlns:a16="http://schemas.microsoft.com/office/drawing/2014/main" xmlns="" id="{93AD06B9-FDEF-4097-849B-AE5BDEF25F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997325" y="4075114"/>
            <a:ext cx="4578350" cy="157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>
            <a:extLst>
              <a:ext uri="{FF2B5EF4-FFF2-40B4-BE49-F238E27FC236}">
                <a16:creationId xmlns:a16="http://schemas.microsoft.com/office/drawing/2014/main" xmlns="" id="{76D14E00-AC36-46B6-804B-3B1E61B7A1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603500" y="172132"/>
            <a:ext cx="76454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Process Scheduling</a:t>
            </a:r>
          </a:p>
        </p:txBody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xmlns="" id="{CD9E4484-1299-4947-B075-F0D9269BBD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44738" y="1119418"/>
            <a:ext cx="6456362" cy="3839445"/>
          </a:xfrm>
        </p:spPr>
        <p:txBody>
          <a:bodyPr>
            <a:normAutofit fontScale="85000" lnSpcReduction="10000"/>
          </a:bodyPr>
          <a:lstStyle/>
          <a:p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Process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scheduler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selects among available processes for next execution on CPU core</a:t>
            </a:r>
          </a:p>
          <a:p>
            <a:r>
              <a:rPr lang="en-US" altLang="en-US" dirty="0"/>
              <a:t>Goal -- Maximize CPU use, quickly switch processes onto CPU core</a:t>
            </a:r>
          </a:p>
          <a:p>
            <a:r>
              <a:rPr lang="en-US" altLang="en-US" dirty="0"/>
              <a:t>Maintains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scheduling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queues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of processes</a:t>
            </a:r>
          </a:p>
          <a:p>
            <a:pPr lvl="1"/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Ready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queue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– set of all processes residing in main memory, ready and waiting to execute</a:t>
            </a:r>
          </a:p>
          <a:p>
            <a:pPr lvl="1"/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Wait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queues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– set of processes waiting for an event (i.e., I/O)</a:t>
            </a:r>
          </a:p>
          <a:p>
            <a:pPr lvl="1"/>
            <a:r>
              <a:rPr lang="en-US" altLang="en-US" dirty="0"/>
              <a:t>Processes migrate among the various queues</a:t>
            </a:r>
          </a:p>
          <a:p>
            <a:pPr marL="0" indent="0">
              <a:buNone/>
            </a:pPr>
            <a:endParaRPr lang="en-US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xmlns="" id="{C79FFB59-5D7F-4075-B911-2B593B5173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98726" y="349250"/>
            <a:ext cx="7591425" cy="457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Ready and Wait Queues</a:t>
            </a:r>
          </a:p>
        </p:txBody>
      </p:sp>
      <p:pic>
        <p:nvPicPr>
          <p:cNvPr id="29699" name="Picture 1">
            <a:extLst>
              <a:ext uri="{FF2B5EF4-FFF2-40B4-BE49-F238E27FC236}">
                <a16:creationId xmlns:a16="http://schemas.microsoft.com/office/drawing/2014/main" xmlns="" id="{BCBD9C55-CB2E-45AE-A528-0022312EC9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838575" y="1863726"/>
            <a:ext cx="4897438" cy="2913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xmlns="" id="{38DB7F06-1635-4E8A-B106-08B7519EA7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11413" y="227013"/>
            <a:ext cx="82296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Representation of Process Scheduling</a:t>
            </a:r>
          </a:p>
        </p:txBody>
      </p:sp>
      <p:pic>
        <p:nvPicPr>
          <p:cNvPr id="31747" name="Picture 2">
            <a:extLst>
              <a:ext uri="{FF2B5EF4-FFF2-40B4-BE49-F238E27FC236}">
                <a16:creationId xmlns:a16="http://schemas.microsoft.com/office/drawing/2014/main" xmlns="" id="{A0A8D57B-B011-4BA3-A330-AE3AFD4CB52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675064" y="1897064"/>
            <a:ext cx="5229225" cy="3017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xmlns="" id="{4294884C-D89B-43C5-8278-E1AFFD1E5D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66963" y="228601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CPU Switch From Process to Process</a:t>
            </a:r>
          </a:p>
        </p:txBody>
      </p:sp>
      <p:sp>
        <p:nvSpPr>
          <p:cNvPr id="33795" name="TextBox 1">
            <a:extLst>
              <a:ext uri="{FF2B5EF4-FFF2-40B4-BE49-F238E27FC236}">
                <a16:creationId xmlns:a16="http://schemas.microsoft.com/office/drawing/2014/main" xmlns="" id="{2AC6A249-89C1-4E3A-A92E-5E91F7A237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2543" y="979488"/>
            <a:ext cx="685395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35000"/>
              </a:spcBef>
              <a:buClr>
                <a:srgbClr val="993300"/>
              </a:buClr>
              <a:buSzPct val="110000"/>
              <a:buFont typeface="Wingdings" panose="05000000000000000000" pitchFamily="2" charset="2"/>
              <a:buChar char="§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rgbClr val="CC6600"/>
              </a:buClr>
              <a:buSzPct val="110000"/>
              <a:buFont typeface="Arial" panose="020B0604020202020204" pitchFamily="34" charset="0"/>
              <a:buChar char="•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SzPct val="75000"/>
              <a:buChar char="–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Verdana" panose="020B0604030504040204" pitchFamily="34" charset="0"/>
              </a:rPr>
              <a:t>A </a:t>
            </a:r>
            <a:r>
              <a:rPr kumimoji="0" lang="en-US" altLang="en-US" b="1" dirty="0">
                <a:latin typeface="Verdana" panose="020B0604030504040204" pitchFamily="34" charset="0"/>
              </a:rPr>
              <a:t>context switch </a:t>
            </a:r>
            <a:r>
              <a:rPr kumimoji="0" lang="en-US" altLang="en-US" dirty="0">
                <a:latin typeface="Verdana" panose="020B0604030504040204" pitchFamily="34" charset="0"/>
              </a:rPr>
              <a:t>occurs when the CPU  switches from one process to another.</a:t>
            </a:r>
          </a:p>
        </p:txBody>
      </p:sp>
      <p:pic>
        <p:nvPicPr>
          <p:cNvPr id="33796" name="Picture 1">
            <a:extLst>
              <a:ext uri="{FF2B5EF4-FFF2-40B4-BE49-F238E27FC236}">
                <a16:creationId xmlns:a16="http://schemas.microsoft.com/office/drawing/2014/main" xmlns="" id="{81BF3499-8F25-4834-B5FB-DDAE904111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4081084" y="1780486"/>
            <a:ext cx="5185155" cy="42377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xmlns="" id="{569EF2C8-62D9-4AD3-A3DB-7E8B03141FB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887538" y="231776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Context Switch</a:t>
            </a:r>
          </a:p>
        </p:txBody>
      </p:sp>
      <p:sp>
        <p:nvSpPr>
          <p:cNvPr id="35843" name="Rectangle 3">
            <a:extLst>
              <a:ext uri="{FF2B5EF4-FFF2-40B4-BE49-F238E27FC236}">
                <a16:creationId xmlns:a16="http://schemas.microsoft.com/office/drawing/2014/main" xmlns="" id="{BFE77FD9-7213-4CFD-BE76-B9508F46FB8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78077" y="1108075"/>
            <a:ext cx="6648693" cy="4413494"/>
          </a:xfrm>
        </p:spPr>
        <p:txBody>
          <a:bodyPr>
            <a:normAutofit fontScale="85000" lnSpcReduction="10000"/>
          </a:bodyPr>
          <a:lstStyle/>
          <a:p>
            <a:r>
              <a:rPr lang="en-US" altLang="en-US" dirty="0"/>
              <a:t>When CPU switches to another process, the system must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save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the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state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of the old process and load the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saved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state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for the new process via a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context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switch</a:t>
            </a:r>
          </a:p>
          <a:p>
            <a:r>
              <a:rPr lang="en-US" altLang="en-US" b="1" kern="1200" dirty="0">
                <a:solidFill>
                  <a:srgbClr val="006699"/>
                </a:solidFill>
                <a:latin typeface="+mj-lt"/>
                <a:cs typeface="+mn-cs"/>
              </a:rPr>
              <a:t>Context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of a process represented in the PCB</a:t>
            </a:r>
          </a:p>
          <a:p>
            <a:r>
              <a:rPr lang="en-US" altLang="en-US" dirty="0"/>
              <a:t>Context-switch time is pure overhead; the system does no useful work while switching</a:t>
            </a:r>
          </a:p>
          <a:p>
            <a:pPr lvl="1"/>
            <a:r>
              <a:rPr lang="en-US" altLang="en-US" dirty="0"/>
              <a:t>The more complex the OS and the PCB </a:t>
            </a:r>
            <a:r>
              <a:rPr lang="en-US" altLang="en-US" dirty="0">
                <a:sym typeface="Wingdings" panose="05000000000000000000" pitchFamily="2" charset="2"/>
              </a:rPr>
              <a:t> the </a:t>
            </a:r>
            <a:r>
              <a:rPr lang="en-US" altLang="en-US" dirty="0"/>
              <a:t>longer the context switch</a:t>
            </a:r>
          </a:p>
          <a:p>
            <a:r>
              <a:rPr lang="en-US" altLang="en-US" dirty="0"/>
              <a:t>Time dependent on hardware support</a:t>
            </a:r>
          </a:p>
          <a:p>
            <a:pPr lvl="1"/>
            <a:r>
              <a:rPr lang="en-US" altLang="en-US" dirty="0"/>
              <a:t>Some hardware provides multiple sets of registers per CPU </a:t>
            </a:r>
            <a:r>
              <a:rPr lang="en-US" altLang="en-US" dirty="0">
                <a:sym typeface="Wingdings" panose="05000000000000000000" pitchFamily="2" charset="2"/>
              </a:rPr>
              <a:t></a:t>
            </a:r>
            <a:r>
              <a:rPr lang="en-US" altLang="en-US" dirty="0"/>
              <a:t> multiple contexts loaded at once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xmlns="" id="{ED9C18A1-E10D-464E-ADF5-DBECC2503E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217488"/>
            <a:ext cx="82296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Operations on Processes</a:t>
            </a:r>
          </a:p>
        </p:txBody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xmlns="" id="{1EED5598-4581-4F9D-8CEF-0D1A5A5544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73314" y="1233489"/>
            <a:ext cx="7381875" cy="4448175"/>
          </a:xfrm>
        </p:spPr>
        <p:txBody>
          <a:bodyPr/>
          <a:lstStyle/>
          <a:p>
            <a:r>
              <a:rPr lang="en-US" altLang="en-US" dirty="0"/>
              <a:t>System must provide mechanisms for:</a:t>
            </a:r>
          </a:p>
          <a:p>
            <a:pPr lvl="1"/>
            <a:r>
              <a:rPr lang="en-US" altLang="en-US" dirty="0"/>
              <a:t> Process creation</a:t>
            </a:r>
          </a:p>
          <a:p>
            <a:pPr lvl="1"/>
            <a:r>
              <a:rPr lang="en-US" altLang="en-US" dirty="0"/>
              <a:t> Process termination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xmlns="" id="{C072917A-2F04-4923-8279-E4AEA8CC45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147150"/>
            <a:ext cx="82296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Process Creation</a:t>
            </a:r>
          </a:p>
        </p:txBody>
      </p:sp>
      <p:sp>
        <p:nvSpPr>
          <p:cNvPr id="41987" name="Rectangle 3">
            <a:extLst>
              <a:ext uri="{FF2B5EF4-FFF2-40B4-BE49-F238E27FC236}">
                <a16:creationId xmlns:a16="http://schemas.microsoft.com/office/drawing/2014/main" xmlns="" id="{D7F79436-9B7B-4340-B99C-8D1E088896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78075" y="1169989"/>
            <a:ext cx="6824540" cy="4984627"/>
          </a:xfrm>
        </p:spPr>
        <p:txBody>
          <a:bodyPr>
            <a:normAutofit lnSpcReduction="10000"/>
          </a:bodyPr>
          <a:lstStyle/>
          <a:p>
            <a:r>
              <a:rPr lang="en-US" altLang="en-US" b="1" dirty="0">
                <a:solidFill>
                  <a:srgbClr val="006699"/>
                </a:solidFill>
                <a:latin typeface="+mj-lt"/>
              </a:rPr>
              <a:t>Parent</a:t>
            </a:r>
            <a:r>
              <a:rPr lang="en-US" altLang="en-US" b="1" dirty="0"/>
              <a:t> </a:t>
            </a:r>
            <a:r>
              <a:rPr lang="en-US" altLang="en-US" dirty="0"/>
              <a:t>process create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children</a:t>
            </a:r>
            <a:r>
              <a:rPr lang="en-US" altLang="en-US" b="1" dirty="0"/>
              <a:t> </a:t>
            </a:r>
            <a:r>
              <a:rPr lang="en-US" altLang="en-US" dirty="0"/>
              <a:t>processes, which, in turn create other processes, forming a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tree</a:t>
            </a:r>
            <a:r>
              <a:rPr lang="en-US" altLang="en-US" dirty="0"/>
              <a:t> of processes</a:t>
            </a:r>
            <a:endParaRPr lang="en-US" altLang="en-US" sz="800" dirty="0"/>
          </a:p>
          <a:p>
            <a:r>
              <a:rPr lang="en-US" altLang="en-US" dirty="0"/>
              <a:t>Generally, process identified and managed via a</a:t>
            </a:r>
            <a:r>
              <a:rPr lang="en-US" altLang="en-US" b="1" dirty="0"/>
              <a:t>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process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identifier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(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pid</a:t>
            </a:r>
            <a:r>
              <a:rPr lang="en-US" altLang="en-US" dirty="0"/>
              <a:t>)</a:t>
            </a:r>
            <a:endParaRPr lang="en-US" altLang="en-US" sz="800" dirty="0"/>
          </a:p>
          <a:p>
            <a:r>
              <a:rPr lang="en-US" altLang="en-US" dirty="0"/>
              <a:t>Resource sharing options</a:t>
            </a:r>
          </a:p>
          <a:p>
            <a:pPr lvl="1"/>
            <a:r>
              <a:rPr lang="en-US" altLang="en-US" dirty="0"/>
              <a:t>Parent and children share all resources</a:t>
            </a:r>
          </a:p>
          <a:p>
            <a:pPr lvl="1"/>
            <a:r>
              <a:rPr lang="en-US" altLang="en-US" dirty="0"/>
              <a:t>Children share subset of parent</a:t>
            </a:r>
            <a:r>
              <a:rPr lang="ja-JP" altLang="en-US" dirty="0"/>
              <a:t>’</a:t>
            </a:r>
            <a:r>
              <a:rPr lang="en-US" altLang="ja-JP" dirty="0"/>
              <a:t>s resources</a:t>
            </a:r>
          </a:p>
          <a:p>
            <a:pPr lvl="1"/>
            <a:r>
              <a:rPr lang="en-US" altLang="en-US" dirty="0"/>
              <a:t>Parent and child share no resources</a:t>
            </a:r>
            <a:endParaRPr lang="en-US" altLang="en-US" sz="800" dirty="0"/>
          </a:p>
          <a:p>
            <a:r>
              <a:rPr lang="en-US" altLang="en-US" dirty="0"/>
              <a:t>Execution options</a:t>
            </a:r>
          </a:p>
          <a:p>
            <a:pPr lvl="1"/>
            <a:r>
              <a:rPr lang="en-US" altLang="en-US" dirty="0"/>
              <a:t>Parent and children execute concurrently</a:t>
            </a:r>
          </a:p>
          <a:p>
            <a:pPr lvl="1"/>
            <a:r>
              <a:rPr lang="en-US" altLang="en-US" dirty="0"/>
              <a:t>Parent waits until children terminate</a:t>
            </a:r>
          </a:p>
          <a:p>
            <a:pPr>
              <a:buFont typeface="Monotype Sorts" pitchFamily="-84" charset="2"/>
              <a:buNone/>
            </a:pPr>
            <a:endParaRPr lang="en-US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xmlns="" id="{BAE43D30-47DB-4A10-9067-ED0817C05E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93976" y="217488"/>
            <a:ext cx="7616825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Process Creation (Cont.)</a:t>
            </a:r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xmlns="" id="{5A61E917-5669-429F-AA78-E90F2FCB89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35214" y="1060450"/>
            <a:ext cx="7800975" cy="5627688"/>
          </a:xfrm>
        </p:spPr>
        <p:txBody>
          <a:bodyPr/>
          <a:lstStyle/>
          <a:p>
            <a:r>
              <a:rPr lang="en-US" altLang="en-US" dirty="0"/>
              <a:t>Address space</a:t>
            </a:r>
          </a:p>
          <a:p>
            <a:pPr lvl="1"/>
            <a:r>
              <a:rPr lang="en-US" altLang="en-US" dirty="0"/>
              <a:t>Child duplicate of parent</a:t>
            </a:r>
          </a:p>
          <a:p>
            <a:pPr lvl="1"/>
            <a:r>
              <a:rPr lang="en-US" altLang="en-US" dirty="0"/>
              <a:t>Child has a program loaded into it</a:t>
            </a:r>
          </a:p>
          <a:p>
            <a:r>
              <a:rPr lang="en-US" altLang="en-US" dirty="0"/>
              <a:t>UNIX examples</a:t>
            </a:r>
          </a:p>
          <a:p>
            <a:pPr lvl="1"/>
            <a:r>
              <a:rPr lang="en-US" altLang="en-US" sz="2000" b="1" dirty="0">
                <a:solidFill>
                  <a:srgbClr val="000000"/>
                </a:solidFill>
                <a:latin typeface="Courier New" panose="02070309020205020404" pitchFamily="49" charset="0"/>
              </a:rPr>
              <a:t>fork()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dirty="0"/>
              <a:t>system call creates new process</a:t>
            </a:r>
          </a:p>
          <a:p>
            <a:pPr lvl="1"/>
            <a:r>
              <a:rPr lang="en-US" altLang="en-US" sz="2000" b="1" dirty="0">
                <a:solidFill>
                  <a:srgbClr val="000000"/>
                </a:solidFill>
                <a:latin typeface="Courier New" panose="02070309020205020404" pitchFamily="49" charset="0"/>
              </a:rPr>
              <a:t>exec()</a:t>
            </a:r>
            <a:r>
              <a:rPr lang="en-US" altLang="en-US" sz="2000" dirty="0"/>
              <a:t> </a:t>
            </a:r>
            <a:r>
              <a:rPr lang="en-US" altLang="en-US" dirty="0"/>
              <a:t>system call used after a </a:t>
            </a:r>
            <a:r>
              <a:rPr lang="en-US" altLang="en-US" sz="2000" b="1" dirty="0">
                <a:solidFill>
                  <a:srgbClr val="000000"/>
                </a:solidFill>
                <a:latin typeface="Courier New" panose="02070309020205020404" pitchFamily="49" charset="0"/>
              </a:rPr>
              <a:t>fork()</a:t>
            </a:r>
            <a:r>
              <a:rPr lang="en-US" altLang="en-US" sz="2000" dirty="0"/>
              <a:t> </a:t>
            </a:r>
            <a:r>
              <a:rPr lang="en-US" altLang="en-US" dirty="0"/>
              <a:t>to replace the process</a:t>
            </a:r>
            <a:r>
              <a:rPr lang="ja-JP" altLang="en-US" dirty="0"/>
              <a:t>’</a:t>
            </a:r>
            <a:r>
              <a:rPr lang="en-US" altLang="ja-JP" dirty="0"/>
              <a:t> memory space with a new program</a:t>
            </a:r>
          </a:p>
          <a:p>
            <a:pPr lvl="1"/>
            <a:r>
              <a:rPr lang="en-US" altLang="en-US" dirty="0"/>
              <a:t>Parent process calls </a:t>
            </a:r>
            <a:r>
              <a:rPr lang="en-US" altLang="en-US" sz="2000" b="1" dirty="0">
                <a:latin typeface="Courier New" panose="02070309020205020404" pitchFamily="49" charset="0"/>
              </a:rPr>
              <a:t>wait()</a:t>
            </a:r>
            <a:r>
              <a:rPr lang="en-US" altLang="en-US" dirty="0"/>
              <a:t>waiting for the child to terminate</a:t>
            </a:r>
          </a:p>
        </p:txBody>
      </p:sp>
      <p:pic>
        <p:nvPicPr>
          <p:cNvPr id="46084" name="Picture 1">
            <a:extLst>
              <a:ext uri="{FF2B5EF4-FFF2-40B4-BE49-F238E27FC236}">
                <a16:creationId xmlns:a16="http://schemas.microsoft.com/office/drawing/2014/main" xmlns="" id="{568A0721-FDA4-4095-BD34-B36CF2AB0A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529013" y="4392613"/>
            <a:ext cx="574675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>
            <a:extLst>
              <a:ext uri="{FF2B5EF4-FFF2-40B4-BE49-F238E27FC236}">
                <a16:creationId xmlns:a16="http://schemas.microsoft.com/office/drawing/2014/main" xmlns="" id="{039237D4-E7AC-45FA-BF2A-B2DEBB1756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820989" y="222251"/>
            <a:ext cx="7259637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A Tree of Processes in Linux</a:t>
            </a:r>
          </a:p>
        </p:txBody>
      </p:sp>
      <p:pic>
        <p:nvPicPr>
          <p:cNvPr id="44035" name="Picture 1">
            <a:extLst>
              <a:ext uri="{FF2B5EF4-FFF2-40B4-BE49-F238E27FC236}">
                <a16:creationId xmlns:a16="http://schemas.microsoft.com/office/drawing/2014/main" xmlns="" id="{EA22965C-6F67-436A-9A7E-32781923A7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2095501" y="1701800"/>
            <a:ext cx="7985125" cy="3430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xmlns="" val="40839096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xmlns="" id="{CE1AA525-61E4-4CE5-B1B8-BBEC4CC5E0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20950" y="227013"/>
            <a:ext cx="82296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 Program Forking Separate Process</a:t>
            </a:r>
          </a:p>
        </p:txBody>
      </p:sp>
      <p:pic>
        <p:nvPicPr>
          <p:cNvPr id="48131" name="Picture 5" descr="Screen Shot 2012-12-04 at 11.21.10 AM.png">
            <a:extLst>
              <a:ext uri="{FF2B5EF4-FFF2-40B4-BE49-F238E27FC236}">
                <a16:creationId xmlns:a16="http://schemas.microsoft.com/office/drawing/2014/main" xmlns="" id="{D4AAA5E2-276C-448A-B064-DFAFD90230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259138" y="969964"/>
            <a:ext cx="6038850" cy="560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xmlns="" id="{0F4113AE-3A57-4A41-B077-3753934F4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70163" y="228601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800"/>
              <a:t>Creating a Separate Process via Windows API</a:t>
            </a:r>
          </a:p>
        </p:txBody>
      </p:sp>
      <p:pic>
        <p:nvPicPr>
          <p:cNvPr id="50179" name="Picture 1" descr="Screen Shot 2012-12-04 at 11.23.48 AM.png">
            <a:extLst>
              <a:ext uri="{FF2B5EF4-FFF2-40B4-BE49-F238E27FC236}">
                <a16:creationId xmlns:a16="http://schemas.microsoft.com/office/drawing/2014/main" xmlns="" id="{92929ABB-1259-4492-BE46-EE3BC21BF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932239" y="963613"/>
            <a:ext cx="4365625" cy="553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>
            <a:extLst>
              <a:ext uri="{FF2B5EF4-FFF2-40B4-BE49-F238E27FC236}">
                <a16:creationId xmlns:a16="http://schemas.microsoft.com/office/drawing/2014/main" xmlns="" id="{30622719-68BE-4BB0-B168-1A3AE8D096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134817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Process Termination</a:t>
            </a:r>
          </a:p>
        </p:txBody>
      </p:sp>
      <p:sp>
        <p:nvSpPr>
          <p:cNvPr id="54275" name="Rectangle 3">
            <a:extLst>
              <a:ext uri="{FF2B5EF4-FFF2-40B4-BE49-F238E27FC236}">
                <a16:creationId xmlns:a16="http://schemas.microsoft.com/office/drawing/2014/main" xmlns="" id="{C7E8DAD2-CD54-4141-B861-1A2932EF06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79908" y="781418"/>
            <a:ext cx="7033724" cy="4787045"/>
          </a:xfrm>
        </p:spPr>
        <p:txBody>
          <a:bodyPr>
            <a:normAutofit fontScale="77500" lnSpcReduction="20000"/>
          </a:bodyPr>
          <a:lstStyle/>
          <a:p>
            <a:pPr marL="457200" lvl="1" indent="0">
              <a:buNone/>
            </a:pPr>
            <a:endParaRPr lang="en-US" altLang="en-US" sz="800" dirty="0"/>
          </a:p>
          <a:p>
            <a:r>
              <a:rPr lang="en-US" altLang="en-US" dirty="0"/>
              <a:t>Some operating systems do not allow child to exists if its parent has terminated.  If a process terminates, then all its children must also be terminated.</a:t>
            </a:r>
          </a:p>
          <a:p>
            <a:pPr lvl="1"/>
            <a:r>
              <a:rPr lang="en-US" altLang="en-US" b="1" dirty="0"/>
              <a:t>cascading termination.  </a:t>
            </a:r>
            <a:r>
              <a:rPr lang="en-US" altLang="en-US" dirty="0"/>
              <a:t>All children, grandchildren, etc.,  are  terminated.</a:t>
            </a:r>
            <a:endParaRPr lang="en-US" altLang="en-US" b="1" dirty="0"/>
          </a:p>
          <a:p>
            <a:pPr lvl="1"/>
            <a:r>
              <a:rPr lang="en-US" altLang="en-US" dirty="0"/>
              <a:t>The termination is initiated by the operating system.</a:t>
            </a:r>
            <a:endParaRPr lang="en-US" altLang="en-US" b="1" dirty="0"/>
          </a:p>
          <a:p>
            <a:r>
              <a:rPr lang="en-US" altLang="en-US" dirty="0"/>
              <a:t>The parent process may wait for termination of a child process by using the </a:t>
            </a:r>
            <a:r>
              <a:rPr lang="en-US" altLang="en-US" sz="2000" b="1" dirty="0">
                <a:solidFill>
                  <a:srgbClr val="000000"/>
                </a:solidFill>
                <a:latin typeface="Courier New" panose="02070309020205020404" pitchFamily="49" charset="0"/>
              </a:rPr>
              <a:t>wait()</a:t>
            </a:r>
            <a:r>
              <a:rPr lang="en-US" altLang="en-US" dirty="0"/>
              <a:t>system call</a:t>
            </a:r>
            <a:r>
              <a:rPr lang="en-US" altLang="en-US" b="1" dirty="0">
                <a:solidFill>
                  <a:srgbClr val="000000"/>
                </a:solidFill>
                <a:latin typeface="Courier New" panose="02070309020205020404" pitchFamily="49" charset="0"/>
              </a:rPr>
              <a:t>. </a:t>
            </a:r>
            <a:r>
              <a:rPr lang="en-US" altLang="en-US" dirty="0"/>
              <a:t>The call returns status information and the pid of the terminated process</a:t>
            </a:r>
            <a:endParaRPr lang="en-US" altLang="en-US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Font typeface="Monotype Sorts" pitchFamily="-84" charset="2"/>
              <a:buNone/>
            </a:pPr>
            <a:r>
              <a:rPr lang="en-US" altLang="en-US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pid = wait(&amp;status); </a:t>
            </a:r>
          </a:p>
          <a:p>
            <a:r>
              <a:rPr lang="en-US" altLang="en-US" dirty="0"/>
              <a:t>If no parent waiting (did not invoke </a:t>
            </a:r>
            <a:r>
              <a:rPr lang="en-US" altLang="en-US" sz="2000" b="1" dirty="0">
                <a:solidFill>
                  <a:srgbClr val="000000"/>
                </a:solidFill>
                <a:latin typeface="Courier New" panose="02070309020205020404" pitchFamily="49" charset="0"/>
              </a:rPr>
              <a:t>wait()</a:t>
            </a:r>
            <a:r>
              <a:rPr lang="en-US" altLang="en-US" dirty="0"/>
              <a:t>) process is a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zombie</a:t>
            </a:r>
          </a:p>
          <a:p>
            <a:r>
              <a:rPr lang="en-US" altLang="en-US" dirty="0"/>
              <a:t>If parent terminated without invoking</a:t>
            </a:r>
            <a:r>
              <a:rPr lang="en-US" altLang="en-US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  <a:latin typeface="Courier New" panose="02070309020205020404" pitchFamily="49" charset="0"/>
              </a:rPr>
              <a:t>wait()</a:t>
            </a:r>
            <a:r>
              <a:rPr lang="en-US" altLang="en-US" dirty="0"/>
              <a:t>, process is an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orphan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>
            <a:extLst>
              <a:ext uri="{FF2B5EF4-FFF2-40B4-BE49-F238E27FC236}">
                <a16:creationId xmlns:a16="http://schemas.microsoft.com/office/drawing/2014/main" xmlns="" id="{B3A2AC5D-C916-47B2-8787-ACB9BD2F9B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227013"/>
            <a:ext cx="82296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Process Termination</a:t>
            </a:r>
          </a:p>
        </p:txBody>
      </p:sp>
      <p:sp>
        <p:nvSpPr>
          <p:cNvPr id="52227" name="Rectangle 3">
            <a:extLst>
              <a:ext uri="{FF2B5EF4-FFF2-40B4-BE49-F238E27FC236}">
                <a16:creationId xmlns:a16="http://schemas.microsoft.com/office/drawing/2014/main" xmlns="" id="{9AB8093C-E173-4473-A450-3BC8EBA8DE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44738" y="1127982"/>
            <a:ext cx="7303354" cy="4463927"/>
          </a:xfrm>
        </p:spPr>
        <p:txBody>
          <a:bodyPr>
            <a:normAutofit fontScale="92500" lnSpcReduction="20000"/>
          </a:bodyPr>
          <a:lstStyle/>
          <a:p>
            <a:r>
              <a:rPr lang="en-US" altLang="en-US" dirty="0"/>
              <a:t>Process executes last statement and then asks the operating system to delete it using the </a:t>
            </a:r>
            <a:r>
              <a:rPr lang="en-US" altLang="en-US" sz="2000" b="1" dirty="0">
                <a:solidFill>
                  <a:srgbClr val="000000"/>
                </a:solidFill>
                <a:latin typeface="Courier New" panose="02070309020205020404" pitchFamily="49" charset="0"/>
              </a:rPr>
              <a:t>exit()</a:t>
            </a:r>
            <a:r>
              <a:rPr lang="en-US" altLang="en-US" sz="2000" dirty="0"/>
              <a:t> </a:t>
            </a:r>
            <a:r>
              <a:rPr lang="en-US" altLang="en-US" dirty="0"/>
              <a:t>system call.</a:t>
            </a:r>
          </a:p>
          <a:p>
            <a:pPr lvl="1"/>
            <a:r>
              <a:rPr lang="en-US" altLang="en-US" dirty="0"/>
              <a:t>Returns  status data from child to parent (via </a:t>
            </a:r>
            <a:r>
              <a:rPr lang="en-US" altLang="en-US" sz="2000" b="1" dirty="0">
                <a:solidFill>
                  <a:srgbClr val="000000"/>
                </a:solidFill>
                <a:latin typeface="Courier New" panose="02070309020205020404" pitchFamily="49" charset="0"/>
              </a:rPr>
              <a:t>wait()</a:t>
            </a:r>
            <a:r>
              <a:rPr lang="en-US" altLang="en-US" dirty="0"/>
              <a:t>)</a:t>
            </a:r>
          </a:p>
          <a:p>
            <a:pPr lvl="1"/>
            <a:r>
              <a:rPr lang="en-US" altLang="en-US" dirty="0"/>
              <a:t>Process</a:t>
            </a:r>
            <a:r>
              <a:rPr lang="ja-JP" altLang="en-US" dirty="0"/>
              <a:t>’</a:t>
            </a:r>
            <a:r>
              <a:rPr lang="en-US" altLang="ja-JP" dirty="0"/>
              <a:t> resources are deallocated by operating system</a:t>
            </a:r>
            <a:endParaRPr lang="en-US" altLang="en-US" dirty="0"/>
          </a:p>
          <a:p>
            <a:r>
              <a:rPr lang="en-US" altLang="en-US" dirty="0"/>
              <a:t>Parent may terminate the execution of children processes  using the </a:t>
            </a:r>
            <a:r>
              <a:rPr lang="en-US" altLang="en-US" sz="2000" b="1" dirty="0">
                <a:solidFill>
                  <a:srgbClr val="000000"/>
                </a:solidFill>
                <a:latin typeface="Courier New" panose="02070309020205020404" pitchFamily="49" charset="0"/>
              </a:rPr>
              <a:t>abort()</a:t>
            </a:r>
            <a:r>
              <a:rPr lang="en-US" altLang="en-US" sz="2000" dirty="0"/>
              <a:t> </a:t>
            </a:r>
            <a:r>
              <a:rPr lang="en-US" altLang="en-US" dirty="0"/>
              <a:t>system call.  Some reasons for doing so:</a:t>
            </a:r>
          </a:p>
          <a:p>
            <a:pPr lvl="1"/>
            <a:r>
              <a:rPr lang="en-US" altLang="en-US" dirty="0"/>
              <a:t>Child has exceeded allocated resources</a:t>
            </a:r>
          </a:p>
          <a:p>
            <a:pPr lvl="1"/>
            <a:r>
              <a:rPr lang="en-US" altLang="en-US" dirty="0"/>
              <a:t>Task assigned to child is no longer required</a:t>
            </a:r>
          </a:p>
          <a:p>
            <a:pPr lvl="1"/>
            <a:r>
              <a:rPr lang="en-US" altLang="en-US" dirty="0"/>
              <a:t>The parent is exiting, and the operating systems does not allow  a child to continue if its parent terminates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tle 1">
            <a:extLst>
              <a:ext uri="{FF2B5EF4-FFF2-40B4-BE49-F238E27FC236}">
                <a16:creationId xmlns:a16="http://schemas.microsoft.com/office/drawing/2014/main" xmlns="" id="{CCF9DC54-118C-447A-A3AB-7C2E989968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79124" y="119919"/>
            <a:ext cx="7743825" cy="576263"/>
          </a:xfrm>
        </p:spPr>
        <p:txBody>
          <a:bodyPr/>
          <a:lstStyle/>
          <a:p>
            <a:r>
              <a:rPr lang="en-US" altLang="en-US" sz="3000" dirty="0"/>
              <a:t>Android Process Importance Hierarchy</a:t>
            </a:r>
          </a:p>
        </p:txBody>
      </p:sp>
      <p:sp>
        <p:nvSpPr>
          <p:cNvPr id="56323" name="Content Placeholder 2">
            <a:extLst>
              <a:ext uri="{FF2B5EF4-FFF2-40B4-BE49-F238E27FC236}">
                <a16:creationId xmlns:a16="http://schemas.microsoft.com/office/drawing/2014/main" xmlns="" id="{8675C949-6A9A-4638-902C-843874920E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343151" y="1100969"/>
            <a:ext cx="7743825" cy="4530725"/>
          </a:xfrm>
        </p:spPr>
        <p:txBody>
          <a:bodyPr/>
          <a:lstStyle/>
          <a:p>
            <a:r>
              <a:rPr lang="en-US" altLang="en-US" dirty="0"/>
              <a:t>Mobile operating systems often have to terminate processes to reclaim system resources such as memory. From </a:t>
            </a:r>
            <a:r>
              <a:rPr lang="en-US" altLang="en-US" b="1" dirty="0"/>
              <a:t>most</a:t>
            </a:r>
            <a:r>
              <a:rPr lang="en-US" altLang="en-US" dirty="0"/>
              <a:t> to </a:t>
            </a:r>
            <a:r>
              <a:rPr lang="en-US" altLang="en-US" b="1" dirty="0"/>
              <a:t>least</a:t>
            </a:r>
            <a:r>
              <a:rPr lang="en-US" altLang="en-US" dirty="0"/>
              <a:t> important:</a:t>
            </a:r>
          </a:p>
          <a:p>
            <a:pPr lvl="1"/>
            <a:r>
              <a:rPr lang="en-US" altLang="en-US" dirty="0"/>
              <a:t>Foreground process</a:t>
            </a:r>
          </a:p>
          <a:p>
            <a:pPr lvl="1"/>
            <a:r>
              <a:rPr lang="en-US" altLang="en-US" dirty="0"/>
              <a:t>Visible process</a:t>
            </a:r>
          </a:p>
          <a:p>
            <a:pPr lvl="1"/>
            <a:r>
              <a:rPr lang="en-US" altLang="en-US" dirty="0"/>
              <a:t>Service process</a:t>
            </a:r>
          </a:p>
          <a:p>
            <a:pPr lvl="1"/>
            <a:r>
              <a:rPr lang="en-US" altLang="en-US" dirty="0"/>
              <a:t>Background process</a:t>
            </a:r>
          </a:p>
          <a:p>
            <a:pPr lvl="1"/>
            <a:r>
              <a:rPr lang="en-US" altLang="en-US" dirty="0"/>
              <a:t>Empty process</a:t>
            </a:r>
          </a:p>
          <a:p>
            <a:r>
              <a:rPr lang="en-US" altLang="en-US" dirty="0"/>
              <a:t>Android will begin terminating processes that are least important.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Title 1">
            <a:extLst>
              <a:ext uri="{FF2B5EF4-FFF2-40B4-BE49-F238E27FC236}">
                <a16:creationId xmlns:a16="http://schemas.microsoft.com/office/drawing/2014/main" xmlns="" id="{D6E94F8E-122F-4FED-9B3D-FD01E28458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726348" y="143365"/>
            <a:ext cx="7997825" cy="576263"/>
          </a:xfrm>
        </p:spPr>
        <p:txBody>
          <a:bodyPr/>
          <a:lstStyle/>
          <a:p>
            <a:r>
              <a:rPr lang="en-US" altLang="en-US" sz="2800" dirty="0" err="1"/>
              <a:t>Multiprocess</a:t>
            </a:r>
            <a:r>
              <a:rPr lang="en-US" altLang="en-US" sz="2800" dirty="0"/>
              <a:t> Architecture – Chrome Browser</a:t>
            </a:r>
          </a:p>
        </p:txBody>
      </p:sp>
      <p:sp>
        <p:nvSpPr>
          <p:cNvPr id="57347" name="Content Placeholder 2">
            <a:extLst>
              <a:ext uri="{FF2B5EF4-FFF2-40B4-BE49-F238E27FC236}">
                <a16:creationId xmlns:a16="http://schemas.microsoft.com/office/drawing/2014/main" xmlns="" id="{360D7C25-6ED1-40E0-9C1E-876BC3EC89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339975" y="1073426"/>
            <a:ext cx="7805738" cy="4478752"/>
          </a:xfrm>
        </p:spPr>
        <p:txBody>
          <a:bodyPr>
            <a:normAutofit fontScale="92500" lnSpcReduction="10000"/>
          </a:bodyPr>
          <a:lstStyle/>
          <a:p>
            <a:r>
              <a:rPr lang="en-US" altLang="en-US" dirty="0"/>
              <a:t>Many web browsers ran as single process (some still do)</a:t>
            </a:r>
          </a:p>
          <a:p>
            <a:pPr lvl="1"/>
            <a:r>
              <a:rPr lang="en-US" altLang="en-US" dirty="0"/>
              <a:t>If one web site causes trouble, entire browser can hang or crash</a:t>
            </a:r>
          </a:p>
          <a:p>
            <a:r>
              <a:rPr lang="en-US" altLang="en-US" dirty="0"/>
              <a:t>Google Chrome Browser is </a:t>
            </a:r>
            <a:r>
              <a:rPr lang="en-US" altLang="en-US" dirty="0" err="1"/>
              <a:t>multiprocess</a:t>
            </a:r>
            <a:r>
              <a:rPr lang="en-US" altLang="en-US" dirty="0"/>
              <a:t> with 3 different types of processes: </a:t>
            </a:r>
          </a:p>
          <a:p>
            <a:pPr lvl="1"/>
            <a:r>
              <a:rPr lang="en-US" altLang="en-US" b="1" dirty="0">
                <a:solidFill>
                  <a:srgbClr val="006699"/>
                </a:solidFill>
                <a:latin typeface="+mj-lt"/>
              </a:rPr>
              <a:t>Browser</a:t>
            </a:r>
            <a:r>
              <a:rPr lang="en-US" altLang="en-US" dirty="0"/>
              <a:t> process manages user interface, disk and network I/O</a:t>
            </a:r>
          </a:p>
          <a:p>
            <a:pPr lvl="1"/>
            <a:r>
              <a:rPr lang="en-US" altLang="en-US" b="1" dirty="0">
                <a:solidFill>
                  <a:srgbClr val="006699"/>
                </a:solidFill>
                <a:latin typeface="+mj-lt"/>
              </a:rPr>
              <a:t>Renderer</a:t>
            </a:r>
            <a:r>
              <a:rPr lang="en-US" altLang="en-US" dirty="0"/>
              <a:t> process renders web pages, deals with HTML, </a:t>
            </a:r>
            <a:r>
              <a:rPr lang="en-US" altLang="en-US" dirty="0" err="1"/>
              <a:t>Javascript</a:t>
            </a:r>
            <a:r>
              <a:rPr lang="en-US" altLang="en-US" dirty="0"/>
              <a:t>. A new renderer created for each website opened</a:t>
            </a:r>
          </a:p>
          <a:p>
            <a:pPr lvl="2"/>
            <a:r>
              <a:rPr lang="en-US" altLang="en-US" dirty="0"/>
              <a:t>Runs in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sandbox</a:t>
            </a:r>
            <a:r>
              <a:rPr lang="en-US" altLang="en-US" dirty="0"/>
              <a:t> restricting disk and network I/O, minimizing effect of security exploits</a:t>
            </a:r>
          </a:p>
          <a:p>
            <a:pPr lvl="1"/>
            <a:r>
              <a:rPr lang="en-US" altLang="en-US" b="1" dirty="0">
                <a:solidFill>
                  <a:srgbClr val="006699"/>
                </a:solidFill>
                <a:latin typeface="+mj-lt"/>
              </a:rPr>
              <a:t>Plug-in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process for each type of plug-in</a:t>
            </a:r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</p:txBody>
      </p:sp>
      <p:pic>
        <p:nvPicPr>
          <p:cNvPr id="57348" name="Picture 1">
            <a:extLst>
              <a:ext uri="{FF2B5EF4-FFF2-40B4-BE49-F238E27FC236}">
                <a16:creationId xmlns:a16="http://schemas.microsoft.com/office/drawing/2014/main" xmlns="" id="{FC10B725-AB13-417A-BEE0-FCE2190A3E9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241950" y="4591124"/>
            <a:ext cx="6278563" cy="126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Title 1">
            <a:extLst>
              <a:ext uri="{FF2B5EF4-FFF2-40B4-BE49-F238E27FC236}">
                <a16:creationId xmlns:a16="http://schemas.microsoft.com/office/drawing/2014/main" xmlns="" id="{09D0E5E8-A027-43B0-871E-ED73DF85B2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25713" y="130054"/>
            <a:ext cx="7485062" cy="576262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Interprocess Communication</a:t>
            </a:r>
          </a:p>
        </p:txBody>
      </p:sp>
      <p:sp>
        <p:nvSpPr>
          <p:cNvPr id="59395" name="Content Placeholder 2">
            <a:extLst>
              <a:ext uri="{FF2B5EF4-FFF2-40B4-BE49-F238E27FC236}">
                <a16:creationId xmlns:a16="http://schemas.microsoft.com/office/drawing/2014/main" xmlns="" id="{2EF26BE1-FCB0-440F-8834-E9B667D36D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335213" y="1154114"/>
            <a:ext cx="7675562" cy="4530725"/>
          </a:xfrm>
        </p:spPr>
        <p:txBody>
          <a:bodyPr>
            <a:normAutofit fontScale="85000" lnSpcReduction="20000"/>
          </a:bodyPr>
          <a:lstStyle/>
          <a:p>
            <a:r>
              <a:rPr lang="en-US" altLang="en-US" dirty="0"/>
              <a:t>Processes within a system may be </a:t>
            </a:r>
            <a:r>
              <a:rPr lang="en-US" altLang="en-US" b="1" i="1" dirty="0"/>
              <a:t>independent</a:t>
            </a:r>
            <a:r>
              <a:rPr lang="en-US" altLang="en-US" b="1" dirty="0"/>
              <a:t> </a:t>
            </a:r>
            <a:r>
              <a:rPr lang="en-US" altLang="en-US" dirty="0"/>
              <a:t>or </a:t>
            </a:r>
            <a:r>
              <a:rPr lang="en-US" altLang="en-US" b="1" i="1" dirty="0"/>
              <a:t>cooperating</a:t>
            </a:r>
          </a:p>
          <a:p>
            <a:r>
              <a:rPr lang="en-US" altLang="en-US" dirty="0"/>
              <a:t>Cooperating process can affect or be affected by other processes, including sharing data</a:t>
            </a:r>
          </a:p>
          <a:p>
            <a:r>
              <a:rPr lang="en-US" altLang="en-US" dirty="0"/>
              <a:t>Reasons for cooperating processes:</a:t>
            </a:r>
          </a:p>
          <a:p>
            <a:pPr lvl="1"/>
            <a:r>
              <a:rPr lang="en-US" altLang="en-US" dirty="0"/>
              <a:t>Information sharing</a:t>
            </a:r>
          </a:p>
          <a:p>
            <a:pPr lvl="1"/>
            <a:r>
              <a:rPr lang="en-US" altLang="en-US" dirty="0"/>
              <a:t>Computation speedup</a:t>
            </a:r>
          </a:p>
          <a:p>
            <a:pPr lvl="1"/>
            <a:r>
              <a:rPr lang="en-US" altLang="en-US" dirty="0"/>
              <a:t>Modularity</a:t>
            </a:r>
          </a:p>
          <a:p>
            <a:pPr lvl="1"/>
            <a:r>
              <a:rPr lang="en-US" altLang="en-US" dirty="0"/>
              <a:t>Convenience	</a:t>
            </a:r>
          </a:p>
          <a:p>
            <a:r>
              <a:rPr lang="en-US" altLang="en-US" dirty="0"/>
              <a:t>Cooperating processes need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interprocess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communication</a:t>
            </a:r>
            <a:r>
              <a:rPr lang="en-US" altLang="en-US" b="1" dirty="0">
                <a:solidFill>
                  <a:srgbClr val="3366FF"/>
                </a:solidFill>
              </a:rPr>
              <a:t> </a:t>
            </a:r>
            <a:r>
              <a:rPr lang="en-US" altLang="en-US" dirty="0"/>
              <a:t>(</a:t>
            </a:r>
            <a:r>
              <a:rPr lang="en-US" altLang="en-US" b="1" dirty="0">
                <a:solidFill>
                  <a:srgbClr val="006699"/>
                </a:solidFill>
                <a:latin typeface="+mj-lt"/>
              </a:rPr>
              <a:t>IPC</a:t>
            </a:r>
            <a:r>
              <a:rPr lang="en-US" altLang="en-US" dirty="0"/>
              <a:t>)</a:t>
            </a:r>
          </a:p>
          <a:p>
            <a:r>
              <a:rPr lang="en-US" altLang="en-US" dirty="0"/>
              <a:t>Two models of IPC</a:t>
            </a:r>
          </a:p>
          <a:p>
            <a:pPr lvl="1"/>
            <a:r>
              <a:rPr lang="en-US" altLang="en-US" b="1" dirty="0">
                <a:solidFill>
                  <a:srgbClr val="FF0000"/>
                </a:solidFill>
                <a:latin typeface="+mj-lt"/>
              </a:rPr>
              <a:t>Shared</a:t>
            </a:r>
            <a:r>
              <a:rPr lang="en-US" altLang="en-US" b="1" dirty="0">
                <a:solidFill>
                  <a:srgbClr val="FF0000"/>
                </a:solidFill>
              </a:rPr>
              <a:t> </a:t>
            </a:r>
            <a:r>
              <a:rPr lang="en-US" altLang="en-US" b="1" dirty="0">
                <a:solidFill>
                  <a:srgbClr val="FF0000"/>
                </a:solidFill>
                <a:latin typeface="+mj-lt"/>
              </a:rPr>
              <a:t>memory</a:t>
            </a:r>
          </a:p>
          <a:p>
            <a:pPr lvl="1"/>
            <a:r>
              <a:rPr lang="en-US" altLang="en-US" b="1" dirty="0">
                <a:solidFill>
                  <a:srgbClr val="FF0000"/>
                </a:solidFill>
                <a:latin typeface="+mj-lt"/>
              </a:rPr>
              <a:t>Message passing</a:t>
            </a:r>
          </a:p>
          <a:p>
            <a:pPr lvl="1"/>
            <a:endParaRPr lang="en-US" alt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>
            <a:extLst>
              <a:ext uri="{FF2B5EF4-FFF2-40B4-BE49-F238E27FC236}">
                <a16:creationId xmlns:a16="http://schemas.microsoft.com/office/drawing/2014/main" xmlns="" id="{D24006AF-9462-4FD7-8602-D757042B979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228601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Communications Models </a:t>
            </a:r>
          </a:p>
        </p:txBody>
      </p:sp>
      <p:sp>
        <p:nvSpPr>
          <p:cNvPr id="61443" name="Rectangle 3">
            <a:extLst>
              <a:ext uri="{FF2B5EF4-FFF2-40B4-BE49-F238E27FC236}">
                <a16:creationId xmlns:a16="http://schemas.microsoft.com/office/drawing/2014/main" xmlns="" id="{00B4232E-A93C-4613-91D0-E8A0948B6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11489" y="1150939"/>
            <a:ext cx="6372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993300"/>
              </a:buClr>
              <a:buSzPct val="110000"/>
              <a:buFont typeface="Wingdings" panose="05000000000000000000" pitchFamily="2" charset="2"/>
              <a:buChar char="§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rgbClr val="CC6600"/>
              </a:buClr>
              <a:buSzPct val="110000"/>
              <a:buFont typeface="Arial" panose="020B0604020202020204" pitchFamily="34" charset="0"/>
              <a:buChar char="•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009900"/>
              </a:buClr>
              <a:buSzPct val="75000"/>
              <a:buFont typeface="Webdings" panose="05030102010509060703" pitchFamily="18" charset="2"/>
              <a:buChar char="4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SzPct val="75000"/>
              <a:buChar char="–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>
                <a:solidFill>
                  <a:srgbClr val="000000"/>
                </a:solidFill>
                <a:latin typeface="Arial" panose="020B0604020202020204" pitchFamily="34" charset="0"/>
              </a:rPr>
              <a:t>(a) Shared memory.  		(b) Message passing. </a:t>
            </a:r>
            <a:r>
              <a:rPr kumimoji="0" lang="en-US" altLang="en-US">
                <a:latin typeface="Arial" panose="020B0604020202020204" pitchFamily="34" charset="0"/>
              </a:rPr>
              <a:t> </a:t>
            </a:r>
          </a:p>
        </p:txBody>
      </p:sp>
      <p:pic>
        <p:nvPicPr>
          <p:cNvPr id="61444" name="Picture 1">
            <a:extLst>
              <a:ext uri="{FF2B5EF4-FFF2-40B4-BE49-F238E27FC236}">
                <a16:creationId xmlns:a16="http://schemas.microsoft.com/office/drawing/2014/main" xmlns="" id="{3ED38AED-C0F5-4084-BE69-BF6EFD7FF5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136901" y="2016126"/>
            <a:ext cx="6246813" cy="3998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4302</TotalTime>
  <Words>1180</Words>
  <Application>Microsoft Office PowerPoint</Application>
  <PresentationFormat>Custom</PresentationFormat>
  <Paragraphs>150</Paragraphs>
  <Slides>29</Slides>
  <Notes>25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0" baseType="lpstr">
      <vt:lpstr>Office Theme</vt:lpstr>
      <vt:lpstr>Operating System: Process Mgmt - 1</vt:lpstr>
      <vt:lpstr>Outline</vt:lpstr>
      <vt:lpstr>Objectives</vt:lpstr>
      <vt:lpstr>Process Concept</vt:lpstr>
      <vt:lpstr>Process Concept (Cont.)</vt:lpstr>
      <vt:lpstr>Process in Memory</vt:lpstr>
      <vt:lpstr>Memory Layout of a C Program</vt:lpstr>
      <vt:lpstr>Process State</vt:lpstr>
      <vt:lpstr>Diagram of Process State</vt:lpstr>
      <vt:lpstr>Process Control Block (PCB)</vt:lpstr>
      <vt:lpstr>Threads</vt:lpstr>
      <vt:lpstr>Process Representation in Linux</vt:lpstr>
      <vt:lpstr>Process Scheduling</vt:lpstr>
      <vt:lpstr>Ready and Wait Queues</vt:lpstr>
      <vt:lpstr>Representation of Process Scheduling</vt:lpstr>
      <vt:lpstr>CPU Switch From Process to Process</vt:lpstr>
      <vt:lpstr>Context Switch</vt:lpstr>
      <vt:lpstr>Operations on Processes</vt:lpstr>
      <vt:lpstr>Process Creation</vt:lpstr>
      <vt:lpstr>Process Creation (Cont.)</vt:lpstr>
      <vt:lpstr>A Tree of Processes in Linux</vt:lpstr>
      <vt:lpstr>C Program Forking Separate Process</vt:lpstr>
      <vt:lpstr>Creating a Separate Process via Windows API</vt:lpstr>
      <vt:lpstr>Process Termination</vt:lpstr>
      <vt:lpstr>Process Termination</vt:lpstr>
      <vt:lpstr>Android Process Importance Hierarchy</vt:lpstr>
      <vt:lpstr>Multiprocess Architecture – Chrome Browser</vt:lpstr>
      <vt:lpstr>Interprocess Communication</vt:lpstr>
      <vt:lpstr>Communications Models 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Operating System: Process Mgmt - 1</dc:title>
  <dc:creator>Sukhandeep Kaur</dc:creator>
  <cp:lastModifiedBy>hp</cp:lastModifiedBy>
  <cp:revision>44</cp:revision>
  <dcterms:created xsi:type="dcterms:W3CDTF">2026-02-01T06:10:58Z</dcterms:created>
  <dcterms:modified xsi:type="dcterms:W3CDTF">2026-03-10T02:31:26Z</dcterms:modified>
</cp:coreProperties>
</file>