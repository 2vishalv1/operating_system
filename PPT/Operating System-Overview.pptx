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64"/>
  </p:notesMasterIdLst>
  <p:sldIdLst>
    <p:sldId id="256" r:id="rId2"/>
    <p:sldId id="417" r:id="rId3"/>
    <p:sldId id="349" r:id="rId4"/>
    <p:sldId id="350" r:id="rId5"/>
    <p:sldId id="411" r:id="rId6"/>
    <p:sldId id="352" r:id="rId7"/>
    <p:sldId id="353" r:id="rId8"/>
    <p:sldId id="354" r:id="rId9"/>
    <p:sldId id="356" r:id="rId10"/>
    <p:sldId id="357" r:id="rId11"/>
    <p:sldId id="358" r:id="rId12"/>
    <p:sldId id="359" r:id="rId13"/>
    <p:sldId id="413" r:id="rId14"/>
    <p:sldId id="420" r:id="rId15"/>
    <p:sldId id="361" r:id="rId16"/>
    <p:sldId id="419" r:id="rId17"/>
    <p:sldId id="422" r:id="rId18"/>
    <p:sldId id="423" r:id="rId19"/>
    <p:sldId id="363" r:id="rId20"/>
    <p:sldId id="393" r:id="rId21"/>
    <p:sldId id="364" r:id="rId22"/>
    <p:sldId id="408" r:id="rId23"/>
    <p:sldId id="404" r:id="rId24"/>
    <p:sldId id="403" r:id="rId25"/>
    <p:sldId id="375" r:id="rId26"/>
    <p:sldId id="426" r:id="rId27"/>
    <p:sldId id="427" r:id="rId28"/>
    <p:sldId id="374" r:id="rId29"/>
    <p:sldId id="429" r:id="rId30"/>
    <p:sldId id="430" r:id="rId31"/>
    <p:sldId id="376" r:id="rId32"/>
    <p:sldId id="377" r:id="rId33"/>
    <p:sldId id="378" r:id="rId34"/>
    <p:sldId id="379" r:id="rId35"/>
    <p:sldId id="380" r:id="rId36"/>
    <p:sldId id="381" r:id="rId37"/>
    <p:sldId id="366" r:id="rId38"/>
    <p:sldId id="435" r:id="rId39"/>
    <p:sldId id="407" r:id="rId40"/>
    <p:sldId id="384" r:id="rId41"/>
    <p:sldId id="385" r:id="rId42"/>
    <p:sldId id="391" r:id="rId43"/>
    <p:sldId id="409" r:id="rId44"/>
    <p:sldId id="400" r:id="rId45"/>
    <p:sldId id="257" r:id="rId46"/>
    <p:sldId id="436" r:id="rId47"/>
    <p:sldId id="305" r:id="rId48"/>
    <p:sldId id="306" r:id="rId49"/>
    <p:sldId id="371" r:id="rId50"/>
    <p:sldId id="307" r:id="rId51"/>
    <p:sldId id="310" r:id="rId52"/>
    <p:sldId id="437" r:id="rId53"/>
    <p:sldId id="313" r:id="rId54"/>
    <p:sldId id="355" r:id="rId55"/>
    <p:sldId id="438" r:id="rId56"/>
    <p:sldId id="372" r:id="rId57"/>
    <p:sldId id="439" r:id="rId58"/>
    <p:sldId id="440" r:id="rId59"/>
    <p:sldId id="441" r:id="rId60"/>
    <p:sldId id="286" r:id="rId61"/>
    <p:sldId id="442" r:id="rId62"/>
    <p:sldId id="373"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80" d="100"/>
          <a:sy n="80" d="100"/>
        </p:scale>
        <p:origin x="37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0BEFD3-DAC5-4655-AFF3-EEBFB1C686E5}" type="datetimeFigureOut">
              <a:rPr lang="en-IN" smtClean="0"/>
              <a:t>28-01-2026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074CCA-0F5C-45DA-9C52-129CE361AF29}" type="slidenum">
              <a:rPr lang="en-IN" smtClean="0"/>
              <a:t>‹#›</a:t>
            </a:fld>
            <a:endParaRPr lang="en-IN"/>
          </a:p>
        </p:txBody>
      </p:sp>
    </p:spTree>
    <p:extLst>
      <p:ext uri="{BB962C8B-B14F-4D97-AF65-F5344CB8AC3E}">
        <p14:creationId xmlns:p14="http://schemas.microsoft.com/office/powerpoint/2010/main" val="3822607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342900" y="696913"/>
            <a:ext cx="61976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419100" y="701675"/>
            <a:ext cx="6240463"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342900" y="696913"/>
            <a:ext cx="61976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342900" y="696913"/>
            <a:ext cx="61976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342900" y="696913"/>
            <a:ext cx="61976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342900" y="696913"/>
            <a:ext cx="61976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342900" y="696913"/>
            <a:ext cx="61976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342900" y="696913"/>
            <a:ext cx="61976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342900" y="696913"/>
            <a:ext cx="61976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342900" y="696913"/>
            <a:ext cx="61976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342900" y="696913"/>
            <a:ext cx="61976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342900" y="696913"/>
            <a:ext cx="61976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342900" y="696913"/>
            <a:ext cx="61976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342900" y="696913"/>
            <a:ext cx="61976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342900" y="696913"/>
            <a:ext cx="61976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342900" y="696913"/>
            <a:ext cx="61976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342900" y="696913"/>
            <a:ext cx="61976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342900" y="696913"/>
            <a:ext cx="61976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342900" y="696913"/>
            <a:ext cx="61976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342900" y="696913"/>
            <a:ext cx="61976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342900" y="696913"/>
            <a:ext cx="61976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342900" y="696913"/>
            <a:ext cx="61976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342900" y="696913"/>
            <a:ext cx="61976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1EC14F13-9940-464D-96E0-6B1495E786A6}"/>
              </a:ext>
            </a:extLst>
          </p:cNvPr>
          <p:cNvSpPr>
            <a:spLocks noGrp="1" noRot="1" noChangeAspect="1" noChangeArrowheads="1" noTextEdit="1"/>
          </p:cNvSpPr>
          <p:nvPr>
            <p:ph type="sldImg"/>
          </p:nvPr>
        </p:nvSpPr>
        <p:spPr>
          <a:xfrm>
            <a:off x="342900" y="696913"/>
            <a:ext cx="6197600" cy="3486150"/>
          </a:xfrm>
          <a:ln/>
        </p:spPr>
      </p:sp>
      <p:sp>
        <p:nvSpPr>
          <p:cNvPr id="64515" name="Rectangle 3">
            <a:extLst>
              <a:ext uri="{FF2B5EF4-FFF2-40B4-BE49-F238E27FC236}">
                <a16:creationId xmlns:a16="http://schemas.microsoft.com/office/drawing/2014/main" id="{2062C8DA-575B-421A-8D26-AE1E16BBC43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342900" y="696913"/>
            <a:ext cx="61976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342900" y="696913"/>
            <a:ext cx="61976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8774986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342900" y="696913"/>
            <a:ext cx="61976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342900" y="696913"/>
            <a:ext cx="61976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342900" y="696913"/>
            <a:ext cx="61976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342900" y="696913"/>
            <a:ext cx="61976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342900" y="696913"/>
            <a:ext cx="61976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342900" y="696913"/>
            <a:ext cx="61976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342900" y="696913"/>
            <a:ext cx="61976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ECC7FDDF-4DBE-4749-A693-95E4CEB96B45}"/>
              </a:ext>
            </a:extLst>
          </p:cNvPr>
          <p:cNvSpPr>
            <a:spLocks noGrp="1" noRot="1" noChangeAspect="1" noChangeArrowheads="1" noTextEdit="1"/>
          </p:cNvSpPr>
          <p:nvPr>
            <p:ph type="sldImg"/>
          </p:nvPr>
        </p:nvSpPr>
        <p:spPr>
          <a:xfrm>
            <a:off x="342900" y="696913"/>
            <a:ext cx="6197600" cy="3486150"/>
          </a:xfrm>
          <a:ln/>
        </p:spPr>
      </p:sp>
      <p:sp>
        <p:nvSpPr>
          <p:cNvPr id="82947" name="Rectangle 3">
            <a:extLst>
              <a:ext uri="{FF2B5EF4-FFF2-40B4-BE49-F238E27FC236}">
                <a16:creationId xmlns:a16="http://schemas.microsoft.com/office/drawing/2014/main" id="{9247B18B-E0DC-42EF-8000-B3A4416D7F49}"/>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56805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342900" y="696913"/>
            <a:ext cx="61976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342900" y="696913"/>
            <a:ext cx="61976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342900" y="696913"/>
            <a:ext cx="61976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342900" y="696913"/>
            <a:ext cx="61976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342900" y="696913"/>
            <a:ext cx="61976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2BD6E28-4416-466E-9B96-F46B9236EFA0}"/>
              </a:ext>
            </a:extLst>
          </p:cNvPr>
          <p:cNvSpPr>
            <a:spLocks noGrp="1" noRot="1" noChangeAspect="1" noChangeArrowheads="1" noTextEdit="1"/>
          </p:cNvSpPr>
          <p:nvPr>
            <p:ph type="sldImg"/>
          </p:nvPr>
        </p:nvSpPr>
        <p:spPr>
          <a:xfrm>
            <a:off x="342900" y="696913"/>
            <a:ext cx="6197600" cy="3486150"/>
          </a:xfrm>
          <a:ln/>
        </p:spPr>
      </p:sp>
      <p:sp>
        <p:nvSpPr>
          <p:cNvPr id="95235" name="Rectangle 3">
            <a:extLst>
              <a:ext uri="{FF2B5EF4-FFF2-40B4-BE49-F238E27FC236}">
                <a16:creationId xmlns:a16="http://schemas.microsoft.com/office/drawing/2014/main" id="{EB7937B3-A5D5-4AE2-BC95-CEE0E5EA00E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192ACBA4-A8FC-4E7A-80E9-AEAA75E564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D74938-55F7-4DC8-8764-970D10855290}"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09CC13A3-9CCE-4E8B-9A2A-FF400F3C45A1}"/>
              </a:ext>
            </a:extLst>
          </p:cNvPr>
          <p:cNvSpPr>
            <a:spLocks noGrp="1" noRot="1" noChangeAspect="1" noChangeArrowheads="1" noTextEdit="1"/>
          </p:cNvSpPr>
          <p:nvPr>
            <p:ph type="sldImg"/>
          </p:nvPr>
        </p:nvSpPr>
        <p:spPr>
          <a:ln/>
        </p:spPr>
      </p:sp>
      <p:sp>
        <p:nvSpPr>
          <p:cNvPr id="78852" name="Rectangle 3">
            <a:extLst>
              <a:ext uri="{FF2B5EF4-FFF2-40B4-BE49-F238E27FC236}">
                <a16:creationId xmlns:a16="http://schemas.microsoft.com/office/drawing/2014/main" id="{A0F89BD5-8969-4268-BAAE-9A14BFA626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960C12AF-FD80-4BCF-8312-D4A136EA7A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D3A00BB-B4EE-42A4-AC24-302EB7D43EBC}"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72A2FE60-2ABA-4FD7-97DD-436C8BB9AE4D}"/>
              </a:ext>
            </a:extLst>
          </p:cNvPr>
          <p:cNvSpPr>
            <a:spLocks noGrp="1" noRot="1" noChangeAspect="1" noChangeArrowheads="1" noTextEdit="1"/>
          </p:cNvSpPr>
          <p:nvPr>
            <p:ph type="sldImg"/>
          </p:nvPr>
        </p:nvSpPr>
        <p:spPr>
          <a:ln/>
        </p:spPr>
      </p:sp>
      <p:sp>
        <p:nvSpPr>
          <p:cNvPr id="80900" name="Rectangle 3">
            <a:extLst>
              <a:ext uri="{FF2B5EF4-FFF2-40B4-BE49-F238E27FC236}">
                <a16:creationId xmlns:a16="http://schemas.microsoft.com/office/drawing/2014/main" id="{75EC551F-647E-4616-B2E2-80AFFE0CA8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F0601A3-B0CC-45B3-BBD4-0046CD87CF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16E5EEC-C07B-41DB-9CC3-1F02D0C0767C}"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DE277AD2-08FD-4FEB-9A71-97B80E63EA93}"/>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23FE59D0-CE1B-473F-8138-7566D6FAE11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139EA7E-C5A3-4A16-AE42-C345AB123C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E57B5D2-DE8D-4EF9-889E-79B8E6EF3011}"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F853F4E3-8609-4C8C-A077-0E107BD51068}"/>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5D9017D7-59E4-444C-8B7D-582A16EDD8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E2AF9071-C2C8-4AE5-BF05-7904ECEB51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699B845-CED4-49E0-AFEF-48FD2C002C7A}"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4B359B74-A383-48FE-9C98-33D67BCB90F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CA34FAE-AB9D-469A-A39F-2D79F9D915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ACECBD7C-C5C5-49AB-A072-BF89D7C9BDC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672991-CDC8-4F84-B8EB-CEEB23288ED8}"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EA73A052-CF76-4A71-B05B-5EEB72534B36}"/>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77FC5D12-EFEF-4B63-BAC5-16C49C6E5E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514AB2F1-7ECF-4654-B476-67C4FF1936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F372007-FB99-4F76-A744-2252F6525800}"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CA4A4BF-9303-4366-B3C9-87C09BA7CEAE}"/>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0B9BD875-4589-4ADD-BA0B-1F2DD177BA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77F536C2-9FE0-4E79-A5E0-AFC384E498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491145-9F31-486F-A264-8B0A4A9C13B7}"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0D70963F-80A9-4E2C-BCB3-A8CDD51A9811}"/>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7E07D860-A14E-4FF1-8A49-679D6FBCDC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296D8EEA-686B-4379-9B06-52B63A1D3E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6CA01E-772D-40E8-9027-AB0D47C6C4E8}" type="slidenum">
              <a:rPr lang="en-US" altLang="en-US">
                <a:latin typeface="Times New Roman" panose="02020603050405020304" pitchFamily="18" charset="0"/>
              </a:rPr>
              <a:pPr/>
              <a:t>57</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8D8E1EBF-2FD7-4B13-B103-9850A8F9C1FA}"/>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119EDC26-9459-43B0-9D0F-8C9D2D2BD7E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C3DDD192-3990-4BAC-9FF7-B9EB07B563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2C44763-2F58-4848-BA5C-68BECC72D524}"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421BC8AC-63BB-4B03-AA64-444FBA516D1E}"/>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4C39D2BE-4C7A-463F-BE60-F42C3A682D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687F8760-28E9-4161-9350-142B4464B1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7E4E2C5-D11C-4ED8-A539-FE2C8C2C856E}" type="slidenum">
              <a:rPr lang="en-US" altLang="en-US">
                <a:latin typeface="Times New Roman" panose="02020603050405020304" pitchFamily="18" charset="0"/>
              </a:rPr>
              <a:pPr/>
              <a:t>59</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9C9D9664-3E42-4464-B2E1-AA6A02DCB114}"/>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22C97BE7-F67C-448D-B392-2A742875864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F406669-42D7-44B4-8C43-273FF77AB60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884C1EA-EE61-4B32-9717-6561C81C069A}" type="slidenum">
              <a:rPr lang="en-US" altLang="en-US">
                <a:latin typeface="Times New Roman" panose="02020603050405020304" pitchFamily="18" charset="0"/>
              </a:rPr>
              <a:pPr/>
              <a:t>60</a:t>
            </a:fld>
            <a:endParaRPr lang="en-US" altLang="en-US">
              <a:latin typeface="Times New Roman" panose="02020603050405020304" pitchFamily="18" charset="0"/>
            </a:endParaRPr>
          </a:p>
        </p:txBody>
      </p:sp>
      <p:sp>
        <p:nvSpPr>
          <p:cNvPr id="103427" name="Rectangle 2">
            <a:extLst>
              <a:ext uri="{FF2B5EF4-FFF2-40B4-BE49-F238E27FC236}">
                <a16:creationId xmlns:a16="http://schemas.microsoft.com/office/drawing/2014/main" id="{AA286D85-5926-4E35-9302-DEB3B5EC290F}"/>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AFF0D118-2E86-45EB-A309-2BCA801CF7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15F842D0-B50C-43ED-A81B-735CB2F3CF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930AB3E-7AE2-4050-BFC0-A3100E231CFB}" type="slidenum">
              <a:rPr lang="en-US" altLang="en-US">
                <a:latin typeface="Times New Roman" panose="02020603050405020304" pitchFamily="18" charset="0"/>
              </a:rPr>
              <a:pPr/>
              <a:t>62</a:t>
            </a:fld>
            <a:endParaRPr lang="en-US" altLang="en-US">
              <a:latin typeface="Times New Roman" panose="02020603050405020304" pitchFamily="18" charset="0"/>
            </a:endParaRPr>
          </a:p>
        </p:txBody>
      </p:sp>
      <p:sp>
        <p:nvSpPr>
          <p:cNvPr id="106499" name="Rectangle 2">
            <a:extLst>
              <a:ext uri="{FF2B5EF4-FFF2-40B4-BE49-F238E27FC236}">
                <a16:creationId xmlns:a16="http://schemas.microsoft.com/office/drawing/2014/main" id="{DB6535EE-412E-4748-B2FF-406F43550123}"/>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E17BF8DC-D131-402D-A170-25C5EFBC8BE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325BE-EAAB-52C8-3E6D-FD2D7BA02D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D2DC71-66C1-3216-62EC-406FA1B3D6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8FA0AF-3402-5973-7577-EBC666B3CBD4}"/>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5" name="Footer Placeholder 4">
            <a:extLst>
              <a:ext uri="{FF2B5EF4-FFF2-40B4-BE49-F238E27FC236}">
                <a16:creationId xmlns:a16="http://schemas.microsoft.com/office/drawing/2014/main" id="{5A5A5858-D2C9-8F2E-BB3A-556308E54A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E1965A-2492-1E54-1A57-2C3B765CC88C}"/>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29868590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D48BD-2E26-1BD3-770C-208D7748B9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35EFAB-0D38-399A-33DD-05BB6C3E9B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2E672-1503-E8F7-4D01-2BC1AE4EE789}"/>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5" name="Footer Placeholder 4">
            <a:extLst>
              <a:ext uri="{FF2B5EF4-FFF2-40B4-BE49-F238E27FC236}">
                <a16:creationId xmlns:a16="http://schemas.microsoft.com/office/drawing/2014/main" id="{E12EA37C-1D33-36E2-36B4-569D5BE942E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F26A40-E98B-223F-77B1-D3337E5A136A}"/>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1927291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BF8DC-2D0C-C9B7-3AEE-8018D92454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C1FFD9-FBF4-C964-0B66-929D83DD37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2C3248-B503-692A-80CD-E2E0AEF4860B}"/>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5" name="Footer Placeholder 4">
            <a:extLst>
              <a:ext uri="{FF2B5EF4-FFF2-40B4-BE49-F238E27FC236}">
                <a16:creationId xmlns:a16="http://schemas.microsoft.com/office/drawing/2014/main" id="{2BF2DBF7-4495-0C0D-CC74-56B9DDAB4D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9D445-857C-033D-E649-B8155BED1D73}"/>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1241184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2ACB3-A5E1-DB1C-9EE9-AE5C810485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3A58DE-E9E2-7450-2EBE-EE3C88B004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C2EB33B-66BB-0522-2E0B-109B5F5C2F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283C845-C083-8368-0128-BEBDE8D3F337}"/>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6" name="Footer Placeholder 5">
            <a:extLst>
              <a:ext uri="{FF2B5EF4-FFF2-40B4-BE49-F238E27FC236}">
                <a16:creationId xmlns:a16="http://schemas.microsoft.com/office/drawing/2014/main" id="{A5086C57-6B2A-2DF7-B02B-49906435C5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552C8B-2D6C-BE30-F1BB-7CD62DF73510}"/>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1317033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9AC4F-8A81-2C17-F0AB-5A98AC61898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83F110-FDF5-226E-A163-D8A13C71CF7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A34F56-1C03-1B24-F6D9-EEEC24AEF5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4EDAF99-7224-7311-372B-1E5671AAA7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6A5531-09ED-B205-B1AD-50790072E7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F709CE8-4F97-CEFF-B65B-A62D761EC023}"/>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8" name="Footer Placeholder 7">
            <a:extLst>
              <a:ext uri="{FF2B5EF4-FFF2-40B4-BE49-F238E27FC236}">
                <a16:creationId xmlns:a16="http://schemas.microsoft.com/office/drawing/2014/main" id="{09CD4935-DFC0-5FA9-C4A2-D5C61C7076D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16A712D-6C67-FB7F-877D-904ACDDA87E3}"/>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3068990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5433-882F-18BB-47E1-41B02BE350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E3633A-8B0B-2FE3-D617-0D9ACD35A04C}"/>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4" name="Footer Placeholder 3">
            <a:extLst>
              <a:ext uri="{FF2B5EF4-FFF2-40B4-BE49-F238E27FC236}">
                <a16:creationId xmlns:a16="http://schemas.microsoft.com/office/drawing/2014/main" id="{E51097C9-8F0E-CA22-7809-625EC0D5D4D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DB3CA4-2EF6-F3B5-07AD-2F16DAB011CA}"/>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14675633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C74C4-F274-F4C2-CCE5-8D5F9245F9BC}"/>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3" name="Footer Placeholder 2">
            <a:extLst>
              <a:ext uri="{FF2B5EF4-FFF2-40B4-BE49-F238E27FC236}">
                <a16:creationId xmlns:a16="http://schemas.microsoft.com/office/drawing/2014/main" id="{4A3CB286-1A92-26CE-EA07-70766E7E13D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C0FFF3B-E647-04C3-A9A7-381666DAC946}"/>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3665837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DADAB-A91C-694A-C452-44E255BF14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DE68C0-3EBA-E6DD-0392-9F1E0C4DA8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88F743-ABB3-28AC-A09A-68FF79B906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3564B8-554B-116B-5F1B-F7B8AB74D59C}"/>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6" name="Footer Placeholder 5">
            <a:extLst>
              <a:ext uri="{FF2B5EF4-FFF2-40B4-BE49-F238E27FC236}">
                <a16:creationId xmlns:a16="http://schemas.microsoft.com/office/drawing/2014/main" id="{B6973209-92F6-65EB-9DC6-259B01C3DA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E05CE54-BA1B-758B-776D-8CA2D46B5024}"/>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2000137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4281B-F2C8-F223-CD2C-63E9105DF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1963A28-5E4A-EE53-7B82-E913314B22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B735265-E678-31DA-8594-1086533BCB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06AD52-B270-29B4-77C8-32F3778D211D}"/>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6" name="Footer Placeholder 5">
            <a:extLst>
              <a:ext uri="{FF2B5EF4-FFF2-40B4-BE49-F238E27FC236}">
                <a16:creationId xmlns:a16="http://schemas.microsoft.com/office/drawing/2014/main" id="{4E591E7D-99CA-B3D7-9FDC-160C848FBB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00CCA8-43D1-4A02-463A-A4C2892638DA}"/>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302673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26EBDF-FF32-D7E3-5000-9A921C3C693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3D08D86-843C-959B-BE70-56B697F5C4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49C075-C10A-675C-4AEF-EA8934045848}"/>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5" name="Footer Placeholder 4">
            <a:extLst>
              <a:ext uri="{FF2B5EF4-FFF2-40B4-BE49-F238E27FC236}">
                <a16:creationId xmlns:a16="http://schemas.microsoft.com/office/drawing/2014/main" id="{71B83CA4-0C6D-CD02-BBC9-386F42777E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7D10B6-37E5-C585-B1B0-4C1C9B981E01}"/>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2450247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D0DBE0-5833-5415-54E9-B00648B70DB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D2EF6C-CFD4-88B6-6A75-A19DAA9F43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4A5F19-2270-4DEC-BADC-21DE16309B63}"/>
              </a:ext>
            </a:extLst>
          </p:cNvPr>
          <p:cNvSpPr>
            <a:spLocks noGrp="1"/>
          </p:cNvSpPr>
          <p:nvPr>
            <p:ph type="dt" sz="half" idx="10"/>
          </p:nvPr>
        </p:nvSpPr>
        <p:spPr/>
        <p:txBody>
          <a:bodyPr/>
          <a:lstStyle/>
          <a:p>
            <a:fld id="{E998C544-7565-4544-90FD-7A034625B7CF}" type="datetimeFigureOut">
              <a:rPr lang="en-IN" smtClean="0"/>
              <a:t>28-01-2026</a:t>
            </a:fld>
            <a:endParaRPr lang="en-IN"/>
          </a:p>
        </p:txBody>
      </p:sp>
      <p:sp>
        <p:nvSpPr>
          <p:cNvPr id="5" name="Footer Placeholder 4">
            <a:extLst>
              <a:ext uri="{FF2B5EF4-FFF2-40B4-BE49-F238E27FC236}">
                <a16:creationId xmlns:a16="http://schemas.microsoft.com/office/drawing/2014/main" id="{93B00D65-AE61-94C5-245F-D986D38130F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C1A65-B2AC-A7E0-BF78-C85DE891D7C5}"/>
              </a:ext>
            </a:extLst>
          </p:cNvPr>
          <p:cNvSpPr>
            <a:spLocks noGrp="1"/>
          </p:cNvSpPr>
          <p:nvPr>
            <p:ph type="sldNum" sz="quarter" idx="12"/>
          </p:nvPr>
        </p:nvSpPr>
        <p:spPr/>
        <p:txBody>
          <a:bodyPr/>
          <a:lstStyle/>
          <a:p>
            <a:fld id="{14DDE436-0080-46F1-9DAB-FF426FFF0FC0}" type="slidenum">
              <a:rPr lang="en-IN" smtClean="0"/>
              <a:t>‹#›</a:t>
            </a:fld>
            <a:endParaRPr lang="en-IN"/>
          </a:p>
        </p:txBody>
      </p:sp>
    </p:spTree>
    <p:extLst>
      <p:ext uri="{BB962C8B-B14F-4D97-AF65-F5344CB8AC3E}">
        <p14:creationId xmlns:p14="http://schemas.microsoft.com/office/powerpoint/2010/main" val="1757212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3FF2A4-F221-E39C-B61B-F5766864BA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1B9E02A-61C1-FFA8-4A74-898EBC82C1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2F31EF-88BC-0A12-3A11-70EAEA161E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998C544-7565-4544-90FD-7A034625B7CF}" type="datetimeFigureOut">
              <a:rPr lang="en-IN" smtClean="0"/>
              <a:t>28-01-2026</a:t>
            </a:fld>
            <a:endParaRPr lang="en-IN"/>
          </a:p>
        </p:txBody>
      </p:sp>
      <p:sp>
        <p:nvSpPr>
          <p:cNvPr id="5" name="Footer Placeholder 4">
            <a:extLst>
              <a:ext uri="{FF2B5EF4-FFF2-40B4-BE49-F238E27FC236}">
                <a16:creationId xmlns:a16="http://schemas.microsoft.com/office/drawing/2014/main" id="{7D46BAE8-D9D0-2166-F3CD-9876288FE2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1D67F31-4607-5CA1-40EC-B82DB3D10F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4DDE436-0080-46F1-9DAB-FF426FFF0FC0}" type="slidenum">
              <a:rPr lang="en-IN" smtClean="0"/>
              <a:t>‹#›</a:t>
            </a:fld>
            <a:endParaRPr lang="en-IN"/>
          </a:p>
        </p:txBody>
      </p:sp>
    </p:spTree>
    <p:extLst>
      <p:ext uri="{BB962C8B-B14F-4D97-AF65-F5344CB8AC3E}">
        <p14:creationId xmlns:p14="http://schemas.microsoft.com/office/powerpoint/2010/main" val="8971387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6B7F0-2CCD-2846-B4DD-79D8DCA552E2}"/>
              </a:ext>
            </a:extLst>
          </p:cNvPr>
          <p:cNvSpPr>
            <a:spLocks noGrp="1"/>
          </p:cNvSpPr>
          <p:nvPr>
            <p:ph type="ctrTitle"/>
          </p:nvPr>
        </p:nvSpPr>
        <p:spPr/>
        <p:txBody>
          <a:bodyPr/>
          <a:lstStyle/>
          <a:p>
            <a:r>
              <a:rPr lang="en-IN" dirty="0"/>
              <a:t>Operating System-Overview</a:t>
            </a:r>
          </a:p>
        </p:txBody>
      </p:sp>
      <p:sp>
        <p:nvSpPr>
          <p:cNvPr id="3" name="Subtitle 2">
            <a:extLst>
              <a:ext uri="{FF2B5EF4-FFF2-40B4-BE49-F238E27FC236}">
                <a16:creationId xmlns:a16="http://schemas.microsoft.com/office/drawing/2014/main" id="{23D55B50-AD6C-44B3-D313-C6128D705B36}"/>
              </a:ext>
            </a:extLst>
          </p:cNvPr>
          <p:cNvSpPr>
            <a:spLocks noGrp="1"/>
          </p:cNvSpPr>
          <p:nvPr>
            <p:ph type="subTitle" idx="1"/>
          </p:nvPr>
        </p:nvSpPr>
        <p:spPr/>
        <p:txBody>
          <a:bodyPr/>
          <a:lstStyle/>
          <a:p>
            <a:r>
              <a:rPr lang="en-IN" dirty="0"/>
              <a:t>Dr Sukhandeep Kaur</a:t>
            </a:r>
          </a:p>
        </p:txBody>
      </p:sp>
    </p:spTree>
    <p:extLst>
      <p:ext uri="{BB962C8B-B14F-4D97-AF65-F5344CB8AC3E}">
        <p14:creationId xmlns:p14="http://schemas.microsoft.com/office/powerpoint/2010/main" val="962603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146130" y="254453"/>
            <a:ext cx="8015287" cy="617538"/>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42237" y="1163637"/>
            <a:ext cx="7666037"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2234406" y="420506"/>
            <a:ext cx="7723187" cy="576262"/>
          </a:xfrm>
        </p:spPr>
        <p:txBody>
          <a:bodyPr>
            <a:normAutofit fontScale="90000"/>
          </a:bodyPr>
          <a:lstStyle/>
          <a:p>
            <a:pPr eaLnBrk="1" hangingPunct="1"/>
            <a:r>
              <a:rPr lang="en-US" altLang="en-US" dirty="0"/>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53589" y="1464356"/>
            <a:ext cx="9183188" cy="4159250"/>
          </a:xfrm>
        </p:spPr>
        <p:txBody>
          <a:bodyPr/>
          <a:lstStyle/>
          <a:p>
            <a:r>
              <a:rPr lang="en-US" altLang="en-US" dirty="0"/>
              <a:t>A program that acts as an intermediary between a user of a computer and the computer hardware</a:t>
            </a:r>
          </a:p>
          <a:p>
            <a:r>
              <a:rPr lang="en-US" altLang="en-US" dirty="0"/>
              <a:t>Operating system goals:</a:t>
            </a:r>
          </a:p>
          <a:p>
            <a:pPr lvl="1"/>
            <a:r>
              <a:rPr lang="en-US" altLang="en-US" dirty="0"/>
              <a:t>Execute user programs and make solving user problems easier</a:t>
            </a:r>
          </a:p>
          <a:p>
            <a:pPr lvl="1"/>
            <a:r>
              <a:rPr lang="en-US" altLang="en-US" dirty="0"/>
              <a:t>Make the computer system convenient to use</a:t>
            </a:r>
          </a:p>
          <a:p>
            <a:pPr lvl="1"/>
            <a:r>
              <a:rPr lang="en-US" altLang="en-US" dirty="0"/>
              <a:t>Use the computer hardware in an efficient manner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798547" y="279990"/>
            <a:ext cx="7532687" cy="576262"/>
          </a:xfrm>
        </p:spPr>
        <p:txBody>
          <a:bodyPr>
            <a:normAutofit fontScale="90000"/>
          </a:bodyPr>
          <a:lstStyle/>
          <a:p>
            <a:pPr eaLnBrk="1" hangingPunct="1"/>
            <a:r>
              <a:rPr lang="en-US" altLang="en-US" dirty="0"/>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1310639" y="1374730"/>
            <a:ext cx="9831977" cy="4483100"/>
          </a:xfrm>
        </p:spPr>
        <p:txBody>
          <a:bodyPr>
            <a:normAutofit/>
          </a:bodyPr>
          <a:lstStyle/>
          <a:p>
            <a:r>
              <a:rPr lang="en-US" altLang="en-US" dirty="0"/>
              <a:t>Computer system can be divided into four components:</a:t>
            </a:r>
          </a:p>
          <a:p>
            <a:pPr lvl="1"/>
            <a:r>
              <a:rPr lang="en-US" altLang="en-US" dirty="0"/>
              <a:t>Hardware – provides basic computing resources</a:t>
            </a:r>
          </a:p>
          <a:p>
            <a:pPr lvl="2"/>
            <a:r>
              <a:rPr lang="en-US" altLang="en-US" dirty="0"/>
              <a:t>CPU, memory, I/O devices</a:t>
            </a:r>
          </a:p>
          <a:p>
            <a:pPr lvl="1"/>
            <a:r>
              <a:rPr lang="en-US" altLang="en-US" dirty="0"/>
              <a:t>Operating system</a:t>
            </a:r>
          </a:p>
          <a:p>
            <a:pPr lvl="2"/>
            <a:r>
              <a:rPr lang="en-US" altLang="en-US" dirty="0"/>
              <a:t>Controls and coordinates use of hardware among various applications and users</a:t>
            </a:r>
          </a:p>
          <a:p>
            <a:pPr lvl="1"/>
            <a:r>
              <a:rPr lang="en-US" altLang="en-US" dirty="0"/>
              <a:t>Application programs – define the ways in which the system resources are used to solve the computing problems of the users</a:t>
            </a:r>
          </a:p>
          <a:p>
            <a:pPr lvl="2"/>
            <a:r>
              <a:rPr lang="en-US" altLang="en-US" dirty="0"/>
              <a:t>Word processors, compilers, web browsers, database systems, video games</a:t>
            </a:r>
          </a:p>
          <a:p>
            <a:pPr lvl="1"/>
            <a:r>
              <a:rPr lang="en-US" altLang="en-US" dirty="0"/>
              <a:t>Users</a:t>
            </a:r>
          </a:p>
          <a:p>
            <a:pPr lvl="2"/>
            <a:r>
              <a:rPr lang="en-US" altLang="en-US" dirty="0"/>
              <a:t>People, machines, other computers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2129971" y="678952"/>
            <a:ext cx="7645400" cy="576262"/>
          </a:xfrm>
        </p:spPr>
        <p:txBody>
          <a:bodyPr/>
          <a:lstStyle/>
          <a:p>
            <a:pPr eaLnBrk="1" hangingPunct="1"/>
            <a:r>
              <a:rPr lang="en-US" altLang="en-US" sz="2800" dirty="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1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979714" y="201613"/>
            <a:ext cx="8126413" cy="576262"/>
          </a:xfrm>
        </p:spPr>
        <p:txBody>
          <a:bodyPr>
            <a:normAutofit fontScale="90000"/>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868045" y="1163637"/>
            <a:ext cx="9948001" cy="4530725"/>
          </a:xfrm>
        </p:spPr>
        <p:txBody>
          <a:bodyPr>
            <a:normAutofit fontScale="77500" lnSpcReduction="20000"/>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884545" y="600211"/>
            <a:ext cx="7342187" cy="576262"/>
          </a:xfrm>
        </p:spPr>
        <p:txBody>
          <a:bodyPr>
            <a:normAutofit fontScale="90000"/>
          </a:bodyPr>
          <a:lstStyle/>
          <a:p>
            <a:pPr eaLnBrk="1" hangingPunct="1"/>
            <a:r>
              <a:rPr lang="en-US" altLang="en-US" dirty="0"/>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1632858" y="1435621"/>
            <a:ext cx="7440613" cy="419576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designs and uses of OSes</a:t>
            </a:r>
          </a:p>
          <a:p>
            <a:pPr lvl="1"/>
            <a:r>
              <a:rPr lang="en-US" altLang="en-US" dirty="0"/>
              <a:t>Present in toasters through ships, spacecraft, game machines, TVs and industrial control systems</a:t>
            </a:r>
          </a:p>
          <a:p>
            <a:pPr lvl="1"/>
            <a:r>
              <a:rPr lang="en-US" altLang="en-US" dirty="0"/>
              <a:t>Born when fixed use computers for military became more general purpose and needed resource management and program control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955302" y="237627"/>
            <a:ext cx="7532687" cy="576262"/>
          </a:xfrm>
        </p:spPr>
        <p:txBody>
          <a:bodyPr>
            <a:normAutofit fontScale="90000"/>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1498102" y="1208586"/>
            <a:ext cx="9056687" cy="4729163"/>
          </a:xfrm>
        </p:spPr>
        <p:txBody>
          <a:bodyPr>
            <a:normAutofit fontScale="85000" lnSpcReduction="20000"/>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dirty="0"/>
              <a:t>The one program running at all times on the computer</a:t>
            </a:r>
            <a:r>
              <a:rPr lang="ja-JP" altLang="en-US" dirty="0"/>
              <a:t>”</a:t>
            </a:r>
            <a:r>
              <a:rPr lang="en-US" altLang="ja-JP" dirty="0"/>
              <a:t> is the </a:t>
            </a:r>
            <a:r>
              <a:rPr lang="en-US" altLang="ja-JP" b="1" dirty="0">
                <a:solidFill>
                  <a:srgbClr val="006699"/>
                </a:solidFill>
                <a:latin typeface="+mj-lt"/>
              </a:rPr>
              <a:t>kernel,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general purpose and mobile computing also include </a:t>
            </a:r>
            <a:r>
              <a:rPr lang="en-US" altLang="en-US" b="1" i="1" dirty="0">
                <a:solidFill>
                  <a:srgbClr val="006699"/>
                </a:solidFill>
                <a:latin typeface="+mj-lt"/>
              </a:rPr>
              <a:t>middleware</a:t>
            </a:r>
            <a:r>
              <a:rPr lang="en-US" altLang="en-US" dirty="0"/>
              <a:t> – a set of software frameworks that provide additional services to application developers such as databases, multimedia, graphics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1817688" y="290513"/>
            <a:ext cx="7639050" cy="576262"/>
          </a:xfrm>
        </p:spPr>
        <p:txBody>
          <a:bodyPr>
            <a:normAutofit fontScale="90000"/>
          </a:bodyPr>
          <a:lstStyle/>
          <a:p>
            <a:pPr eaLnBrk="1" hangingPunct="1"/>
            <a:r>
              <a:rPr lang="en-US" altLang="en-US" dirty="0"/>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52975" y="1163637"/>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4283" y="2959099"/>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1999842" y="272914"/>
            <a:ext cx="7605712" cy="576262"/>
          </a:xfrm>
        </p:spPr>
        <p:txBody>
          <a:bodyPr>
            <a:normAutofit fontScale="90000"/>
          </a:bodyPr>
          <a:lstStyle/>
          <a:p>
            <a:pPr eaLnBrk="1" hangingPunct="1"/>
            <a:r>
              <a:rPr lang="en-US" altLang="en-US" dirty="0"/>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22960" y="1245520"/>
            <a:ext cx="10528663" cy="4527550"/>
          </a:xfrm>
        </p:spPr>
        <p:txBody>
          <a:bodyPr>
            <a:normAutofit/>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2601958" y="208326"/>
            <a:ext cx="7591425" cy="576262"/>
          </a:xfrm>
        </p:spPr>
        <p:txBody>
          <a:bodyPr>
            <a:normAutofit fontScale="90000"/>
          </a:bodyPr>
          <a:lstStyle/>
          <a:p>
            <a:pPr eaLnBrk="1" hangingPunct="1"/>
            <a:r>
              <a:rPr lang="en-US" altLang="en-US" dirty="0"/>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1214846" y="1233488"/>
            <a:ext cx="10175964" cy="4384675"/>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2517048" y="151856"/>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1567542" y="1233488"/>
            <a:ext cx="8464731" cy="4192587"/>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1828800" y="378618"/>
            <a:ext cx="8116888" cy="576262"/>
          </a:xfrm>
        </p:spPr>
        <p:txBody>
          <a:bodyPr>
            <a:normAutofit fontScale="90000"/>
          </a:bodyPr>
          <a:lstStyle/>
          <a:p>
            <a:pPr eaLnBrk="1" hangingPunct="1"/>
            <a:r>
              <a:rPr lang="en-US" altLang="en-US" dirty="0"/>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4738" y="1179514"/>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1841863" y="291102"/>
            <a:ext cx="8099425" cy="576263"/>
          </a:xfrm>
        </p:spPr>
        <p:txBody>
          <a:bodyPr>
            <a:normAutofit fontScale="90000"/>
          </a:bodyPr>
          <a:lstStyle/>
          <a:p>
            <a:pPr eaLnBrk="1" hangingPunct="1"/>
            <a:r>
              <a:rPr lang="en-US" altLang="en-US" dirty="0"/>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1698171" y="1244600"/>
            <a:ext cx="8739051" cy="4351338"/>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1071155" y="212725"/>
            <a:ext cx="8099425" cy="576263"/>
          </a:xfrm>
        </p:spPr>
        <p:txBody>
          <a:bodyPr>
            <a:normAutofit fontScale="90000"/>
          </a:bodyPr>
          <a:lstStyle/>
          <a:p>
            <a:pPr eaLnBrk="1" hangingPunct="1"/>
            <a:r>
              <a:rPr lang="en-US" altLang="en-US" dirty="0"/>
              <a:t>I/O Structure (Cont.)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1724296" y="1244600"/>
            <a:ext cx="9313817" cy="4527550"/>
          </a:xfrm>
        </p:spPr>
        <p:txBody>
          <a:bodyPr>
            <a:normAutofit fontScale="92500" lnSpcReduction="10000"/>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1005840" y="227739"/>
            <a:ext cx="8061325" cy="576262"/>
          </a:xfrm>
        </p:spPr>
        <p:txBody>
          <a:bodyPr>
            <a:normAutofit fontScale="90000"/>
          </a:bodyPr>
          <a:lstStyle/>
          <a:p>
            <a:pPr eaLnBrk="1" hangingPunct="1"/>
            <a:r>
              <a:rPr lang="en-US" altLang="en-US" dirty="0"/>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1998616" y="1233488"/>
            <a:ext cx="7602583" cy="4416425"/>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4149408" y="2299834"/>
            <a:ext cx="5116512" cy="1031875"/>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1045028" y="211501"/>
            <a:ext cx="8080375" cy="576262"/>
          </a:xfrm>
        </p:spPr>
        <p:txBody>
          <a:bodyPr>
            <a:normAutofit fontScale="90000"/>
          </a:bodyPr>
          <a:lstStyle/>
          <a:p>
            <a:pPr eaLnBrk="1" hangingPunct="1"/>
            <a:r>
              <a:rPr lang="en-US" altLang="en-US" dirty="0"/>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1815737" y="1143000"/>
            <a:ext cx="8869679" cy="4394200"/>
          </a:xfrm>
        </p:spPr>
        <p:txBody>
          <a:bodyPr/>
          <a:lstStyle/>
          <a:p>
            <a:r>
              <a:rPr lang="en-US" altLang="en-US" sz="1700" dirty="0"/>
              <a:t>Main memory – only large storage media that the CPU can access directly</a:t>
            </a:r>
          </a:p>
          <a:p>
            <a:pPr lvl="1"/>
            <a:r>
              <a:rPr lang="en-US" altLang="en-US" b="1" dirty="0">
                <a:latin typeface="+mj-lt"/>
              </a:rPr>
              <a:t>Random access</a:t>
            </a:r>
          </a:p>
          <a:p>
            <a:pPr lvl="1"/>
            <a:r>
              <a:rPr lang="en-US" altLang="en-US" sz="1600" dirty="0"/>
              <a:t>Typically </a:t>
            </a:r>
            <a:r>
              <a:rPr lang="en-US" altLang="en-US" b="1" dirty="0">
                <a:latin typeface="+mj-lt"/>
              </a:rPr>
              <a:t>volatile</a:t>
            </a:r>
          </a:p>
          <a:p>
            <a:pPr lvl="1"/>
            <a:r>
              <a:rPr lang="en-US" altLang="en-US" dirty="0"/>
              <a:t>Typically</a:t>
            </a:r>
            <a:r>
              <a:rPr lang="en-US" altLang="en-US" sz="1600" b="1" dirty="0"/>
              <a:t> </a:t>
            </a:r>
            <a:r>
              <a:rPr lang="en-US" altLang="en-US" b="1" dirty="0">
                <a:latin typeface="+mj-lt"/>
              </a:rPr>
              <a:t>random-access</a:t>
            </a:r>
            <a:r>
              <a:rPr lang="en-US" altLang="en-US" sz="1600" b="1" dirty="0"/>
              <a:t> </a:t>
            </a:r>
            <a:r>
              <a:rPr lang="en-US" altLang="en-US" b="1" dirty="0">
                <a:latin typeface="+mj-lt"/>
              </a:rPr>
              <a:t>memory</a:t>
            </a:r>
            <a:r>
              <a:rPr lang="en-US" altLang="en-US" sz="1600" b="1" dirty="0"/>
              <a:t> </a:t>
            </a:r>
            <a:r>
              <a:rPr lang="en-US" altLang="en-US" dirty="0"/>
              <a:t>in the form of </a:t>
            </a:r>
            <a:r>
              <a:rPr lang="en-US" altLang="en-US" b="1" dirty="0">
                <a:latin typeface="+mj-lt"/>
              </a:rPr>
              <a:t>Dynamic Random-access Memory (DRAM)</a:t>
            </a:r>
          </a:p>
          <a:p>
            <a:r>
              <a:rPr lang="en-US" altLang="en-US" sz="1700" dirty="0"/>
              <a:t>Secondary storage – extension of main memory that provides large </a:t>
            </a:r>
            <a:r>
              <a:rPr lang="en-US" altLang="en-US" b="1" dirty="0">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692331" y="185375"/>
            <a:ext cx="8080375" cy="576262"/>
          </a:xfrm>
        </p:spPr>
        <p:txBody>
          <a:bodyPr>
            <a:normAutofit fontScale="90000"/>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2364377" y="1100138"/>
            <a:ext cx="8294914" cy="4440237"/>
          </a:xfrm>
        </p:spPr>
        <p:txBody>
          <a:bodyPr>
            <a:normAutofit/>
          </a:bodyPr>
          <a:lstStyle/>
          <a:p>
            <a:r>
              <a:rPr lang="en-US" altLang="en-US" sz="1800" b="1" dirty="0">
                <a:latin typeface="+mj-lt"/>
              </a:rPr>
              <a:t>Hard Disk Drives </a:t>
            </a:r>
            <a:r>
              <a:rPr lang="en-US" altLang="en-US" sz="1800" dirty="0"/>
              <a:t>(</a:t>
            </a:r>
            <a:r>
              <a:rPr lang="en-US" altLang="en-US" sz="1800" b="1" dirty="0">
                <a:latin typeface="+mj-lt"/>
              </a:rPr>
              <a:t>HDD</a:t>
            </a:r>
            <a:r>
              <a:rPr lang="en-US" altLang="en-US" sz="1800" dirty="0"/>
              <a:t>) – rigid metal or glass platters covered with magnetic recording material </a:t>
            </a:r>
          </a:p>
          <a:p>
            <a:pPr lvl="1"/>
            <a:r>
              <a:rPr lang="en-US" altLang="en-US" sz="1800" dirty="0"/>
              <a:t>Disk surface is logically divided into</a:t>
            </a:r>
            <a:r>
              <a:rPr lang="en-US" altLang="en-US" sz="1800" b="1" dirty="0">
                <a:latin typeface="+mj-lt"/>
              </a:rPr>
              <a:t> tracks</a:t>
            </a:r>
            <a:r>
              <a:rPr lang="en-US" altLang="en-US" sz="1800" dirty="0"/>
              <a:t>, which are subdivided into </a:t>
            </a:r>
            <a:r>
              <a:rPr lang="en-US" altLang="en-US" sz="1800" b="1" dirty="0">
                <a:latin typeface="+mj-lt"/>
              </a:rPr>
              <a:t>sectors</a:t>
            </a:r>
          </a:p>
          <a:p>
            <a:pPr lvl="1"/>
            <a:r>
              <a:rPr lang="en-US" altLang="en-US" sz="1800" dirty="0"/>
              <a:t>The </a:t>
            </a:r>
            <a:r>
              <a:rPr lang="en-US" altLang="en-US" sz="1800" b="1" dirty="0">
                <a:latin typeface="+mj-lt"/>
              </a:rPr>
              <a:t>disk controller </a:t>
            </a:r>
            <a:r>
              <a:rPr lang="en-US" altLang="en-US" sz="1800" dirty="0"/>
              <a:t>determines the logical interaction between the device and the computer </a:t>
            </a:r>
          </a:p>
          <a:p>
            <a:r>
              <a:rPr lang="en-US" altLang="en-US" sz="1800" b="1" dirty="0">
                <a:latin typeface="+mj-lt"/>
              </a:rPr>
              <a:t>Non-volatile memory</a:t>
            </a:r>
            <a:r>
              <a:rPr lang="en-US" altLang="en-US" sz="1800" dirty="0"/>
              <a:t> (</a:t>
            </a:r>
            <a:r>
              <a:rPr lang="en-US" altLang="en-US" sz="1800" b="1" dirty="0">
                <a:latin typeface="+mj-lt"/>
              </a:rPr>
              <a:t>NVM</a:t>
            </a:r>
            <a:r>
              <a:rPr lang="en-US" altLang="en-US" sz="1800" dirty="0"/>
              <a:t>)</a:t>
            </a:r>
            <a:r>
              <a:rPr lang="en-US" altLang="en-US" sz="1800" b="1" dirty="0">
                <a:latin typeface="+mj-lt"/>
              </a:rPr>
              <a:t> </a:t>
            </a:r>
            <a:r>
              <a:rPr lang="en-US" altLang="en-US" sz="1800" dirty="0"/>
              <a:t>devices– faster than hard disks, nonvolatile</a:t>
            </a:r>
          </a:p>
          <a:p>
            <a:pPr lvl="1"/>
            <a:r>
              <a:rPr lang="en-US" altLang="en-US" sz="1800" dirty="0"/>
              <a:t>Various technologies</a:t>
            </a:r>
          </a:p>
          <a:p>
            <a:pPr lvl="1"/>
            <a:r>
              <a:rPr lang="en-US" altLang="en-US" sz="1800" dirty="0"/>
              <a:t>Becoming more popular as capacity and performance increases, price drops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2471739" y="203201"/>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1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2366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t>1,024</a:t>
            </a:r>
            <a:r>
              <a:rPr lang="en-US" sz="1400" baseline="30000" dirty="0"/>
              <a:t>3</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1,024</a:t>
            </a:r>
            <a:r>
              <a:rPr lang="en-US" sz="1400" baseline="30000" dirty="0"/>
              <a:t>4</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1,024</a:t>
            </a:r>
            <a:r>
              <a:rPr lang="en-US" sz="1400" baseline="30000" dirty="0"/>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2748687" y="237264"/>
            <a:ext cx="7661275" cy="576262"/>
          </a:xfrm>
        </p:spPr>
        <p:txBody>
          <a:bodyPr>
            <a:normAutofit fontScale="90000"/>
          </a:bodyPr>
          <a:lstStyle/>
          <a:p>
            <a:pPr eaLnBrk="1" hangingPunct="1"/>
            <a:r>
              <a:rPr lang="en-US" altLang="en-US" dirty="0"/>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966651" y="1123950"/>
            <a:ext cx="11225349" cy="4530725"/>
          </a:xfrm>
        </p:spPr>
        <p:txBody>
          <a:bodyPr>
            <a:normAutofit/>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latin typeface="+mj-lt"/>
              </a:rPr>
              <a:t>Caching</a:t>
            </a:r>
            <a:r>
              <a:rPr lang="en-US" altLang="en-US" dirty="0"/>
              <a:t> – copying information into faster storage system; main memory can be viewed as a cache for secondary storage</a:t>
            </a:r>
          </a:p>
          <a:p>
            <a:r>
              <a:rPr lang="en-US" altLang="en-US" b="1" dirty="0">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0" y="198438"/>
            <a:ext cx="8126413" cy="576262"/>
          </a:xfrm>
        </p:spPr>
        <p:txBody>
          <a:bodyPr>
            <a:normAutofit fontScale="90000"/>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614" y="1455739"/>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4489450" y="212725"/>
            <a:ext cx="7702550" cy="576263"/>
          </a:xfrm>
        </p:spPr>
        <p:txBody>
          <a:bodyPr>
            <a:normAutofit fontScale="90000"/>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6311901" y="5637214"/>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026" y="1352551"/>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699532" y="199662"/>
            <a:ext cx="7553325" cy="576263"/>
          </a:xfrm>
        </p:spPr>
        <p:txBody>
          <a:bodyPr>
            <a:normAutofit fontScale="90000"/>
          </a:bodyPr>
          <a:lstStyle/>
          <a:p>
            <a:pPr eaLnBrk="1" hangingPunct="1"/>
            <a:r>
              <a:rPr lang="en-US" altLang="en-US" dirty="0"/>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2116182" y="1233488"/>
            <a:ext cx="8151223" cy="4057650"/>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2039258" y="188913"/>
            <a:ext cx="7670800" cy="576262"/>
          </a:xfrm>
        </p:spPr>
        <p:txBody>
          <a:bodyPr>
            <a:normAutofit fontScale="90000"/>
          </a:bodyPr>
          <a:lstStyle/>
          <a:p>
            <a:pPr eaLnBrk="1" hangingPunct="1"/>
            <a:r>
              <a:rPr lang="en-US" altLang="en-US" dirty="0"/>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966651" y="1154113"/>
            <a:ext cx="11225349"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latin typeface="+mj-lt"/>
              </a:rPr>
              <a:t>system daemons </a:t>
            </a:r>
            <a:r>
              <a:rPr lang="en-US" altLang="en-US" dirty="0"/>
              <a:t>(services provided outside of the kernel or background processes which does not need user </a:t>
            </a:r>
            <a:r>
              <a:rPr lang="en-US" altLang="en-US" dirty="0" err="1"/>
              <a:t>interations</a:t>
            </a:r>
            <a:r>
              <a:rPr lang="en-US" altLang="en-US" dirty="0"/>
              <a:t>)</a:t>
            </a:r>
          </a:p>
          <a:p>
            <a:pPr>
              <a:lnSpc>
                <a:spcPct val="90000"/>
              </a:lnSpc>
            </a:pPr>
            <a:r>
              <a:rPr lang="en-US" altLang="en-US" dirty="0"/>
              <a:t>Kernel</a:t>
            </a:r>
            <a:r>
              <a:rPr lang="en-US" altLang="en-US" b="1" dirty="0"/>
              <a:t> </a:t>
            </a:r>
            <a:r>
              <a:rPr lang="en-US" altLang="en-US" b="1" dirty="0">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latin typeface="+mj-lt"/>
              </a:rPr>
              <a:t>exception</a:t>
            </a:r>
            <a:r>
              <a:rPr lang="en-US" altLang="en-US" b="1" dirty="0"/>
              <a:t> </a:t>
            </a:r>
            <a:r>
              <a:rPr lang="en-US" altLang="en-US" dirty="0"/>
              <a:t>or </a:t>
            </a:r>
            <a:r>
              <a:rPr lang="en-US" altLang="en-US" b="1" dirty="0">
                <a:latin typeface="+mj-lt"/>
              </a:rPr>
              <a:t>trap</a:t>
            </a:r>
            <a:r>
              <a:rPr lang="en-US" altLang="en-US" dirty="0"/>
              <a:t>):</a:t>
            </a:r>
          </a:p>
          <a:p>
            <a:pPr lvl="2">
              <a:lnSpc>
                <a:spcPct val="90000"/>
              </a:lnSpc>
            </a:pPr>
            <a:r>
              <a:rPr lang="en-US" altLang="en-US" dirty="0"/>
              <a:t>Software error (e.g., division by zero)</a:t>
            </a:r>
            <a:endParaRPr lang="en-US" altLang="en-US" b="1" dirty="0"/>
          </a:p>
          <a:p>
            <a:pPr lvl="2">
              <a:lnSpc>
                <a:spcPct val="90000"/>
              </a:lnSpc>
            </a:pPr>
            <a:r>
              <a:rPr lang="en-US" altLang="en-US" dirty="0"/>
              <a:t>Request for operating system service – </a:t>
            </a:r>
            <a:r>
              <a:rPr lang="en-US" altLang="en-US" b="1" dirty="0">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427027" y="492171"/>
            <a:ext cx="7616825" cy="576262"/>
          </a:xfrm>
        </p:spPr>
        <p:txBody>
          <a:bodyPr>
            <a:normAutofit fontScale="90000"/>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1683928" y="1527356"/>
            <a:ext cx="7616826" cy="3031581"/>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r>
              <a:rPr lang="en-US" altLang="en-US" sz="1600" dirty="0"/>
              <a:t>One job selected and run via 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4575175" y="204788"/>
            <a:ext cx="7616825" cy="576262"/>
          </a:xfrm>
        </p:spPr>
        <p:txBody>
          <a:bodyPr>
            <a:normAutofit fontScale="90000"/>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1828800" y="835025"/>
            <a:ext cx="9209314" cy="4872038"/>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r>
              <a:rPr lang="en-US" altLang="en-US" sz="2000" dirty="0"/>
              <a:t>A logical extension of Batch systems– the CPU switches jobs so frequently that users can interact with each job while it is running, creating interactive computing</a:t>
            </a:r>
          </a:p>
          <a:p>
            <a:pPr lvl="1"/>
            <a:r>
              <a:rPr lang="en-US" altLang="en-US" sz="2000" dirty="0"/>
              <a:t>Response time should be &lt; 1 second</a:t>
            </a:r>
          </a:p>
          <a:p>
            <a:pPr lvl="1"/>
            <a:r>
              <a:rPr lang="en-US" altLang="en-US" sz="2000" dirty="0"/>
              <a:t>Each user has at least one program executing in memory </a:t>
            </a:r>
            <a:r>
              <a:rPr lang="en-US" altLang="en-US" sz="2000" dirty="0">
                <a:sym typeface="Wingdings 3" panose="05040102010807070707" pitchFamily="18" charset="2"/>
              </a:rPr>
              <a:t> process</a:t>
            </a:r>
          </a:p>
          <a:p>
            <a:pPr lvl="1"/>
            <a:r>
              <a:rPr lang="en-US" altLang="en-US" sz="2000" dirty="0">
                <a:sym typeface="Wingdings 3" panose="05040102010807070707" pitchFamily="18" charset="2"/>
              </a:rPr>
              <a:t>If several jobs ready to run at the same time  CPU scheduling</a:t>
            </a:r>
          </a:p>
          <a:p>
            <a:pPr lvl="1"/>
            <a:r>
              <a:rPr lang="en-US" altLang="en-US" sz="2000" dirty="0">
                <a:sym typeface="Wingdings 3" panose="05040102010807070707" pitchFamily="18" charset="2"/>
              </a:rPr>
              <a:t>If processes don</a:t>
            </a:r>
            <a:r>
              <a:rPr lang="ja-JP" altLang="en-US" sz="2000" dirty="0">
                <a:sym typeface="Wingdings 3" panose="05040102010807070707" pitchFamily="18" charset="2"/>
              </a:rPr>
              <a:t>’</a:t>
            </a:r>
            <a:r>
              <a:rPr lang="en-US" altLang="ja-JP" sz="2000" dirty="0">
                <a:sym typeface="Wingdings 3" panose="05040102010807070707" pitchFamily="18" charset="2"/>
              </a:rPr>
              <a:t>t fit in memory, swapping moves them in and out to run</a:t>
            </a:r>
          </a:p>
          <a:p>
            <a:pPr lvl="1"/>
            <a:r>
              <a:rPr lang="en-US" altLang="en-US" sz="2000" dirty="0">
                <a:sym typeface="Wingdings 3" panose="05040102010807070707" pitchFamily="18" charset="2"/>
              </a:rPr>
              <a:t>Virtual memory 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7290B74C-531F-48AF-B9FC-4141DDA68625}"/>
              </a:ext>
            </a:extLst>
          </p:cNvPr>
          <p:cNvSpPr>
            <a:spLocks noGrp="1" noChangeArrowheads="1"/>
          </p:cNvSpPr>
          <p:nvPr>
            <p:ph type="title" idx="4294967295"/>
          </p:nvPr>
        </p:nvSpPr>
        <p:spPr>
          <a:xfrm>
            <a:off x="3962400" y="198438"/>
            <a:ext cx="8229600" cy="576262"/>
          </a:xfrm>
        </p:spPr>
        <p:txBody>
          <a:bodyPr/>
          <a:lstStyle/>
          <a:p>
            <a:pPr eaLnBrk="1" hangingPunct="1"/>
            <a:r>
              <a:rPr lang="en-US" altLang="en-US" sz="2800"/>
              <a:t>Memory Layout for Multiprogrammed System</a:t>
            </a:r>
          </a:p>
        </p:txBody>
      </p:sp>
      <p:pic>
        <p:nvPicPr>
          <p:cNvPr id="63491" name="Picture 2">
            <a:extLst>
              <a:ext uri="{FF2B5EF4-FFF2-40B4-BE49-F238E27FC236}">
                <a16:creationId xmlns:a16="http://schemas.microsoft.com/office/drawing/2014/main" id="{3AC87D33-03C5-4AAE-9C92-B651FC40A7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9489" y="1327603"/>
            <a:ext cx="2270125" cy="358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513658" y="329067"/>
            <a:ext cx="7791450" cy="576262"/>
          </a:xfrm>
        </p:spPr>
        <p:txBody>
          <a:bodyPr>
            <a:normAutofit fontScale="90000"/>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2194560" y="1233488"/>
            <a:ext cx="8856616" cy="4624387"/>
          </a:xfrm>
        </p:spPr>
        <p:txBody>
          <a:bodyPr>
            <a:normAutofit fontScale="92500" lnSpcReduction="20000"/>
          </a:bodyPr>
          <a:lstStyle/>
          <a:p>
            <a:pPr>
              <a:lnSpc>
                <a:spcPct val="90000"/>
              </a:lnSpc>
            </a:pPr>
            <a:r>
              <a:rPr lang="en-US" altLang="en-US" b="1" dirty="0">
                <a:latin typeface="+mj-lt"/>
              </a:rPr>
              <a:t>Dual-mode</a:t>
            </a:r>
            <a:r>
              <a:rPr lang="en-US" altLang="en-US" b="1" dirty="0"/>
              <a:t> </a:t>
            </a:r>
            <a:r>
              <a:rPr lang="en-US" altLang="en-US" dirty="0"/>
              <a:t>operation allows OS to protect itself and other system components</a:t>
            </a:r>
          </a:p>
          <a:p>
            <a:pPr lvl="1">
              <a:lnSpc>
                <a:spcPct val="90000"/>
              </a:lnSpc>
            </a:pPr>
            <a:r>
              <a:rPr lang="en-US" altLang="en-US" b="1" dirty="0">
                <a:latin typeface="+mj-lt"/>
              </a:rPr>
              <a:t>User mode </a:t>
            </a:r>
            <a:r>
              <a:rPr lang="en-US" altLang="en-US" dirty="0"/>
              <a:t>and </a:t>
            </a:r>
            <a:r>
              <a:rPr lang="en-US" altLang="en-US" b="1" dirty="0">
                <a:latin typeface="+mj-lt"/>
              </a:rPr>
              <a:t>kernel mode </a:t>
            </a:r>
          </a:p>
          <a:p>
            <a:pPr>
              <a:lnSpc>
                <a:spcPct val="90000"/>
              </a:lnSpc>
            </a:pPr>
            <a:r>
              <a:rPr lang="en-US" altLang="en-US" b="1" dirty="0">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1811383" y="541473"/>
            <a:ext cx="7924800" cy="647700"/>
          </a:xfrm>
        </p:spPr>
        <p:txBody>
          <a:bodyPr>
            <a:normAutofit fontScale="90000"/>
          </a:bodyPr>
          <a:lstStyle/>
          <a:p>
            <a:pPr eaLnBrk="1" hangingPunct="1"/>
            <a:r>
              <a:rPr lang="en-US" altLang="en-US" dirty="0"/>
              <a:t>Transition from User to Kernel Mode</a:t>
            </a:r>
          </a:p>
        </p:txBody>
      </p:sp>
      <p:pic>
        <p:nvPicPr>
          <p:cNvPr id="67588" name="Picture 2">
            <a:extLst>
              <a:ext uri="{FF2B5EF4-FFF2-40B4-BE49-F238E27FC236}">
                <a16:creationId xmlns:a16="http://schemas.microsoft.com/office/drawing/2014/main" id="{577B7B49-686A-43F8-AEBF-B723806AE4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7826" y="2115787"/>
            <a:ext cx="7053262" cy="209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18784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4267200" y="136525"/>
            <a:ext cx="7924800" cy="647700"/>
          </a:xfrm>
        </p:spPr>
        <p:txBody>
          <a:bodyPr>
            <a:normAutofit fontScale="90000"/>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1810566" y="1504588"/>
            <a:ext cx="9410428" cy="2817813"/>
          </a:xfrm>
        </p:spPr>
        <p:txBody>
          <a:bodyPr>
            <a:normAutofit fontScale="92500"/>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448072" y="233363"/>
            <a:ext cx="7439025" cy="576262"/>
          </a:xfrm>
        </p:spPr>
        <p:txBody>
          <a:bodyPr>
            <a:normAutofit fontScale="90000"/>
          </a:bodyPr>
          <a:lstStyle/>
          <a:p>
            <a:pPr eaLnBrk="1" hangingPunct="1"/>
            <a:r>
              <a:rPr lang="en-US" altLang="en-US" dirty="0"/>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927464" y="809625"/>
            <a:ext cx="9078686" cy="5105400"/>
          </a:xfrm>
        </p:spPr>
        <p:txBody>
          <a:bodyPr>
            <a:normAutofit fontScale="85000" lnSpcReduction="10000"/>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an </a:t>
            </a:r>
            <a:r>
              <a:rPr lang="en-US" altLang="en-US" b="1" i="1" dirty="0"/>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276305" y="364717"/>
            <a:ext cx="7427912" cy="576262"/>
          </a:xfrm>
        </p:spPr>
        <p:txBody>
          <a:bodyPr>
            <a:normAutofit fontScale="90000"/>
          </a:bodyPr>
          <a:lstStyle/>
          <a:p>
            <a:pPr eaLnBrk="1" hangingPunct="1"/>
            <a:r>
              <a:rPr lang="en-US" altLang="en-US" dirty="0"/>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1276304" y="1879600"/>
            <a:ext cx="9118979" cy="4035425"/>
          </a:xfrm>
        </p:spPr>
        <p:txBody>
          <a:bodyPr>
            <a:normAutofit/>
          </a:bodyPr>
          <a:lstStyle/>
          <a:p>
            <a:pPr>
              <a:buFont typeface="Monotype Sorts" pitchFamily="-84" charset="2"/>
              <a:buNone/>
            </a:pPr>
            <a:r>
              <a:rPr lang="en-US" altLang="en-US" dirty="0"/>
              <a:t>     </a:t>
            </a:r>
          </a:p>
          <a:p>
            <a:r>
              <a:rPr lang="en-US" altLang="en-US" dirty="0"/>
              <a:t>Creating and deleting both user and system processes</a:t>
            </a:r>
          </a:p>
          <a:p>
            <a:r>
              <a:rPr lang="en-US" altLang="en-US" dirty="0"/>
              <a:t>Suspending and resuming processes</a:t>
            </a:r>
          </a:p>
          <a:p>
            <a:r>
              <a:rPr lang="en-US" altLang="en-US" dirty="0"/>
              <a:t>Providing mechanisms for process synchronization</a:t>
            </a:r>
          </a:p>
          <a:p>
            <a:r>
              <a:rPr lang="en-US" altLang="en-US" dirty="0"/>
              <a:t>Providing mechanisms for process communication</a:t>
            </a:r>
          </a:p>
          <a:p>
            <a:r>
              <a:rPr lang="en-US" altLang="en-US" dirty="0"/>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1276305"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535113" y="264976"/>
            <a:ext cx="7456487" cy="576263"/>
          </a:xfrm>
        </p:spPr>
        <p:txBody>
          <a:bodyPr>
            <a:normAutofit fontScale="90000"/>
          </a:bodyPr>
          <a:lstStyle/>
          <a:p>
            <a:pPr eaLnBrk="1" hangingPunct="1"/>
            <a:r>
              <a:rPr lang="en-US" altLang="en-US" dirty="0"/>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1185634" y="1272676"/>
            <a:ext cx="9813291" cy="4530725"/>
          </a:xfrm>
        </p:spPr>
        <p:txBody>
          <a:bodyPr>
            <a:normAutofit fontScale="92500" lnSpcReduction="10000"/>
          </a:bodyPr>
          <a:lstStyle/>
          <a:p>
            <a:r>
              <a:rPr lang="en-US" altLang="en-US" dirty="0"/>
              <a:t>To execute a program all (or part) of the instructions must be in memory</a:t>
            </a:r>
          </a:p>
          <a:p>
            <a:r>
              <a:rPr lang="en-US" altLang="en-US" dirty="0"/>
              <a:t>All  (or part) of the data that is needed by the program must be in memory</a:t>
            </a:r>
            <a:endParaRPr lang="en-US" altLang="en-US" sz="800" dirty="0"/>
          </a:p>
          <a:p>
            <a:r>
              <a:rPr lang="en-US" altLang="en-US" dirty="0"/>
              <a:t>Memory management determines what is in memory and when</a:t>
            </a:r>
          </a:p>
          <a:p>
            <a:pPr lvl="1"/>
            <a:r>
              <a:rPr lang="en-US" altLang="en-US" dirty="0"/>
              <a:t>Optimizing CPU utilization and computer response to users</a:t>
            </a:r>
            <a:endParaRPr lang="en-US" altLang="en-US" sz="800" dirty="0"/>
          </a:p>
          <a:p>
            <a:r>
              <a:rPr lang="en-US" altLang="en-US" dirty="0"/>
              <a:t>Memory management activities</a:t>
            </a:r>
          </a:p>
          <a:p>
            <a:pPr lvl="1"/>
            <a:r>
              <a:rPr lang="en-US" altLang="en-US" dirty="0"/>
              <a:t>Keeping track of which parts of memory are currently being used and by whom</a:t>
            </a:r>
          </a:p>
          <a:p>
            <a:pPr lvl="1"/>
            <a:r>
              <a:rPr lang="en-US" altLang="en-US" dirty="0"/>
              <a:t>Deciding which processes (or parts thereof) and data to move into and out of memory</a:t>
            </a:r>
          </a:p>
          <a:p>
            <a:pPr lvl="1"/>
            <a:r>
              <a:rPr lang="en-US" altLang="en-US" dirty="0"/>
              <a:t>Allocating and deallocating memory space as needed</a:t>
            </a:r>
          </a:p>
          <a:p>
            <a:pPr lvl="1">
              <a:buFont typeface="Monotype Sorts" pitchFamily="-84"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481545" y="211138"/>
            <a:ext cx="7353300" cy="576262"/>
          </a:xfrm>
        </p:spPr>
        <p:txBody>
          <a:bodyPr>
            <a:normAutofit fontScale="90000"/>
          </a:bodyPr>
          <a:lstStyle/>
          <a:p>
            <a:pPr eaLnBrk="1" hangingPunct="1"/>
            <a:r>
              <a:rPr lang="en-US" altLang="en-US" dirty="0"/>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431075" y="1104900"/>
            <a:ext cx="9940834" cy="4603569"/>
          </a:xfrm>
        </p:spPr>
        <p:txBody>
          <a:bodyPr>
            <a:normAutofit fontScale="92500" lnSpcReduction="10000"/>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265873" y="242388"/>
            <a:ext cx="7177087" cy="576263"/>
          </a:xfrm>
        </p:spPr>
        <p:txBody>
          <a:bodyPr>
            <a:normAutofit fontScale="90000"/>
          </a:bodyPr>
          <a:lstStyle/>
          <a:p>
            <a:pPr eaLnBrk="1" hangingPunct="1"/>
            <a:r>
              <a:rPr lang="en-US" altLang="en-US" dirty="0"/>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1031966" y="1109663"/>
            <a:ext cx="10384970" cy="4350611"/>
          </a:xfrm>
        </p:spPr>
        <p:txBody>
          <a:bodyPr>
            <a:normAutofit fontScale="92500" lnSpcReduction="20000"/>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574766" y="323850"/>
            <a:ext cx="8015288" cy="576262"/>
          </a:xfrm>
        </p:spPr>
        <p:txBody>
          <a:bodyPr>
            <a:normAutofit fontScale="90000"/>
          </a:bodyPr>
          <a:lstStyle/>
          <a:p>
            <a:pPr eaLnBrk="1" hangingPunct="1"/>
            <a:r>
              <a:rPr lang="en-US" altLang="en-US" dirty="0"/>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1201783" y="1233488"/>
            <a:ext cx="9993085" cy="4724400"/>
          </a:xfrm>
        </p:spPr>
        <p:txBody>
          <a:bodyPr>
            <a:normAutofit lnSpcReduction="10000"/>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AA8D59F3-EABB-4542-87C7-F8AE7CD1FD34}"/>
              </a:ext>
            </a:extLst>
          </p:cNvPr>
          <p:cNvSpPr>
            <a:spLocks noGrp="1" noChangeArrowheads="1"/>
          </p:cNvSpPr>
          <p:nvPr>
            <p:ph type="title" idx="4294967295"/>
          </p:nvPr>
        </p:nvSpPr>
        <p:spPr>
          <a:xfrm>
            <a:off x="3660775" y="146050"/>
            <a:ext cx="8531225" cy="576263"/>
          </a:xfrm>
        </p:spPr>
        <p:txBody>
          <a:bodyPr/>
          <a:lstStyle/>
          <a:p>
            <a:pPr eaLnBrk="1" hangingPunct="1"/>
            <a:r>
              <a:rPr lang="en-US" altLang="en-US" sz="2800" dirty="0"/>
              <a:t>Characteristics of Various Types of Storage</a:t>
            </a:r>
          </a:p>
        </p:txBody>
      </p:sp>
      <p:sp>
        <p:nvSpPr>
          <p:cNvPr id="39939" name="Rectangle 3">
            <a:extLst>
              <a:ext uri="{FF2B5EF4-FFF2-40B4-BE49-F238E27FC236}">
                <a16:creationId xmlns:a16="http://schemas.microsoft.com/office/drawing/2014/main" id="{CD4D4AE1-901A-6A46-BAD0-039ED90103A5}"/>
              </a:ext>
            </a:extLst>
          </p:cNvPr>
          <p:cNvSpPr>
            <a:spLocks noGrp="1" noChangeArrowheads="1"/>
          </p:cNvSpPr>
          <p:nvPr>
            <p:ph type="body" idx="4294967295"/>
          </p:nvPr>
        </p:nvSpPr>
        <p:spPr>
          <a:xfrm>
            <a:off x="4484688" y="1233488"/>
            <a:ext cx="7707312" cy="4521200"/>
          </a:xfrm>
        </p:spPr>
        <p:txBody>
          <a:bodyPr>
            <a:normAutofit fontScale="92500" lnSpcReduction="20000"/>
          </a:bodyPr>
          <a:lstStyle/>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a:buFont typeface="Monotype Sorts" charset="0"/>
              <a:buChar char="n"/>
              <a:defRPr/>
            </a:pPr>
            <a:endParaRPr lang="en-US" dirty="0">
              <a:ea typeface="ＭＳ Ｐゴシック" charset="0"/>
              <a:cs typeface="ＭＳ Ｐゴシック" charset="0"/>
            </a:endParaRPr>
          </a:p>
          <a:p>
            <a:pPr marL="0" indent="0">
              <a:buNone/>
              <a:defRPr/>
            </a:pPr>
            <a:endParaRPr lang="en-US" dirty="0">
              <a:ea typeface="ＭＳ Ｐゴシック" charset="0"/>
              <a:cs typeface="ＭＳ Ｐゴシック" charset="0"/>
            </a:endParaRPr>
          </a:p>
          <a:p>
            <a:pPr>
              <a:buFont typeface="Monotype Sorts" pitchFamily="-84" charset="2"/>
              <a:buNone/>
              <a:defRPr/>
            </a:pPr>
            <a:r>
              <a:rPr lang="en-US" dirty="0">
                <a:ea typeface="ＭＳ Ｐゴシック" charset="0"/>
                <a:cs typeface="ＭＳ Ｐゴシック" charset="0"/>
              </a:rPr>
              <a:t>    Movement between levels of storage hierarchy can be explicit or implicit</a:t>
            </a:r>
          </a:p>
        </p:txBody>
      </p:sp>
      <p:pic>
        <p:nvPicPr>
          <p:cNvPr id="81924" name="Picture 4">
            <a:extLst>
              <a:ext uri="{FF2B5EF4-FFF2-40B4-BE49-F238E27FC236}">
                <a16:creationId xmlns:a16="http://schemas.microsoft.com/office/drawing/2014/main" id="{E7E6D134-C41F-4C06-AAAF-DB2716C6C8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9464" y="1139826"/>
            <a:ext cx="8054975"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37725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798773" y="206465"/>
            <a:ext cx="7597775"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1293224" y="1233488"/>
            <a:ext cx="9640388" cy="4503737"/>
          </a:xfrm>
        </p:spPr>
        <p:txBody>
          <a:bodyPr>
            <a:normAutofit fontScale="92500" lnSpcReduction="10000"/>
          </a:bodyPr>
          <a:lstStyle/>
          <a:p>
            <a:r>
              <a:rPr lang="en-US" altLang="en-US" dirty="0"/>
              <a:t>Multitasking environments must be careful to use most recent value, no matter where it is stored in the storage hierarchy</a:t>
            </a:r>
            <a:br>
              <a:rPr lang="en-US" altLang="en-US" dirty="0"/>
            </a:br>
            <a:br>
              <a:rPr lang="en-US" altLang="en-US" dirty="0"/>
            </a:br>
            <a:br>
              <a:rPr lang="en-US" altLang="en-US" dirty="0"/>
            </a:b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4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587829" y="292690"/>
            <a:ext cx="8051800" cy="576262"/>
          </a:xfrm>
        </p:spPr>
        <p:txBody>
          <a:bodyPr>
            <a:normAutofit fontScale="90000"/>
          </a:bodyPr>
          <a:lstStyle/>
          <a:p>
            <a:pPr eaLnBrk="1" hangingPunct="1"/>
            <a:r>
              <a:rPr lang="en-US" altLang="en-US" dirty="0"/>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1018904" y="1169988"/>
            <a:ext cx="9078686" cy="4530725"/>
          </a:xfrm>
        </p:spPr>
        <p:txBody>
          <a:bodyPr/>
          <a:lstStyle/>
          <a:p>
            <a:r>
              <a:rPr lang="en-US" altLang="en-US" dirty="0"/>
              <a:t>One purpose of OS is to hide peculiarities of hardware devices from the user</a:t>
            </a:r>
          </a:p>
          <a:p>
            <a:r>
              <a:rPr lang="en-US" altLang="en-US"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32238" y="285977"/>
            <a:ext cx="7515225" cy="576262"/>
          </a:xfrm>
        </p:spPr>
        <p:txBody>
          <a:bodyPr>
            <a:normAutofit fontScale="90000"/>
          </a:bodyPr>
          <a:lstStyle/>
          <a:p>
            <a:pPr eaLnBrk="1" hangingPunct="1"/>
            <a:r>
              <a:rPr lang="en-US" altLang="en-US" dirty="0"/>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732552" y="837406"/>
            <a:ext cx="9966960" cy="5183187"/>
          </a:xfrm>
        </p:spPr>
        <p:txBody>
          <a:bodyPr>
            <a:normAutofit fontScale="92500" lnSpcReduction="10000"/>
          </a:bodyPr>
          <a:lstStyle/>
          <a:p>
            <a:pPr>
              <a:lnSpc>
                <a:spcPct val="90000"/>
              </a:lnSpc>
            </a:pPr>
            <a:r>
              <a:rPr lang="en-US" altLang="en-US" b="1" dirty="0">
                <a:latin typeface="+mj-lt"/>
              </a:rPr>
              <a:t>Protection</a:t>
            </a:r>
            <a:r>
              <a:rPr lang="en-US" altLang="en-US" b="1" dirty="0"/>
              <a:t> </a:t>
            </a:r>
            <a:r>
              <a:rPr lang="en-US" altLang="en-US" dirty="0"/>
              <a:t>– any mechanism for controlling access of processes or users to resources defined by the OS</a:t>
            </a:r>
            <a:endParaRPr lang="en-US" altLang="en-US" sz="800" dirty="0"/>
          </a:p>
          <a:p>
            <a:pPr>
              <a:lnSpc>
                <a:spcPct val="90000"/>
              </a:lnSpc>
            </a:pPr>
            <a:r>
              <a:rPr lang="en-US" altLang="en-US" b="1" dirty="0">
                <a:latin typeface="+mj-lt"/>
              </a:rPr>
              <a:t>Security</a:t>
            </a:r>
            <a:r>
              <a:rPr lang="en-US" altLang="en-US" b="1" dirty="0"/>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latin typeface="+mj-lt"/>
              </a:rPr>
              <a:t>group ID</a:t>
            </a:r>
            <a:r>
              <a:rPr lang="en-US" altLang="en-US" dirty="0"/>
              <a:t>) allows set of users to be defined and controls managed, then also associated with each process, file</a:t>
            </a:r>
          </a:p>
          <a:p>
            <a:pPr lvl="1">
              <a:lnSpc>
                <a:spcPct val="90000"/>
              </a:lnSpc>
            </a:pPr>
            <a:r>
              <a:rPr lang="en-US" altLang="en-US" b="1" dirty="0">
                <a:latin typeface="+mj-lt"/>
              </a:rPr>
              <a:t>Privilege escalation </a:t>
            </a:r>
            <a:r>
              <a:rPr lang="en-US" altLang="en-US" dirty="0"/>
              <a:t>allows user to change to effective ID with more rights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091655" y="191725"/>
            <a:ext cx="7194550" cy="576262"/>
          </a:xfrm>
        </p:spPr>
        <p:txBody>
          <a:bodyPr>
            <a:normAutofit fontScale="90000"/>
          </a:bodyPr>
          <a:lstStyle/>
          <a:p>
            <a:pPr eaLnBrk="1" hangingPunct="1"/>
            <a:r>
              <a:rPr lang="en-US" altLang="en-US" dirty="0"/>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901337" y="1233488"/>
            <a:ext cx="9274629" cy="4530725"/>
          </a:xfrm>
        </p:spPr>
        <p:txBody>
          <a:bodyPr>
            <a:normAutofit fontScale="92500" lnSpcReduction="10000"/>
          </a:bodyPr>
          <a:lstStyle/>
          <a:p>
            <a:r>
              <a:rPr lang="en-US" altLang="en-US" dirty="0"/>
              <a:t>Allows operating systems to run applications within other OSes</a:t>
            </a:r>
          </a:p>
          <a:p>
            <a:pPr lvl="1"/>
            <a:r>
              <a:rPr lang="en-US" altLang="en-US" dirty="0"/>
              <a:t>Vast and growing industry</a:t>
            </a:r>
            <a:endParaRPr lang="en-US" altLang="en-US" sz="800" dirty="0"/>
          </a:p>
          <a:p>
            <a:r>
              <a:rPr lang="en-US" altLang="en-US" b="1" dirty="0">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latin typeface="+mj-lt"/>
              </a:rPr>
              <a:t>Interpretation</a:t>
            </a:r>
          </a:p>
          <a:p>
            <a:r>
              <a:rPr lang="en-US" altLang="en-US" b="1" dirty="0">
                <a:latin typeface="+mj-lt"/>
              </a:rPr>
              <a:t>Virtualization</a:t>
            </a:r>
            <a:r>
              <a:rPr lang="en-US" altLang="en-US" dirty="0"/>
              <a:t> – OS natively compiled for CPU, running </a:t>
            </a:r>
            <a:r>
              <a:rPr lang="en-US" altLang="en-US" b="1" dirty="0">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latin typeface="+mj-lt"/>
              </a:rPr>
              <a:t>host </a:t>
            </a:r>
            <a:r>
              <a:rPr lang="en-US" altLang="en-US" dirty="0"/>
              <a:t>OS</a:t>
            </a:r>
          </a:p>
          <a:p>
            <a:pPr lvl="1"/>
            <a:r>
              <a:rPr lang="en-US" altLang="en-US" b="1" dirty="0">
                <a:latin typeface="+mj-lt"/>
              </a:rPr>
              <a:t>VMM</a:t>
            </a:r>
            <a:r>
              <a:rPr lang="en-US" altLang="en-US" dirty="0"/>
              <a:t> (virtual machine Manager) provides virtualization services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542548" y="326691"/>
            <a:ext cx="7400925" cy="576263"/>
          </a:xfrm>
        </p:spPr>
        <p:txBody>
          <a:bodyPr>
            <a:normAutofit fontScale="90000"/>
          </a:bodyPr>
          <a:lstStyle/>
          <a:p>
            <a:pPr eaLnBrk="1" hangingPunct="1"/>
            <a:r>
              <a:rPr lang="en-US" altLang="en-US" dirty="0"/>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1231398" y="1163637"/>
            <a:ext cx="9296234" cy="4530725"/>
          </a:xfrm>
        </p:spPr>
        <p:txBody>
          <a:bodyPr>
            <a:normAutofit lnSpcReduction="10000"/>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967AD9E5-C263-4DD7-BF7C-15DD636247AC}"/>
              </a:ext>
            </a:extLst>
          </p:cNvPr>
          <p:cNvSpPr>
            <a:spLocks noGrp="1" noChangeArrowheads="1"/>
          </p:cNvSpPr>
          <p:nvPr>
            <p:ph type="title" idx="4294967295"/>
          </p:nvPr>
        </p:nvSpPr>
        <p:spPr>
          <a:xfrm>
            <a:off x="4546600" y="192088"/>
            <a:ext cx="7645400" cy="601662"/>
          </a:xfrm>
        </p:spPr>
        <p:txBody>
          <a:bodyPr/>
          <a:lstStyle/>
          <a:p>
            <a:pPr eaLnBrk="1" hangingPunct="1"/>
            <a:r>
              <a:rPr lang="en-US" altLang="en-US" sz="3000"/>
              <a:t>Computing Environments - Virtualization</a:t>
            </a:r>
          </a:p>
        </p:txBody>
      </p:sp>
      <p:pic>
        <p:nvPicPr>
          <p:cNvPr id="94211" name="Picture 1" descr="1_20.pdf">
            <a:extLst>
              <a:ext uri="{FF2B5EF4-FFF2-40B4-BE49-F238E27FC236}">
                <a16:creationId xmlns:a16="http://schemas.microsoft.com/office/drawing/2014/main" id="{6757256A-1C41-4B7F-99E9-C6E76C868B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32114" y="1554164"/>
            <a:ext cx="6396037" cy="433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B2C67-F5F6-28D6-3402-5E1DD97378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A9682E-4F2F-9959-33DE-4AD19BF49ABE}"/>
              </a:ext>
            </a:extLst>
          </p:cNvPr>
          <p:cNvSpPr>
            <a:spLocks noGrp="1"/>
          </p:cNvSpPr>
          <p:nvPr>
            <p:ph idx="1"/>
          </p:nvPr>
        </p:nvSpPr>
        <p:spPr/>
        <p:txBody>
          <a:bodyPr/>
          <a:lstStyle/>
          <a:p>
            <a:endParaRPr lang="en-IN"/>
          </a:p>
        </p:txBody>
      </p:sp>
      <p:sp>
        <p:nvSpPr>
          <p:cNvPr id="5" name="TextBox 4">
            <a:extLst>
              <a:ext uri="{FF2B5EF4-FFF2-40B4-BE49-F238E27FC236}">
                <a16:creationId xmlns:a16="http://schemas.microsoft.com/office/drawing/2014/main" id="{91A475F9-7CD2-A24F-CDBC-572BF3808126}"/>
              </a:ext>
            </a:extLst>
          </p:cNvPr>
          <p:cNvSpPr txBox="1"/>
          <p:nvPr/>
        </p:nvSpPr>
        <p:spPr>
          <a:xfrm>
            <a:off x="3046751" y="3240586"/>
            <a:ext cx="6093500" cy="369332"/>
          </a:xfrm>
          <a:prstGeom prst="rect">
            <a:avLst/>
          </a:prstGeom>
          <a:noFill/>
        </p:spPr>
        <p:txBody>
          <a:bodyPr wrap="square">
            <a:spAutoFit/>
          </a:bodyPr>
          <a:lstStyle/>
          <a:p>
            <a:r>
              <a:rPr lang="en-IN" dirty="0"/>
              <a:t>uncertainty awareness in 3d scene for autonomous driving</a:t>
            </a:r>
          </a:p>
        </p:txBody>
      </p:sp>
    </p:spTree>
    <p:extLst>
      <p:ext uri="{BB962C8B-B14F-4D97-AF65-F5344CB8AC3E}">
        <p14:creationId xmlns:p14="http://schemas.microsoft.com/office/powerpoint/2010/main" val="2519455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6CD12CFE-09B0-48A4-9AEE-9A58E11BB892}"/>
              </a:ext>
            </a:extLst>
          </p:cNvPr>
          <p:cNvSpPr>
            <a:spLocks noGrp="1" noChangeArrowheads="1"/>
          </p:cNvSpPr>
          <p:nvPr>
            <p:ph type="title"/>
          </p:nvPr>
        </p:nvSpPr>
        <p:spPr>
          <a:xfrm>
            <a:off x="1981200" y="220663"/>
            <a:ext cx="8229600" cy="576262"/>
          </a:xfrm>
        </p:spPr>
        <p:txBody>
          <a:bodyPr>
            <a:normAutofit fontScale="90000"/>
          </a:bodyPr>
          <a:lstStyle/>
          <a:p>
            <a:r>
              <a:rPr lang="en-US" altLang="en-US"/>
              <a:t>Operating System Structure</a:t>
            </a:r>
          </a:p>
        </p:txBody>
      </p:sp>
      <p:sp>
        <p:nvSpPr>
          <p:cNvPr id="76803" name="Content Placeholder 2">
            <a:extLst>
              <a:ext uri="{FF2B5EF4-FFF2-40B4-BE49-F238E27FC236}">
                <a16:creationId xmlns:a16="http://schemas.microsoft.com/office/drawing/2014/main" id="{7C77CAAD-91EB-4676-A633-22880A53EEF1}"/>
              </a:ext>
            </a:extLst>
          </p:cNvPr>
          <p:cNvSpPr>
            <a:spLocks noGrp="1" noChangeArrowheads="1"/>
          </p:cNvSpPr>
          <p:nvPr>
            <p:ph idx="1"/>
          </p:nvPr>
        </p:nvSpPr>
        <p:spPr>
          <a:xfrm>
            <a:off x="2359026" y="1241426"/>
            <a:ext cx="6918325" cy="4530725"/>
          </a:xfrm>
        </p:spPr>
        <p:txBody>
          <a:bodyPr/>
          <a:lstStyle/>
          <a:p>
            <a:r>
              <a:rPr lang="en-US" altLang="en-US" dirty="0"/>
              <a:t>General-purpose OS is very large program</a:t>
            </a:r>
          </a:p>
          <a:p>
            <a:r>
              <a:rPr lang="en-US" altLang="en-US" dirty="0"/>
              <a:t>Various ways to structure ones</a:t>
            </a:r>
          </a:p>
          <a:p>
            <a:pPr lvl="1"/>
            <a:r>
              <a:rPr lang="en-US" altLang="en-US" dirty="0"/>
              <a:t>Simple structure – MS-DOS</a:t>
            </a:r>
          </a:p>
          <a:p>
            <a:pPr lvl="1"/>
            <a:r>
              <a:rPr lang="en-US" altLang="en-US" dirty="0"/>
              <a:t>More complex – UNIX</a:t>
            </a:r>
          </a:p>
          <a:p>
            <a:pPr lvl="1"/>
            <a:r>
              <a:rPr lang="en-US" altLang="en-US" dirty="0"/>
              <a:t>Layered – an abstraction</a:t>
            </a:r>
          </a:p>
          <a:p>
            <a:pPr lvl="1"/>
            <a:r>
              <a:rPr lang="en-US" altLang="en-US" dirty="0"/>
              <a:t>Microkernel – Mach</a:t>
            </a:r>
          </a:p>
          <a:p>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E377E7B4-9EBE-4C2B-8887-F7A7B2906CE0}"/>
              </a:ext>
            </a:extLst>
          </p:cNvPr>
          <p:cNvSpPr>
            <a:spLocks noGrp="1" noChangeArrowheads="1"/>
          </p:cNvSpPr>
          <p:nvPr>
            <p:ph type="title"/>
          </p:nvPr>
        </p:nvSpPr>
        <p:spPr>
          <a:xfrm>
            <a:off x="2393321" y="289485"/>
            <a:ext cx="8137525" cy="457200"/>
          </a:xfrm>
        </p:spPr>
        <p:txBody>
          <a:bodyPr>
            <a:normAutofit fontScale="90000"/>
          </a:bodyPr>
          <a:lstStyle/>
          <a:p>
            <a:pPr eaLnBrk="1" hangingPunct="1"/>
            <a:r>
              <a:rPr lang="en-US" altLang="en-US"/>
              <a:t>Monolithic Structure – Original UNIX</a:t>
            </a:r>
          </a:p>
        </p:txBody>
      </p:sp>
      <p:sp>
        <p:nvSpPr>
          <p:cNvPr id="77827" name="Rectangle 3">
            <a:extLst>
              <a:ext uri="{FF2B5EF4-FFF2-40B4-BE49-F238E27FC236}">
                <a16:creationId xmlns:a16="http://schemas.microsoft.com/office/drawing/2014/main" id="{FC6D798A-4128-40D0-B643-81391EF1733D}"/>
              </a:ext>
            </a:extLst>
          </p:cNvPr>
          <p:cNvSpPr>
            <a:spLocks noGrp="1" noChangeArrowheads="1"/>
          </p:cNvSpPr>
          <p:nvPr>
            <p:ph idx="1"/>
          </p:nvPr>
        </p:nvSpPr>
        <p:spPr>
          <a:xfrm>
            <a:off x="2363789" y="1155701"/>
            <a:ext cx="7743825" cy="4073525"/>
          </a:xfrm>
        </p:spPr>
        <p:txBody>
          <a:bodyPr/>
          <a:lstStyle/>
          <a:p>
            <a:r>
              <a:rPr lang="en-US" altLang="en-US" dirty="0"/>
              <a:t>UNIX – limited by hardware functionality, the original UNIX operating system had limited structuring.  </a:t>
            </a:r>
          </a:p>
          <a:p>
            <a:r>
              <a:rPr lang="en-US" altLang="en-US" dirty="0"/>
              <a:t>The UNIX OS consists of two separable parts</a:t>
            </a:r>
          </a:p>
          <a:p>
            <a:pPr lvl="1"/>
            <a:r>
              <a:rPr lang="en-US" altLang="en-US" dirty="0"/>
              <a:t>Systems programs</a:t>
            </a:r>
          </a:p>
          <a:p>
            <a:pPr lvl="1"/>
            <a:r>
              <a:rPr lang="en-US" altLang="en-US" dirty="0"/>
              <a:t>The kernel</a:t>
            </a:r>
          </a:p>
          <a:p>
            <a:pPr lvl="2"/>
            <a:r>
              <a:rPr lang="en-US" altLang="en-US" dirty="0"/>
              <a:t>Consists of everything below the system-call interface and above the physical hardware</a:t>
            </a:r>
          </a:p>
          <a:p>
            <a:pPr lvl="2"/>
            <a:r>
              <a:rPr lang="en-US" altLang="en-US" dirty="0"/>
              <a:t>Provides the file system, CPU scheduling, memory management, and other operating-system functions; a large number of functions for one level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3CFC2B06-0A35-4F30-AA6D-A9E4B2E7F3AA}"/>
              </a:ext>
            </a:extLst>
          </p:cNvPr>
          <p:cNvSpPr>
            <a:spLocks noGrp="1" noChangeArrowheads="1"/>
          </p:cNvSpPr>
          <p:nvPr>
            <p:ph type="title"/>
          </p:nvPr>
        </p:nvSpPr>
        <p:spPr>
          <a:xfrm>
            <a:off x="2387601" y="206376"/>
            <a:ext cx="7693025" cy="576263"/>
          </a:xfrm>
        </p:spPr>
        <p:txBody>
          <a:bodyPr>
            <a:normAutofit fontScale="90000"/>
          </a:bodyPr>
          <a:lstStyle/>
          <a:p>
            <a:pPr eaLnBrk="1" hangingPunct="1"/>
            <a:r>
              <a:rPr lang="en-US" altLang="en-US"/>
              <a:t>Traditional UNIX System Structure</a:t>
            </a:r>
          </a:p>
        </p:txBody>
      </p:sp>
      <p:sp>
        <p:nvSpPr>
          <p:cNvPr id="43011" name="TextBox 1">
            <a:extLst>
              <a:ext uri="{FF2B5EF4-FFF2-40B4-BE49-F238E27FC236}">
                <a16:creationId xmlns:a16="http://schemas.microsoft.com/office/drawing/2014/main" id="{5706A7FC-049C-41F9-8FDB-970715988494}"/>
              </a:ext>
            </a:extLst>
          </p:cNvPr>
          <p:cNvSpPr txBox="1">
            <a:spLocks noChangeArrowheads="1"/>
          </p:cNvSpPr>
          <p:nvPr/>
        </p:nvSpPr>
        <p:spPr bwMode="auto">
          <a:xfrm>
            <a:off x="2840039" y="1096964"/>
            <a:ext cx="68976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r>
              <a:rPr lang="en-US" altLang="en-US" dirty="0">
                <a:latin typeface="+mn-lt"/>
              </a:rPr>
              <a:t>Beyond simple but not fully layered</a:t>
            </a:r>
          </a:p>
        </p:txBody>
      </p:sp>
      <p:pic>
        <p:nvPicPr>
          <p:cNvPr id="79876" name="Picture 2">
            <a:extLst>
              <a:ext uri="{FF2B5EF4-FFF2-40B4-BE49-F238E27FC236}">
                <a16:creationId xmlns:a16="http://schemas.microsoft.com/office/drawing/2014/main" id="{0AF4FCDF-1BC0-40A0-B88F-416549435D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3169" y="1718274"/>
            <a:ext cx="6409756" cy="3872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38BB792-4B15-4757-85D3-D0B6840E07CC}"/>
              </a:ext>
            </a:extLst>
          </p:cNvPr>
          <p:cNvSpPr>
            <a:spLocks noGrp="1" noChangeArrowheads="1"/>
          </p:cNvSpPr>
          <p:nvPr>
            <p:ph type="title"/>
          </p:nvPr>
        </p:nvSpPr>
        <p:spPr>
          <a:xfrm>
            <a:off x="2387600" y="215901"/>
            <a:ext cx="7645400" cy="576263"/>
          </a:xfrm>
        </p:spPr>
        <p:txBody>
          <a:bodyPr>
            <a:normAutofit fontScale="90000"/>
          </a:bodyPr>
          <a:lstStyle/>
          <a:p>
            <a:pPr eaLnBrk="1" hangingPunct="1"/>
            <a:r>
              <a:rPr lang="en-US" altLang="en-US"/>
              <a:t>Linux System Structure</a:t>
            </a:r>
          </a:p>
        </p:txBody>
      </p:sp>
      <p:sp>
        <p:nvSpPr>
          <p:cNvPr id="81923" name="TextBox 1">
            <a:extLst>
              <a:ext uri="{FF2B5EF4-FFF2-40B4-BE49-F238E27FC236}">
                <a16:creationId xmlns:a16="http://schemas.microsoft.com/office/drawing/2014/main" id="{40FACBEC-A814-4EAA-BD5E-E6B0EC8188F9}"/>
              </a:ext>
            </a:extLst>
          </p:cNvPr>
          <p:cNvSpPr txBox="1">
            <a:spLocks noChangeArrowheads="1"/>
          </p:cNvSpPr>
          <p:nvPr/>
        </p:nvSpPr>
        <p:spPr bwMode="auto">
          <a:xfrm>
            <a:off x="2749551" y="1096964"/>
            <a:ext cx="6988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Monolithic plus modular design</a:t>
            </a:r>
          </a:p>
        </p:txBody>
      </p:sp>
      <p:pic>
        <p:nvPicPr>
          <p:cNvPr id="81924" name="Picture 3">
            <a:extLst>
              <a:ext uri="{FF2B5EF4-FFF2-40B4-BE49-F238E27FC236}">
                <a16:creationId xmlns:a16="http://schemas.microsoft.com/office/drawing/2014/main" id="{3916281A-E631-49D0-A316-EE6C756C91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9231" y="1674471"/>
            <a:ext cx="2740269" cy="4233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D347B9A-F212-4276-94F4-7598F322B291}"/>
              </a:ext>
            </a:extLst>
          </p:cNvPr>
          <p:cNvSpPr>
            <a:spLocks noGrp="1" noChangeArrowheads="1"/>
          </p:cNvSpPr>
          <p:nvPr>
            <p:ph type="title"/>
          </p:nvPr>
        </p:nvSpPr>
        <p:spPr>
          <a:xfrm>
            <a:off x="1981201" y="207963"/>
            <a:ext cx="8061325" cy="576262"/>
          </a:xfrm>
        </p:spPr>
        <p:txBody>
          <a:bodyPr>
            <a:normAutofit fontScale="90000"/>
          </a:bodyPr>
          <a:lstStyle/>
          <a:p>
            <a:pPr eaLnBrk="1" hangingPunct="1"/>
            <a:r>
              <a:rPr lang="en-US" altLang="en-US"/>
              <a:t>Layered Approach</a:t>
            </a:r>
          </a:p>
        </p:txBody>
      </p:sp>
      <p:sp>
        <p:nvSpPr>
          <p:cNvPr id="83971" name="Rectangle 3">
            <a:extLst>
              <a:ext uri="{FF2B5EF4-FFF2-40B4-BE49-F238E27FC236}">
                <a16:creationId xmlns:a16="http://schemas.microsoft.com/office/drawing/2014/main" id="{EF88837C-C3AF-4F6B-BDE3-AD82D9B29A62}"/>
              </a:ext>
            </a:extLst>
          </p:cNvPr>
          <p:cNvSpPr>
            <a:spLocks noGrp="1" noChangeArrowheads="1"/>
          </p:cNvSpPr>
          <p:nvPr>
            <p:ph idx="1"/>
          </p:nvPr>
        </p:nvSpPr>
        <p:spPr>
          <a:xfrm>
            <a:off x="2344739" y="1233489"/>
            <a:ext cx="3735387" cy="4530725"/>
          </a:xfrm>
        </p:spPr>
        <p:txBody>
          <a:bodyPr>
            <a:normAutofit fontScale="92500" lnSpcReduction="20000"/>
          </a:bodyPr>
          <a:lstStyle/>
          <a:p>
            <a:r>
              <a:rPr lang="en-US" altLang="en-US"/>
              <a:t>The operating system is divided into a number of layers (levels), each built on top of lower layers.  The bottom layer (layer 0), is the hardware; the highest (layer N) is the user interface.</a:t>
            </a:r>
          </a:p>
          <a:p>
            <a:r>
              <a:rPr lang="en-US" altLang="en-US"/>
              <a:t>With modularity, layers are selected such that each uses functions (operations) and services of only lower-level layers</a:t>
            </a:r>
          </a:p>
        </p:txBody>
      </p:sp>
      <p:pic>
        <p:nvPicPr>
          <p:cNvPr id="83972" name="Picture 2">
            <a:extLst>
              <a:ext uri="{FF2B5EF4-FFF2-40B4-BE49-F238E27FC236}">
                <a16:creationId xmlns:a16="http://schemas.microsoft.com/office/drawing/2014/main" id="{407A23F2-DA55-4CEE-97C1-871903D96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8757" y="1257727"/>
            <a:ext cx="3547958" cy="3289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877023E-2F55-41F6-99AD-606BBD5F506F}"/>
              </a:ext>
            </a:extLst>
          </p:cNvPr>
          <p:cNvSpPr>
            <a:spLocks noGrp="1" noChangeArrowheads="1"/>
          </p:cNvSpPr>
          <p:nvPr>
            <p:ph type="title"/>
          </p:nvPr>
        </p:nvSpPr>
        <p:spPr>
          <a:xfrm>
            <a:off x="2281238" y="207963"/>
            <a:ext cx="7816850" cy="576262"/>
          </a:xfrm>
        </p:spPr>
        <p:txBody>
          <a:bodyPr>
            <a:normAutofit fontScale="90000"/>
          </a:bodyPr>
          <a:lstStyle/>
          <a:p>
            <a:pPr eaLnBrk="1" hangingPunct="1"/>
            <a:r>
              <a:rPr lang="en-US" altLang="en-US"/>
              <a:t>Microkernels</a:t>
            </a:r>
            <a:endParaRPr lang="en-US" altLang="en-US" sz="2400"/>
          </a:p>
        </p:txBody>
      </p:sp>
      <p:sp>
        <p:nvSpPr>
          <p:cNvPr id="86019" name="Rectangle 3">
            <a:extLst>
              <a:ext uri="{FF2B5EF4-FFF2-40B4-BE49-F238E27FC236}">
                <a16:creationId xmlns:a16="http://schemas.microsoft.com/office/drawing/2014/main" id="{F3C84D0A-C5EC-46A8-A546-5363A149B9F9}"/>
              </a:ext>
            </a:extLst>
          </p:cNvPr>
          <p:cNvSpPr>
            <a:spLocks noGrp="1" noChangeArrowheads="1"/>
          </p:cNvSpPr>
          <p:nvPr>
            <p:ph idx="1"/>
          </p:nvPr>
        </p:nvSpPr>
        <p:spPr>
          <a:xfrm>
            <a:off x="2281239" y="1108075"/>
            <a:ext cx="7225619" cy="4857296"/>
          </a:xfrm>
        </p:spPr>
        <p:txBody>
          <a:bodyPr>
            <a:normAutofit fontScale="92500" lnSpcReduction="20000"/>
          </a:bodyPr>
          <a:lstStyle/>
          <a:p>
            <a:r>
              <a:rPr lang="en-US" altLang="en-US" dirty="0"/>
              <a:t>Moves as much from the kernel into user space</a:t>
            </a:r>
          </a:p>
          <a:p>
            <a:r>
              <a:rPr lang="en-US" altLang="en-US" b="1" dirty="0">
                <a:solidFill>
                  <a:srgbClr val="006699"/>
                </a:solidFill>
                <a:latin typeface="+mj-lt"/>
              </a:rPr>
              <a:t>Mach</a:t>
            </a:r>
            <a:r>
              <a:rPr lang="en-US" altLang="en-US" dirty="0"/>
              <a:t> is an example of </a:t>
            </a:r>
            <a:r>
              <a:rPr lang="en-US" altLang="en-US" b="1" dirty="0">
                <a:solidFill>
                  <a:srgbClr val="006699"/>
                </a:solidFill>
                <a:latin typeface="+mj-lt"/>
              </a:rPr>
              <a:t>microkernel</a:t>
            </a:r>
          </a:p>
          <a:p>
            <a:pPr lvl="1"/>
            <a:r>
              <a:rPr lang="en-US" altLang="en-US" dirty="0"/>
              <a:t>Mac OS X kernel (</a:t>
            </a:r>
            <a:r>
              <a:rPr lang="en-US" altLang="en-US" b="1" dirty="0">
                <a:solidFill>
                  <a:srgbClr val="006699"/>
                </a:solidFill>
                <a:latin typeface="+mj-lt"/>
              </a:rPr>
              <a:t>Darwin</a:t>
            </a:r>
            <a:r>
              <a:rPr lang="en-US" altLang="en-US" dirty="0"/>
              <a:t>) partly based on Mach</a:t>
            </a:r>
            <a:endParaRPr lang="en-US" altLang="en-US" sz="800" dirty="0"/>
          </a:p>
          <a:p>
            <a:r>
              <a:rPr lang="en-US" altLang="en-US" dirty="0"/>
              <a:t>Communication takes place between user modules using </a:t>
            </a:r>
            <a:r>
              <a:rPr lang="en-US" altLang="en-US" b="1" dirty="0">
                <a:solidFill>
                  <a:srgbClr val="006699"/>
                </a:solidFill>
                <a:latin typeface="+mj-lt"/>
              </a:rPr>
              <a:t>message</a:t>
            </a:r>
            <a:r>
              <a:rPr lang="en-US" altLang="en-US" b="1" dirty="0">
                <a:solidFill>
                  <a:srgbClr val="3366FF"/>
                </a:solidFill>
              </a:rPr>
              <a:t> </a:t>
            </a:r>
            <a:r>
              <a:rPr lang="en-US" altLang="en-US" b="1" dirty="0">
                <a:solidFill>
                  <a:srgbClr val="006699"/>
                </a:solidFill>
                <a:latin typeface="+mj-lt"/>
              </a:rPr>
              <a:t>passing</a:t>
            </a:r>
          </a:p>
          <a:p>
            <a:r>
              <a:rPr lang="en-US" altLang="en-US" dirty="0"/>
              <a:t>Benefits:</a:t>
            </a:r>
          </a:p>
          <a:p>
            <a:pPr lvl="1"/>
            <a:r>
              <a:rPr lang="en-US" altLang="en-US" dirty="0"/>
              <a:t>Easier to extend a microkernel</a:t>
            </a:r>
          </a:p>
          <a:p>
            <a:pPr lvl="1"/>
            <a:r>
              <a:rPr lang="en-US" altLang="en-US" dirty="0"/>
              <a:t>Easier to port the operating system to new architectures</a:t>
            </a:r>
          </a:p>
          <a:p>
            <a:pPr lvl="1"/>
            <a:r>
              <a:rPr lang="en-US" altLang="en-US" dirty="0"/>
              <a:t>More reliable (less code is running in kernel mode)</a:t>
            </a:r>
          </a:p>
          <a:p>
            <a:pPr lvl="1"/>
            <a:r>
              <a:rPr lang="en-US" altLang="en-US" dirty="0"/>
              <a:t>More secure</a:t>
            </a:r>
            <a:endParaRPr lang="en-US" altLang="en-US" sz="800" dirty="0"/>
          </a:p>
          <a:p>
            <a:r>
              <a:rPr lang="en-US" altLang="en-US" dirty="0"/>
              <a:t>Detriments:</a:t>
            </a:r>
          </a:p>
          <a:p>
            <a:pPr lvl="1"/>
            <a:r>
              <a:rPr lang="en-US" altLang="en-US" dirty="0"/>
              <a:t>Performance overhead of user space to kernel space communication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31DBEE6C-3A88-4D5B-9245-EF2BF859C9CF}"/>
              </a:ext>
            </a:extLst>
          </p:cNvPr>
          <p:cNvSpPr>
            <a:spLocks noGrp="1" noChangeArrowheads="1"/>
          </p:cNvSpPr>
          <p:nvPr>
            <p:ph type="title"/>
          </p:nvPr>
        </p:nvSpPr>
        <p:spPr>
          <a:xfrm>
            <a:off x="2681289" y="214313"/>
            <a:ext cx="7399337" cy="576262"/>
          </a:xfrm>
        </p:spPr>
        <p:txBody>
          <a:bodyPr>
            <a:normAutofit fontScale="90000"/>
          </a:bodyPr>
          <a:lstStyle/>
          <a:p>
            <a:pPr eaLnBrk="1" hangingPunct="1"/>
            <a:r>
              <a:rPr lang="en-US" altLang="en-US"/>
              <a:t>Microkernel System Structure </a:t>
            </a:r>
            <a:endParaRPr lang="en-US" altLang="en-US" sz="2400"/>
          </a:p>
        </p:txBody>
      </p:sp>
      <p:pic>
        <p:nvPicPr>
          <p:cNvPr id="88067" name="Picture 2">
            <a:extLst>
              <a:ext uri="{FF2B5EF4-FFF2-40B4-BE49-F238E27FC236}">
                <a16:creationId xmlns:a16="http://schemas.microsoft.com/office/drawing/2014/main" id="{25A0E5C8-7A5F-457D-83DE-F96A7C9EED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0229" y="1557525"/>
            <a:ext cx="6795238" cy="3283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8954A814-12BC-495B-A1ED-BBB6D763DFC8}"/>
              </a:ext>
            </a:extLst>
          </p:cNvPr>
          <p:cNvSpPr>
            <a:spLocks noGrp="1" noChangeArrowheads="1"/>
          </p:cNvSpPr>
          <p:nvPr>
            <p:ph type="title"/>
          </p:nvPr>
        </p:nvSpPr>
        <p:spPr>
          <a:xfrm>
            <a:off x="1981200" y="215901"/>
            <a:ext cx="8077200" cy="576263"/>
          </a:xfrm>
        </p:spPr>
        <p:txBody>
          <a:bodyPr>
            <a:normAutofit fontScale="90000"/>
          </a:bodyPr>
          <a:lstStyle/>
          <a:p>
            <a:pPr eaLnBrk="1" hangingPunct="1"/>
            <a:r>
              <a:rPr lang="en-US" altLang="en-US"/>
              <a:t>Modules</a:t>
            </a:r>
          </a:p>
        </p:txBody>
      </p:sp>
      <p:sp>
        <p:nvSpPr>
          <p:cNvPr id="90115" name="Rectangle 3">
            <a:extLst>
              <a:ext uri="{FF2B5EF4-FFF2-40B4-BE49-F238E27FC236}">
                <a16:creationId xmlns:a16="http://schemas.microsoft.com/office/drawing/2014/main" id="{C37B4459-CB96-4BE9-94C0-89761665269A}"/>
              </a:ext>
            </a:extLst>
          </p:cNvPr>
          <p:cNvSpPr>
            <a:spLocks noGrp="1" noChangeArrowheads="1"/>
          </p:cNvSpPr>
          <p:nvPr>
            <p:ph idx="1"/>
          </p:nvPr>
        </p:nvSpPr>
        <p:spPr>
          <a:xfrm>
            <a:off x="2330450" y="1163638"/>
            <a:ext cx="7169150" cy="4460649"/>
          </a:xfrm>
        </p:spPr>
        <p:txBody>
          <a:bodyPr/>
          <a:lstStyle/>
          <a:p>
            <a:r>
              <a:rPr lang="en-US" altLang="en-US" dirty="0"/>
              <a:t>Many modern operating systems implement </a:t>
            </a:r>
            <a:r>
              <a:rPr lang="en-US" altLang="en-US" b="1" dirty="0">
                <a:solidFill>
                  <a:srgbClr val="006699"/>
                </a:solidFill>
                <a:latin typeface="+mj-lt"/>
              </a:rPr>
              <a:t>loadable</a:t>
            </a:r>
            <a:r>
              <a:rPr lang="en-US" altLang="en-US" dirty="0"/>
              <a:t> </a:t>
            </a:r>
            <a:r>
              <a:rPr lang="en-US" altLang="en-US" b="1" dirty="0">
                <a:solidFill>
                  <a:srgbClr val="006699"/>
                </a:solidFill>
                <a:latin typeface="+mj-lt"/>
              </a:rPr>
              <a:t>kernel</a:t>
            </a:r>
            <a:r>
              <a:rPr lang="en-US" altLang="en-US" b="1" dirty="0">
                <a:solidFill>
                  <a:srgbClr val="3366FF"/>
                </a:solidFill>
              </a:rPr>
              <a:t> </a:t>
            </a:r>
            <a:r>
              <a:rPr lang="en-US" altLang="en-US" dirty="0"/>
              <a:t>mo</a:t>
            </a:r>
            <a:r>
              <a:rPr lang="en-US" altLang="en-US" b="1" dirty="0">
                <a:solidFill>
                  <a:srgbClr val="006699"/>
                </a:solidFill>
                <a:latin typeface="+mj-lt"/>
              </a:rPr>
              <a:t>dules</a:t>
            </a:r>
            <a:r>
              <a:rPr lang="en-US" altLang="en-US" b="1" dirty="0">
                <a:solidFill>
                  <a:srgbClr val="3366FF"/>
                </a:solidFill>
              </a:rPr>
              <a:t> </a:t>
            </a:r>
            <a:r>
              <a:rPr lang="en-US" altLang="en-US" dirty="0"/>
              <a:t>(</a:t>
            </a:r>
            <a:r>
              <a:rPr lang="en-US" altLang="en-US" b="1" dirty="0">
                <a:solidFill>
                  <a:srgbClr val="006699"/>
                </a:solidFill>
                <a:latin typeface="+mj-lt"/>
              </a:rPr>
              <a:t>LKMs</a:t>
            </a:r>
            <a:r>
              <a:rPr lang="en-US" altLang="en-US" dirty="0"/>
              <a:t>)</a:t>
            </a:r>
          </a:p>
          <a:p>
            <a:pPr lvl="1"/>
            <a:r>
              <a:rPr lang="en-US" altLang="en-US" dirty="0"/>
              <a:t>Uses object-oriented approach</a:t>
            </a:r>
          </a:p>
          <a:p>
            <a:pPr lvl="1"/>
            <a:r>
              <a:rPr lang="en-US" altLang="en-US" dirty="0"/>
              <a:t>Each core component is separate</a:t>
            </a:r>
          </a:p>
          <a:p>
            <a:pPr lvl="1"/>
            <a:r>
              <a:rPr lang="en-US" altLang="en-US" dirty="0"/>
              <a:t>Each talks to the others over known interfaces</a:t>
            </a:r>
          </a:p>
          <a:p>
            <a:pPr lvl="1"/>
            <a:r>
              <a:rPr lang="en-US" altLang="en-US" dirty="0"/>
              <a:t>Each is loadable as needed within the kernel</a:t>
            </a:r>
          </a:p>
          <a:p>
            <a:r>
              <a:rPr lang="en-US" altLang="en-US" dirty="0"/>
              <a:t>Overall, similar to layers but with more flexible</a:t>
            </a:r>
          </a:p>
          <a:p>
            <a:pPr lvl="1"/>
            <a:r>
              <a:rPr lang="en-US" altLang="en-US" dirty="0"/>
              <a:t>Linux, Solaris, etc.</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A0BB8BEE-979C-4417-91EE-00F82403335A}"/>
              </a:ext>
            </a:extLst>
          </p:cNvPr>
          <p:cNvSpPr>
            <a:spLocks noGrp="1" noChangeArrowheads="1"/>
          </p:cNvSpPr>
          <p:nvPr>
            <p:ph type="title"/>
          </p:nvPr>
        </p:nvSpPr>
        <p:spPr>
          <a:xfrm>
            <a:off x="1981200" y="227013"/>
            <a:ext cx="8229600" cy="576262"/>
          </a:xfrm>
        </p:spPr>
        <p:txBody>
          <a:bodyPr>
            <a:normAutofit fontScale="90000"/>
          </a:bodyPr>
          <a:lstStyle/>
          <a:p>
            <a:pPr eaLnBrk="1" hangingPunct="1"/>
            <a:r>
              <a:rPr lang="en-US" altLang="en-US"/>
              <a:t>Hybrid Systems</a:t>
            </a:r>
          </a:p>
        </p:txBody>
      </p:sp>
      <p:sp>
        <p:nvSpPr>
          <p:cNvPr id="92163" name="Rectangle 3">
            <a:extLst>
              <a:ext uri="{FF2B5EF4-FFF2-40B4-BE49-F238E27FC236}">
                <a16:creationId xmlns:a16="http://schemas.microsoft.com/office/drawing/2014/main" id="{D41C8CF6-730E-4ECC-9656-D3926F90EEBB}"/>
              </a:ext>
            </a:extLst>
          </p:cNvPr>
          <p:cNvSpPr>
            <a:spLocks noGrp="1" noChangeArrowheads="1"/>
          </p:cNvSpPr>
          <p:nvPr>
            <p:ph idx="1"/>
          </p:nvPr>
        </p:nvSpPr>
        <p:spPr>
          <a:xfrm>
            <a:off x="2330451" y="1233488"/>
            <a:ext cx="7633607" cy="4572226"/>
          </a:xfrm>
        </p:spPr>
        <p:txBody>
          <a:bodyPr>
            <a:normAutofit fontScale="92500" lnSpcReduction="10000"/>
          </a:bodyPr>
          <a:lstStyle/>
          <a:p>
            <a:r>
              <a:rPr lang="en-US" altLang="en-US" dirty="0"/>
              <a:t>Most modern operating systems are not one pure model</a:t>
            </a:r>
          </a:p>
          <a:p>
            <a:pPr lvl="1"/>
            <a:r>
              <a:rPr lang="en-US" altLang="en-US" dirty="0"/>
              <a:t>Hybrid combines multiple approaches to address performance, security, usability needs</a:t>
            </a:r>
          </a:p>
          <a:p>
            <a:pPr lvl="1"/>
            <a:r>
              <a:rPr lang="en-US" altLang="en-US" dirty="0"/>
              <a:t>Linux and Solaris kernels in kernel address space, so monolithic, plus modular for dynamic loading of functionality</a:t>
            </a:r>
          </a:p>
          <a:p>
            <a:pPr lvl="1"/>
            <a:r>
              <a:rPr lang="en-US" altLang="en-US" dirty="0"/>
              <a:t>Windows mostly monolithic, plus microkernel for different subsystem </a:t>
            </a:r>
            <a:r>
              <a:rPr lang="en-US" altLang="en-US" b="1" i="1" dirty="0"/>
              <a:t>personalities</a:t>
            </a:r>
          </a:p>
          <a:p>
            <a:r>
              <a:rPr lang="en-US" altLang="en-US" dirty="0"/>
              <a:t>Apple Mac OS X hybrid, layered, </a:t>
            </a:r>
            <a:r>
              <a:rPr lang="en-US" altLang="en-US" b="1" dirty="0">
                <a:solidFill>
                  <a:srgbClr val="006699"/>
                </a:solidFill>
                <a:latin typeface="+mj-lt"/>
              </a:rPr>
              <a:t>Aqua</a:t>
            </a:r>
            <a:r>
              <a:rPr lang="en-US" altLang="en-US" dirty="0"/>
              <a:t> UI plus </a:t>
            </a:r>
            <a:r>
              <a:rPr lang="en-US" altLang="en-US" b="1" dirty="0">
                <a:solidFill>
                  <a:srgbClr val="006699"/>
                </a:solidFill>
                <a:latin typeface="+mj-lt"/>
              </a:rPr>
              <a:t>Cocoa</a:t>
            </a:r>
            <a:r>
              <a:rPr lang="en-US" altLang="en-US" dirty="0"/>
              <a:t> programming environment</a:t>
            </a:r>
          </a:p>
          <a:p>
            <a:pPr lvl="1"/>
            <a:r>
              <a:rPr lang="en-US" altLang="en-US" dirty="0"/>
              <a:t>Below is kernel consisting of Mach microkernel and BSD Unix parts, plus I/O kit and dynamically loadable modules (called </a:t>
            </a:r>
            <a:r>
              <a:rPr lang="en-US" altLang="en-US" b="1" dirty="0">
                <a:solidFill>
                  <a:srgbClr val="006699"/>
                </a:solidFill>
                <a:latin typeface="+mj-lt"/>
              </a:rPr>
              <a:t>kernel</a:t>
            </a:r>
            <a:r>
              <a:rPr lang="en-US" altLang="en-US" b="1" dirty="0">
                <a:solidFill>
                  <a:srgbClr val="3366FF"/>
                </a:solidFill>
              </a:rPr>
              <a:t> </a:t>
            </a:r>
            <a:r>
              <a:rPr lang="en-US" altLang="en-US" b="1" dirty="0">
                <a:solidFill>
                  <a:srgbClr val="006699"/>
                </a:solidFill>
                <a:latin typeface="+mj-lt"/>
              </a:rPr>
              <a:t>extensions</a:t>
            </a:r>
            <a:r>
              <a:rPr lang="en-US" altLang="en-US"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467BA55D-7A8C-4023-B3F3-3F18F7F62918}"/>
              </a:ext>
            </a:extLst>
          </p:cNvPr>
          <p:cNvSpPr>
            <a:spLocks noGrp="1" noChangeArrowheads="1"/>
          </p:cNvSpPr>
          <p:nvPr>
            <p:ph type="title"/>
          </p:nvPr>
        </p:nvSpPr>
        <p:spPr/>
        <p:txBody>
          <a:bodyPr/>
          <a:lstStyle/>
          <a:p>
            <a:r>
              <a:rPr lang="en-US" altLang="en-US"/>
              <a:t>macOS and iOS Structure</a:t>
            </a:r>
          </a:p>
        </p:txBody>
      </p:sp>
      <p:pic>
        <p:nvPicPr>
          <p:cNvPr id="94211" name="Content Placeholder 4">
            <a:extLst>
              <a:ext uri="{FF2B5EF4-FFF2-40B4-BE49-F238E27FC236}">
                <a16:creationId xmlns:a16="http://schemas.microsoft.com/office/drawing/2014/main" id="{4C8FD787-1D63-4CDB-A6AC-662FE711E4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98914" y="1755776"/>
            <a:ext cx="4498975" cy="3705225"/>
          </a:xfr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F920D189-3A2A-4433-B759-AE4A29C629C2}"/>
              </a:ext>
            </a:extLst>
          </p:cNvPr>
          <p:cNvSpPr>
            <a:spLocks noGrp="1" noChangeArrowheads="1"/>
          </p:cNvSpPr>
          <p:nvPr>
            <p:ph type="title"/>
          </p:nvPr>
        </p:nvSpPr>
        <p:spPr/>
        <p:txBody>
          <a:bodyPr/>
          <a:lstStyle/>
          <a:p>
            <a:r>
              <a:rPr lang="en-US" altLang="en-US"/>
              <a:t>Darwin</a:t>
            </a:r>
          </a:p>
        </p:txBody>
      </p:sp>
      <p:pic>
        <p:nvPicPr>
          <p:cNvPr id="95235" name="Content Placeholder 5">
            <a:extLst>
              <a:ext uri="{FF2B5EF4-FFF2-40B4-BE49-F238E27FC236}">
                <a16:creationId xmlns:a16="http://schemas.microsoft.com/office/drawing/2014/main" id="{C076D8A7-0015-48E2-9BB0-037DED9A3F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965700" y="1393095"/>
            <a:ext cx="2959100" cy="3086100"/>
          </a:xfr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63762A3F-E3BF-4B1B-8ABF-9D43E9D3C2CF}"/>
              </a:ext>
            </a:extLst>
          </p:cNvPr>
          <p:cNvSpPr>
            <a:spLocks noGrp="1" noChangeArrowheads="1"/>
          </p:cNvSpPr>
          <p:nvPr>
            <p:ph type="title"/>
          </p:nvPr>
        </p:nvSpPr>
        <p:spPr>
          <a:xfrm>
            <a:off x="1981200" y="212726"/>
            <a:ext cx="8070850" cy="576263"/>
          </a:xfrm>
        </p:spPr>
        <p:txBody>
          <a:bodyPr>
            <a:normAutofit fontScale="90000"/>
          </a:bodyPr>
          <a:lstStyle/>
          <a:p>
            <a:pPr eaLnBrk="1" hangingPunct="1"/>
            <a:r>
              <a:rPr lang="en-US" altLang="en-US"/>
              <a:t>iOS</a:t>
            </a:r>
          </a:p>
        </p:txBody>
      </p:sp>
      <p:sp>
        <p:nvSpPr>
          <p:cNvPr id="96259" name="Rectangle 3">
            <a:extLst>
              <a:ext uri="{FF2B5EF4-FFF2-40B4-BE49-F238E27FC236}">
                <a16:creationId xmlns:a16="http://schemas.microsoft.com/office/drawing/2014/main" id="{13D559C0-E4A0-4AA2-953F-F1E8A81C31FB}"/>
              </a:ext>
            </a:extLst>
          </p:cNvPr>
          <p:cNvSpPr>
            <a:spLocks noGrp="1" noChangeArrowheads="1"/>
          </p:cNvSpPr>
          <p:nvPr>
            <p:ph idx="1"/>
          </p:nvPr>
        </p:nvSpPr>
        <p:spPr>
          <a:xfrm>
            <a:off x="2330451" y="1233489"/>
            <a:ext cx="5484813" cy="4530725"/>
          </a:xfrm>
        </p:spPr>
        <p:txBody>
          <a:bodyPr>
            <a:normAutofit fontScale="92500" lnSpcReduction="20000"/>
          </a:bodyPr>
          <a:lstStyle/>
          <a:p>
            <a:r>
              <a:rPr lang="en-US" altLang="en-US" dirty="0"/>
              <a:t>Apple mobile OS for </a:t>
            </a:r>
            <a:r>
              <a:rPr lang="en-US" altLang="en-US" b="1" i="1" dirty="0"/>
              <a:t>iPhone</a:t>
            </a:r>
            <a:r>
              <a:rPr lang="en-US" altLang="en-US" dirty="0"/>
              <a:t>, </a:t>
            </a:r>
            <a:r>
              <a:rPr lang="en-US" altLang="en-US" b="1" i="1" dirty="0"/>
              <a:t>iPad</a:t>
            </a:r>
            <a:endParaRPr lang="en-US" altLang="en-US" dirty="0"/>
          </a:p>
          <a:p>
            <a:pPr lvl="1"/>
            <a:r>
              <a:rPr lang="en-US" altLang="en-US" dirty="0"/>
              <a:t>Structured on Mac OS X, added functionality</a:t>
            </a:r>
          </a:p>
          <a:p>
            <a:pPr lvl="1"/>
            <a:r>
              <a:rPr lang="en-US" altLang="en-US" dirty="0"/>
              <a:t>Does not run OS X applications natively</a:t>
            </a:r>
          </a:p>
          <a:p>
            <a:pPr lvl="2"/>
            <a:r>
              <a:rPr lang="en-US" altLang="en-US" dirty="0"/>
              <a:t>Also runs on different CPU architecture (ARM vs. Intel)</a:t>
            </a:r>
          </a:p>
          <a:p>
            <a:pPr lvl="1"/>
            <a:r>
              <a:rPr lang="en-US" altLang="en-US" b="1" dirty="0">
                <a:solidFill>
                  <a:srgbClr val="006699"/>
                </a:solidFill>
                <a:latin typeface="+mj-lt"/>
              </a:rPr>
              <a:t>Cocoa</a:t>
            </a:r>
            <a:r>
              <a:rPr lang="en-US" altLang="en-US" b="1" dirty="0">
                <a:solidFill>
                  <a:srgbClr val="3366FF"/>
                </a:solidFill>
              </a:rPr>
              <a:t> </a:t>
            </a:r>
            <a:r>
              <a:rPr lang="en-US" altLang="en-US" b="1" dirty="0">
                <a:solidFill>
                  <a:srgbClr val="006699"/>
                </a:solidFill>
                <a:latin typeface="+mj-lt"/>
              </a:rPr>
              <a:t>Touch</a:t>
            </a:r>
            <a:r>
              <a:rPr lang="en-US" altLang="en-US" b="1" dirty="0">
                <a:solidFill>
                  <a:srgbClr val="3366FF"/>
                </a:solidFill>
              </a:rPr>
              <a:t> </a:t>
            </a:r>
            <a:r>
              <a:rPr lang="en-US" altLang="en-US" dirty="0"/>
              <a:t>Objective-C API for developing apps</a:t>
            </a:r>
          </a:p>
          <a:p>
            <a:pPr lvl="1"/>
            <a:r>
              <a:rPr lang="en-US" altLang="en-US" b="1" dirty="0">
                <a:solidFill>
                  <a:srgbClr val="006699"/>
                </a:solidFill>
                <a:latin typeface="+mj-lt"/>
              </a:rPr>
              <a:t>Media</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layer for graphics, audio, video</a:t>
            </a:r>
          </a:p>
          <a:p>
            <a:pPr lvl="1"/>
            <a:r>
              <a:rPr lang="en-US" altLang="en-US" b="1" dirty="0">
                <a:solidFill>
                  <a:srgbClr val="006699"/>
                </a:solidFill>
                <a:latin typeface="+mj-lt"/>
              </a:rPr>
              <a:t>Core</a:t>
            </a:r>
            <a:r>
              <a:rPr lang="en-US" altLang="en-US" b="1" dirty="0">
                <a:solidFill>
                  <a:srgbClr val="3366FF"/>
                </a:solidFill>
              </a:rPr>
              <a:t> </a:t>
            </a:r>
            <a:r>
              <a:rPr lang="en-US" altLang="en-US" b="1" dirty="0">
                <a:solidFill>
                  <a:srgbClr val="006699"/>
                </a:solidFill>
                <a:latin typeface="+mj-lt"/>
              </a:rPr>
              <a:t>services</a:t>
            </a:r>
            <a:r>
              <a:rPr lang="en-US" altLang="en-US" b="1" dirty="0">
                <a:solidFill>
                  <a:srgbClr val="3366FF"/>
                </a:solidFill>
              </a:rPr>
              <a:t> </a:t>
            </a:r>
            <a:r>
              <a:rPr lang="en-US" altLang="en-US" dirty="0"/>
              <a:t>provides cloud computing, databases</a:t>
            </a:r>
          </a:p>
          <a:p>
            <a:pPr lvl="1"/>
            <a:r>
              <a:rPr lang="en-US" altLang="en-US" dirty="0"/>
              <a:t>Core operating system, based on Mac OS X kernel</a:t>
            </a:r>
          </a:p>
        </p:txBody>
      </p:sp>
      <p:pic>
        <p:nvPicPr>
          <p:cNvPr id="96260" name="Picture 1" descr="2_17.pdf">
            <a:extLst>
              <a:ext uri="{FF2B5EF4-FFF2-40B4-BE49-F238E27FC236}">
                <a16:creationId xmlns:a16="http://schemas.microsoft.com/office/drawing/2014/main" id="{2E339495-3C55-43FC-A1DA-C5BF72DE9CC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15314" y="2430463"/>
            <a:ext cx="1952625" cy="204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97DAC17-7FD8-4F1D-98AA-E8448344947F}"/>
              </a:ext>
            </a:extLst>
          </p:cNvPr>
          <p:cNvSpPr>
            <a:spLocks noGrp="1" noChangeArrowheads="1"/>
          </p:cNvSpPr>
          <p:nvPr>
            <p:ph type="title"/>
          </p:nvPr>
        </p:nvSpPr>
        <p:spPr>
          <a:xfrm>
            <a:off x="1981200" y="217488"/>
            <a:ext cx="8051800" cy="576262"/>
          </a:xfrm>
        </p:spPr>
        <p:txBody>
          <a:bodyPr>
            <a:normAutofit fontScale="90000"/>
          </a:bodyPr>
          <a:lstStyle/>
          <a:p>
            <a:pPr eaLnBrk="1" hangingPunct="1"/>
            <a:r>
              <a:rPr lang="en-US" altLang="en-US"/>
              <a:t>Android</a:t>
            </a:r>
          </a:p>
        </p:txBody>
      </p:sp>
      <p:sp>
        <p:nvSpPr>
          <p:cNvPr id="98307" name="Rectangle 3">
            <a:extLst>
              <a:ext uri="{FF2B5EF4-FFF2-40B4-BE49-F238E27FC236}">
                <a16:creationId xmlns:a16="http://schemas.microsoft.com/office/drawing/2014/main" id="{83BD71DB-F618-4925-8C3A-9C2CA2E1E4A9}"/>
              </a:ext>
            </a:extLst>
          </p:cNvPr>
          <p:cNvSpPr>
            <a:spLocks noGrp="1" noChangeArrowheads="1"/>
          </p:cNvSpPr>
          <p:nvPr>
            <p:ph idx="1"/>
          </p:nvPr>
        </p:nvSpPr>
        <p:spPr>
          <a:xfrm>
            <a:off x="2362201" y="1110575"/>
            <a:ext cx="7166429" cy="4412112"/>
          </a:xfrm>
        </p:spPr>
        <p:txBody>
          <a:bodyPr>
            <a:normAutofit fontScale="77500" lnSpcReduction="20000"/>
          </a:bodyPr>
          <a:lstStyle/>
          <a:p>
            <a:r>
              <a:rPr lang="en-US" altLang="en-US" dirty="0"/>
              <a:t>Developed by Open Handset Alliance (mostly Google)</a:t>
            </a:r>
          </a:p>
          <a:p>
            <a:pPr lvl="1"/>
            <a:r>
              <a:rPr lang="en-US" altLang="en-US" dirty="0"/>
              <a:t>Open Source</a:t>
            </a:r>
          </a:p>
          <a:p>
            <a:r>
              <a:rPr lang="en-US" altLang="en-US" dirty="0"/>
              <a:t>Similar stack to iOS</a:t>
            </a:r>
          </a:p>
          <a:p>
            <a:r>
              <a:rPr lang="en-US" altLang="en-US" dirty="0"/>
              <a:t>Based on Linux kernel but modified</a:t>
            </a:r>
          </a:p>
          <a:p>
            <a:pPr lvl="1"/>
            <a:r>
              <a:rPr lang="en-US" altLang="en-US" dirty="0"/>
              <a:t>Provides process, memory, device-driver management</a:t>
            </a:r>
          </a:p>
          <a:p>
            <a:pPr lvl="1"/>
            <a:r>
              <a:rPr lang="en-US" altLang="en-US" dirty="0"/>
              <a:t>Adds power management </a:t>
            </a:r>
          </a:p>
          <a:p>
            <a:r>
              <a:rPr lang="en-US" altLang="en-US" dirty="0"/>
              <a:t>Runtime environment includes core set of libraries and Dalvik virtual machine</a:t>
            </a:r>
          </a:p>
          <a:p>
            <a:pPr lvl="1"/>
            <a:r>
              <a:rPr lang="en-US" altLang="en-US" dirty="0"/>
              <a:t>Apps developed in Java plus Android API</a:t>
            </a:r>
          </a:p>
          <a:p>
            <a:pPr lvl="2"/>
            <a:r>
              <a:rPr lang="en-US" altLang="en-US" dirty="0"/>
              <a:t>Java class files compiled to Java bytecode then translated to executable </a:t>
            </a:r>
            <a:r>
              <a:rPr lang="en-US" altLang="en-US" dirty="0" err="1"/>
              <a:t>thnn</a:t>
            </a:r>
            <a:r>
              <a:rPr lang="en-US" altLang="en-US" dirty="0"/>
              <a:t> runs in Dalvik VM</a:t>
            </a:r>
          </a:p>
          <a:p>
            <a:r>
              <a:rPr lang="en-US" altLang="en-US" dirty="0"/>
              <a:t>Libraries include frameworks for web browser (</a:t>
            </a:r>
            <a:r>
              <a:rPr lang="en-US" altLang="en-US" dirty="0" err="1"/>
              <a:t>webkit</a:t>
            </a:r>
            <a:r>
              <a:rPr lang="en-US" altLang="en-US" dirty="0"/>
              <a:t>), database (SQLite), multimedia, smaller </a:t>
            </a:r>
            <a:r>
              <a:rPr lang="en-US" altLang="en-US" dirty="0" err="1"/>
              <a:t>libc</a:t>
            </a: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FC21E0EC-5FB3-49AA-BCD8-C3D6E372FADB}"/>
              </a:ext>
            </a:extLst>
          </p:cNvPr>
          <p:cNvSpPr>
            <a:spLocks noGrp="1" noChangeArrowheads="1"/>
          </p:cNvSpPr>
          <p:nvPr>
            <p:ph type="title"/>
          </p:nvPr>
        </p:nvSpPr>
        <p:spPr>
          <a:xfrm>
            <a:off x="1981200" y="214313"/>
            <a:ext cx="8229600" cy="576262"/>
          </a:xfrm>
        </p:spPr>
        <p:txBody>
          <a:bodyPr>
            <a:normAutofit fontScale="90000"/>
          </a:bodyPr>
          <a:lstStyle/>
          <a:p>
            <a:pPr eaLnBrk="1" hangingPunct="1"/>
            <a:r>
              <a:rPr lang="en-US" altLang="en-US"/>
              <a:t>Android Architecture</a:t>
            </a:r>
          </a:p>
        </p:txBody>
      </p:sp>
      <p:pic>
        <p:nvPicPr>
          <p:cNvPr id="100355" name="Picture 2">
            <a:extLst>
              <a:ext uri="{FF2B5EF4-FFF2-40B4-BE49-F238E27FC236}">
                <a16:creationId xmlns:a16="http://schemas.microsoft.com/office/drawing/2014/main" id="{CE010BEA-C2AD-4086-B512-90CFB1E171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6275" y="1135064"/>
            <a:ext cx="3219450" cy="500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C9F5FAE9-B3B0-4D57-809D-900A4BADF1A7}"/>
              </a:ext>
            </a:extLst>
          </p:cNvPr>
          <p:cNvSpPr>
            <a:spLocks noGrp="1" noChangeArrowheads="1"/>
          </p:cNvSpPr>
          <p:nvPr>
            <p:ph type="title"/>
          </p:nvPr>
        </p:nvSpPr>
        <p:spPr>
          <a:xfrm>
            <a:off x="2556779" y="134260"/>
            <a:ext cx="8229600" cy="576263"/>
          </a:xfrm>
        </p:spPr>
        <p:txBody>
          <a:bodyPr/>
          <a:lstStyle/>
          <a:p>
            <a:pPr eaLnBrk="1" hangingPunct="1"/>
            <a:r>
              <a:rPr lang="en-US" altLang="en-US" sz="2800"/>
              <a:t>Building and Booting an Operating System</a:t>
            </a:r>
          </a:p>
        </p:txBody>
      </p:sp>
      <p:sp>
        <p:nvSpPr>
          <p:cNvPr id="102403" name="Rectangle 3">
            <a:extLst>
              <a:ext uri="{FF2B5EF4-FFF2-40B4-BE49-F238E27FC236}">
                <a16:creationId xmlns:a16="http://schemas.microsoft.com/office/drawing/2014/main" id="{7BC1B242-4FA3-45A6-A6E0-A52D65A52BBD}"/>
              </a:ext>
            </a:extLst>
          </p:cNvPr>
          <p:cNvSpPr>
            <a:spLocks noGrp="1" noChangeArrowheads="1"/>
          </p:cNvSpPr>
          <p:nvPr>
            <p:ph idx="1"/>
          </p:nvPr>
        </p:nvSpPr>
        <p:spPr>
          <a:xfrm>
            <a:off x="2409825" y="1154114"/>
            <a:ext cx="7596188" cy="4530725"/>
          </a:xfrm>
        </p:spPr>
        <p:txBody>
          <a:bodyPr>
            <a:normAutofit fontScale="92500"/>
          </a:bodyPr>
          <a:lstStyle/>
          <a:p>
            <a:r>
              <a:rPr lang="en-US" altLang="en-US" dirty="0"/>
              <a:t>Operating systems generally designed to run on a class of systems with variety of peripherals</a:t>
            </a:r>
          </a:p>
          <a:p>
            <a:r>
              <a:rPr lang="en-US" altLang="en-US" dirty="0"/>
              <a:t>Commonly, operating system already installed on purchased computer</a:t>
            </a:r>
          </a:p>
          <a:p>
            <a:pPr lvl="1"/>
            <a:r>
              <a:rPr lang="en-US" altLang="en-US" dirty="0"/>
              <a:t>But can build and install some other operating systems</a:t>
            </a:r>
          </a:p>
          <a:p>
            <a:pPr lvl="1"/>
            <a:r>
              <a:rPr lang="en-US" altLang="en-US" dirty="0"/>
              <a:t>If generating an operating system from scratch</a:t>
            </a:r>
          </a:p>
          <a:p>
            <a:pPr lvl="2"/>
            <a:r>
              <a:rPr lang="en-US" altLang="en-US" dirty="0"/>
              <a:t>Write the operating system source code</a:t>
            </a:r>
          </a:p>
          <a:p>
            <a:pPr lvl="2"/>
            <a:r>
              <a:rPr lang="en-US" altLang="en-US" dirty="0"/>
              <a:t>Configure the operating system for the system on which it will run</a:t>
            </a:r>
          </a:p>
          <a:p>
            <a:pPr lvl="2"/>
            <a:r>
              <a:rPr lang="en-US" altLang="en-US" dirty="0"/>
              <a:t>Compile the operating system</a:t>
            </a:r>
          </a:p>
          <a:p>
            <a:pPr lvl="2"/>
            <a:r>
              <a:rPr lang="en-US" altLang="en-US" dirty="0"/>
              <a:t>Install the operating system</a:t>
            </a:r>
          </a:p>
          <a:p>
            <a:pPr lvl="2"/>
            <a:r>
              <a:rPr lang="en-US" altLang="en-US" dirty="0"/>
              <a:t>Boot the computer and its new operating system</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82DD2A02-B2A8-4458-811E-DE9B33D11308}"/>
              </a:ext>
            </a:extLst>
          </p:cNvPr>
          <p:cNvSpPr>
            <a:spLocks noGrp="1" noChangeArrowheads="1"/>
          </p:cNvSpPr>
          <p:nvPr>
            <p:ph type="title"/>
          </p:nvPr>
        </p:nvSpPr>
        <p:spPr>
          <a:xfrm>
            <a:off x="2409826" y="138342"/>
            <a:ext cx="7648575" cy="576263"/>
          </a:xfrm>
        </p:spPr>
        <p:txBody>
          <a:bodyPr>
            <a:normAutofit fontScale="90000"/>
          </a:bodyPr>
          <a:lstStyle/>
          <a:p>
            <a:r>
              <a:rPr lang="en-US" altLang="en-US" dirty="0"/>
              <a:t>Building and Booting Linux</a:t>
            </a:r>
          </a:p>
        </p:txBody>
      </p:sp>
      <p:sp>
        <p:nvSpPr>
          <p:cNvPr id="104451" name="Content Placeholder 2">
            <a:extLst>
              <a:ext uri="{FF2B5EF4-FFF2-40B4-BE49-F238E27FC236}">
                <a16:creationId xmlns:a16="http://schemas.microsoft.com/office/drawing/2014/main" id="{F7DA67EF-ED36-4BB1-AB0B-F42969C15CFB}"/>
              </a:ext>
            </a:extLst>
          </p:cNvPr>
          <p:cNvSpPr>
            <a:spLocks noGrp="1" noChangeArrowheads="1"/>
          </p:cNvSpPr>
          <p:nvPr>
            <p:ph idx="1"/>
          </p:nvPr>
        </p:nvSpPr>
        <p:spPr>
          <a:xfrm>
            <a:off x="2409826" y="1233489"/>
            <a:ext cx="7648575" cy="4530725"/>
          </a:xfrm>
        </p:spPr>
        <p:txBody>
          <a:bodyPr/>
          <a:lstStyle/>
          <a:p>
            <a:r>
              <a:rPr lang="en-US" altLang="en-US" dirty="0"/>
              <a:t>Download Linux source code (</a:t>
            </a:r>
            <a:r>
              <a:rPr lang="en-US" altLang="en-US" dirty="0">
                <a:solidFill>
                  <a:srgbClr val="996600"/>
                </a:solidFill>
              </a:rPr>
              <a:t>http://www.kernel.org</a:t>
            </a:r>
            <a:r>
              <a:rPr lang="en-US" altLang="en-US" dirty="0"/>
              <a:t>)</a:t>
            </a:r>
          </a:p>
          <a:p>
            <a:r>
              <a:rPr lang="en-US" altLang="en-US" dirty="0"/>
              <a:t>Configure kernel via “</a:t>
            </a:r>
            <a:r>
              <a:rPr lang="en-US" altLang="en-US" sz="2000" dirty="0">
                <a:latin typeface="Courier New" panose="02070309020205020404" pitchFamily="49" charset="0"/>
                <a:cs typeface="Courier New" panose="02070309020205020404" pitchFamily="49" charset="0"/>
              </a:rPr>
              <a:t>make </a:t>
            </a:r>
            <a:r>
              <a:rPr lang="en-US" altLang="en-US" sz="2000" dirty="0" err="1">
                <a:latin typeface="Courier New" panose="02070309020205020404" pitchFamily="49" charset="0"/>
                <a:cs typeface="Courier New" panose="02070309020205020404" pitchFamily="49" charset="0"/>
              </a:rPr>
              <a:t>menuconfig</a:t>
            </a:r>
            <a:r>
              <a:rPr lang="en-US" altLang="en-US" dirty="0"/>
              <a:t>”</a:t>
            </a:r>
          </a:p>
          <a:p>
            <a:r>
              <a:rPr lang="en-US" altLang="en-US" dirty="0"/>
              <a:t>Compile the kernel using “</a:t>
            </a:r>
            <a:r>
              <a:rPr lang="en-US" altLang="en-US" dirty="0">
                <a:latin typeface="Courier New" panose="02070309020205020404" pitchFamily="49" charset="0"/>
                <a:cs typeface="Courier New" panose="02070309020205020404" pitchFamily="49" charset="0"/>
              </a:rPr>
              <a:t>make</a:t>
            </a:r>
            <a:r>
              <a:rPr lang="en-US" altLang="en-US" dirty="0"/>
              <a:t>”</a:t>
            </a:r>
          </a:p>
          <a:p>
            <a:pPr lvl="1"/>
            <a:r>
              <a:rPr lang="en-US" altLang="en-US" dirty="0"/>
              <a:t>Produces </a:t>
            </a:r>
            <a:r>
              <a:rPr lang="en-US" altLang="en-US" dirty="0" err="1">
                <a:latin typeface="Courier New" panose="02070309020205020404" pitchFamily="49" charset="0"/>
                <a:cs typeface="Courier New" panose="02070309020205020404" pitchFamily="49" charset="0"/>
              </a:rPr>
              <a:t>vmlinuz</a:t>
            </a:r>
            <a:r>
              <a:rPr lang="en-US" altLang="en-US" dirty="0"/>
              <a:t>, the kernel image</a:t>
            </a:r>
          </a:p>
          <a:p>
            <a:pPr lvl="1"/>
            <a:r>
              <a:rPr lang="en-US" altLang="en-US" dirty="0"/>
              <a:t>Compile kernel modules via “</a:t>
            </a:r>
            <a:r>
              <a:rPr lang="en-US" altLang="en-US" dirty="0">
                <a:latin typeface="Courier New" panose="02070309020205020404" pitchFamily="49" charset="0"/>
                <a:cs typeface="Courier New" panose="02070309020205020404" pitchFamily="49" charset="0"/>
              </a:rPr>
              <a:t>make modules</a:t>
            </a:r>
            <a:r>
              <a:rPr lang="en-US" altLang="en-US" dirty="0"/>
              <a:t>”</a:t>
            </a:r>
          </a:p>
          <a:p>
            <a:pPr lvl="1"/>
            <a:r>
              <a:rPr lang="en-US" altLang="en-US" dirty="0"/>
              <a:t>Install kernel modules into </a:t>
            </a:r>
            <a:r>
              <a:rPr lang="en-US" altLang="en-US" dirty="0" err="1">
                <a:latin typeface="Courier New" panose="02070309020205020404" pitchFamily="49" charset="0"/>
                <a:cs typeface="Courier New" panose="02070309020205020404" pitchFamily="49" charset="0"/>
              </a:rPr>
              <a:t>vmlinuz</a:t>
            </a:r>
            <a:r>
              <a:rPr lang="en-US" altLang="en-US" dirty="0"/>
              <a:t> via “</a:t>
            </a:r>
            <a:r>
              <a:rPr lang="en-US" altLang="en-US" dirty="0">
                <a:latin typeface="Courier New" panose="02070309020205020404" pitchFamily="49" charset="0"/>
                <a:cs typeface="Courier New" panose="02070309020205020404" pitchFamily="49" charset="0"/>
              </a:rPr>
              <a:t>make </a:t>
            </a:r>
            <a:r>
              <a:rPr lang="en-US" altLang="en-US" dirty="0" err="1">
                <a:latin typeface="Courier New" panose="02070309020205020404" pitchFamily="49" charset="0"/>
                <a:cs typeface="Courier New" panose="02070309020205020404" pitchFamily="49" charset="0"/>
              </a:rPr>
              <a:t>modules_install</a:t>
            </a:r>
            <a:r>
              <a:rPr lang="en-US" altLang="en-US" dirty="0"/>
              <a:t>”</a:t>
            </a:r>
          </a:p>
          <a:p>
            <a:pPr lvl="1"/>
            <a:r>
              <a:rPr lang="en-US" altLang="en-US" dirty="0"/>
              <a:t>Install new kernel on the system via “</a:t>
            </a:r>
            <a:r>
              <a:rPr lang="en-US" altLang="en-US" dirty="0">
                <a:latin typeface="Courier New" panose="02070309020205020404" pitchFamily="49" charset="0"/>
                <a:cs typeface="Courier New" panose="02070309020205020404" pitchFamily="49" charset="0"/>
              </a:rPr>
              <a:t>make install</a:t>
            </a:r>
            <a:r>
              <a:rPr lang="en-US" altLang="en-US" dirty="0"/>
              <a:t>”</a:t>
            </a:r>
          </a:p>
          <a:p>
            <a:endParaRPr lang="en-US"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B1F4D2D-A1F6-4F80-AAF7-B44F6C42031E}"/>
              </a:ext>
            </a:extLst>
          </p:cNvPr>
          <p:cNvSpPr>
            <a:spLocks noGrp="1" noChangeArrowheads="1"/>
          </p:cNvSpPr>
          <p:nvPr>
            <p:ph type="title"/>
          </p:nvPr>
        </p:nvSpPr>
        <p:spPr>
          <a:xfrm>
            <a:off x="2289176" y="142650"/>
            <a:ext cx="7820025" cy="576262"/>
          </a:xfrm>
        </p:spPr>
        <p:txBody>
          <a:bodyPr>
            <a:normAutofit fontScale="90000"/>
          </a:bodyPr>
          <a:lstStyle/>
          <a:p>
            <a:pPr eaLnBrk="1" hangingPunct="1"/>
            <a:r>
              <a:rPr lang="en-US" altLang="en-US" dirty="0"/>
              <a:t>System Boot</a:t>
            </a:r>
          </a:p>
        </p:txBody>
      </p:sp>
      <p:sp>
        <p:nvSpPr>
          <p:cNvPr id="105475" name="Rectangle 3">
            <a:extLst>
              <a:ext uri="{FF2B5EF4-FFF2-40B4-BE49-F238E27FC236}">
                <a16:creationId xmlns:a16="http://schemas.microsoft.com/office/drawing/2014/main" id="{84966C5E-EDB7-4314-801D-4E54D9A7265D}"/>
              </a:ext>
            </a:extLst>
          </p:cNvPr>
          <p:cNvSpPr>
            <a:spLocks noGrp="1" noChangeArrowheads="1"/>
          </p:cNvSpPr>
          <p:nvPr>
            <p:ph idx="1"/>
          </p:nvPr>
        </p:nvSpPr>
        <p:spPr>
          <a:xfrm>
            <a:off x="2289176" y="1038001"/>
            <a:ext cx="7580539" cy="4745942"/>
          </a:xfrm>
        </p:spPr>
        <p:txBody>
          <a:bodyPr>
            <a:normAutofit fontScale="77500" lnSpcReduction="20000"/>
          </a:bodyPr>
          <a:lstStyle/>
          <a:p>
            <a:r>
              <a:rPr lang="en-US" altLang="en-US" dirty="0"/>
              <a:t>When power initialized on system, execution starts at a fixed memory location</a:t>
            </a:r>
          </a:p>
          <a:p>
            <a:r>
              <a:rPr lang="en-US" altLang="en-US" dirty="0"/>
              <a:t>Operating system must be made available to hardware so hardware can start it</a:t>
            </a:r>
          </a:p>
          <a:p>
            <a:pPr lvl="1"/>
            <a:r>
              <a:rPr lang="en-US" altLang="en-US" dirty="0"/>
              <a:t>Small piece of code – </a:t>
            </a:r>
            <a:r>
              <a:rPr lang="en-US" altLang="en-US" b="1" dirty="0">
                <a:solidFill>
                  <a:srgbClr val="006699"/>
                </a:solidFill>
                <a:latin typeface="+mj-lt"/>
              </a:rPr>
              <a:t>bootstrap</a:t>
            </a:r>
            <a:r>
              <a:rPr lang="en-US" altLang="en-US" b="1" dirty="0">
                <a:solidFill>
                  <a:srgbClr val="3366FF"/>
                </a:solidFill>
              </a:rPr>
              <a:t> </a:t>
            </a:r>
            <a:r>
              <a:rPr lang="en-US" altLang="en-US" b="1" dirty="0">
                <a:solidFill>
                  <a:srgbClr val="006699"/>
                </a:solidFill>
                <a:latin typeface="+mj-lt"/>
              </a:rPr>
              <a:t>loader</a:t>
            </a:r>
            <a:r>
              <a:rPr lang="en-US" altLang="en-US" dirty="0"/>
              <a:t>, </a:t>
            </a:r>
            <a:r>
              <a:rPr lang="en-US" altLang="en-US" b="1" dirty="0">
                <a:solidFill>
                  <a:srgbClr val="006699"/>
                </a:solidFill>
                <a:latin typeface="+mj-lt"/>
              </a:rPr>
              <a:t>BIOS</a:t>
            </a:r>
            <a:r>
              <a:rPr lang="en-US" altLang="en-US" dirty="0"/>
              <a:t>, stored in </a:t>
            </a:r>
            <a:r>
              <a:rPr lang="en-US" altLang="en-US" b="1" dirty="0">
                <a:solidFill>
                  <a:srgbClr val="006699"/>
                </a:solidFill>
                <a:latin typeface="+mj-lt"/>
              </a:rPr>
              <a:t>ROM</a:t>
            </a:r>
            <a:r>
              <a:rPr lang="en-US" altLang="en-US" dirty="0"/>
              <a:t> or </a:t>
            </a:r>
            <a:r>
              <a:rPr lang="en-US" altLang="en-US" b="1" dirty="0">
                <a:solidFill>
                  <a:srgbClr val="006699"/>
                </a:solidFill>
                <a:latin typeface="+mj-lt"/>
              </a:rPr>
              <a:t>EEPROM</a:t>
            </a:r>
            <a:r>
              <a:rPr lang="en-US" altLang="en-US" dirty="0"/>
              <a:t> locates the kernel, loads it into memory, and starts it</a:t>
            </a:r>
          </a:p>
          <a:p>
            <a:pPr lvl="1"/>
            <a:r>
              <a:rPr lang="en-US" altLang="en-US" dirty="0"/>
              <a:t>Sometimes two-step process where </a:t>
            </a:r>
            <a:r>
              <a:rPr lang="en-US" altLang="en-US" b="1" dirty="0">
                <a:solidFill>
                  <a:srgbClr val="006699"/>
                </a:solidFill>
                <a:latin typeface="+mj-lt"/>
              </a:rPr>
              <a:t>boot</a:t>
            </a:r>
            <a:r>
              <a:rPr lang="en-US" altLang="en-US" b="1" dirty="0">
                <a:solidFill>
                  <a:srgbClr val="3366FF"/>
                </a:solidFill>
              </a:rPr>
              <a:t> </a:t>
            </a:r>
            <a:r>
              <a:rPr lang="en-US" altLang="en-US" b="1" dirty="0">
                <a:solidFill>
                  <a:srgbClr val="006699"/>
                </a:solidFill>
                <a:latin typeface="+mj-lt"/>
              </a:rPr>
              <a:t>block</a:t>
            </a:r>
            <a:r>
              <a:rPr lang="en-US" altLang="en-US" b="1" dirty="0">
                <a:solidFill>
                  <a:srgbClr val="3366FF"/>
                </a:solidFill>
              </a:rPr>
              <a:t> </a:t>
            </a:r>
            <a:r>
              <a:rPr lang="en-US" altLang="en-US" dirty="0"/>
              <a:t>at fixed location loaded by ROM code, which loads bootstrap loader from disk</a:t>
            </a:r>
          </a:p>
          <a:p>
            <a:pPr lvl="1"/>
            <a:r>
              <a:rPr lang="en-US" altLang="en-US" dirty="0"/>
              <a:t>Modern systems replace BIOS with </a:t>
            </a:r>
            <a:r>
              <a:rPr lang="en-US" altLang="en-US" b="1" dirty="0">
                <a:solidFill>
                  <a:srgbClr val="006699"/>
                </a:solidFill>
                <a:latin typeface="+mj-lt"/>
              </a:rPr>
              <a:t>Unified</a:t>
            </a:r>
            <a:r>
              <a:rPr lang="en-US" altLang="en-US" b="1" dirty="0">
                <a:solidFill>
                  <a:srgbClr val="3366FF"/>
                </a:solidFill>
              </a:rPr>
              <a:t> </a:t>
            </a:r>
            <a:r>
              <a:rPr lang="en-US" altLang="en-US" b="1" dirty="0">
                <a:solidFill>
                  <a:srgbClr val="006699"/>
                </a:solidFill>
                <a:latin typeface="+mj-lt"/>
              </a:rPr>
              <a:t>Extensible</a:t>
            </a:r>
            <a:r>
              <a:rPr lang="en-US" altLang="en-US" b="1" dirty="0">
                <a:solidFill>
                  <a:srgbClr val="3366FF"/>
                </a:solidFill>
              </a:rPr>
              <a:t> </a:t>
            </a:r>
            <a:r>
              <a:rPr lang="en-US" altLang="en-US" b="1" dirty="0">
                <a:solidFill>
                  <a:srgbClr val="006699"/>
                </a:solidFill>
                <a:latin typeface="+mj-lt"/>
              </a:rPr>
              <a:t>Firmware</a:t>
            </a:r>
            <a:r>
              <a:rPr lang="en-US" altLang="en-US" b="1" dirty="0">
                <a:solidFill>
                  <a:srgbClr val="3366FF"/>
                </a:solidFill>
              </a:rPr>
              <a:t> </a:t>
            </a:r>
            <a:r>
              <a:rPr lang="en-US" altLang="en-US" b="1" dirty="0">
                <a:solidFill>
                  <a:srgbClr val="006699"/>
                </a:solidFill>
                <a:latin typeface="+mj-lt"/>
              </a:rPr>
              <a:t>Interface</a:t>
            </a:r>
            <a:r>
              <a:rPr lang="en-US" altLang="en-US" b="1" dirty="0">
                <a:solidFill>
                  <a:srgbClr val="3366FF"/>
                </a:solidFill>
              </a:rPr>
              <a:t> </a:t>
            </a:r>
            <a:r>
              <a:rPr lang="en-US" altLang="en-US" dirty="0"/>
              <a:t>(</a:t>
            </a:r>
            <a:r>
              <a:rPr lang="en-US" altLang="en-US" b="1" dirty="0">
                <a:solidFill>
                  <a:srgbClr val="006699"/>
                </a:solidFill>
                <a:latin typeface="+mj-lt"/>
              </a:rPr>
              <a:t>UEFI</a:t>
            </a:r>
            <a:r>
              <a:rPr lang="en-US" altLang="en-US" dirty="0"/>
              <a:t>)</a:t>
            </a:r>
          </a:p>
          <a:p>
            <a:r>
              <a:rPr lang="en-US" altLang="en-US" dirty="0"/>
              <a:t>Common bootstrap loader, </a:t>
            </a:r>
            <a:r>
              <a:rPr lang="en-US" altLang="en-US" b="1" dirty="0">
                <a:solidFill>
                  <a:srgbClr val="006699"/>
                </a:solidFill>
                <a:latin typeface="+mj-lt"/>
              </a:rPr>
              <a:t>GRUB</a:t>
            </a:r>
            <a:r>
              <a:rPr lang="en-US" altLang="en-US" dirty="0"/>
              <a:t>, allows selection of kernel from multiple disks, versions, kernel options</a:t>
            </a:r>
          </a:p>
          <a:p>
            <a:r>
              <a:rPr lang="en-US" altLang="en-US" dirty="0"/>
              <a:t>Kernel loads and system is then </a:t>
            </a:r>
            <a:r>
              <a:rPr lang="en-US" altLang="en-US" b="1" dirty="0">
                <a:solidFill>
                  <a:srgbClr val="006699"/>
                </a:solidFill>
                <a:latin typeface="+mj-lt"/>
              </a:rPr>
              <a:t>running</a:t>
            </a:r>
          </a:p>
          <a:p>
            <a:r>
              <a:rPr lang="en-US" altLang="en-US" dirty="0"/>
              <a:t>Boot loaders frequently allow various boot states, such as single user mode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3148</TotalTime>
  <Words>3690</Words>
  <Application>Microsoft Office PowerPoint</Application>
  <PresentationFormat>Widescreen</PresentationFormat>
  <Paragraphs>416</Paragraphs>
  <Slides>62</Slides>
  <Notes>54</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62</vt:i4>
      </vt:variant>
    </vt:vector>
  </HeadingPairs>
  <TitlesOfParts>
    <vt:vector size="73" baseType="lpstr">
      <vt:lpstr>MS PGothic</vt:lpstr>
      <vt:lpstr>Aptos</vt:lpstr>
      <vt:lpstr>Aptos Display</vt:lpstr>
      <vt:lpstr>Arial</vt:lpstr>
      <vt:lpstr>Courier New</vt:lpstr>
      <vt:lpstr>Monotype Sorts</vt:lpstr>
      <vt:lpstr>Times New Roman</vt:lpstr>
      <vt:lpstr>Verdana</vt:lpstr>
      <vt:lpstr>Wingdings</vt:lpstr>
      <vt:lpstr>Wingdings 3</vt:lpstr>
      <vt:lpstr>Office Theme</vt:lpstr>
      <vt:lpstr>Operating System-Overview</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Computer System Organization</vt:lpstr>
      <vt:lpstr>Computer-System Operation</vt:lpstr>
      <vt:lpstr>Common Functions of Interrupts</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Memory Layout for Multiprogrammed System</vt:lpstr>
      <vt:lpstr>Dual-mode Operation</vt:lpstr>
      <vt:lpstr>Transition from User to Kernel Mode</vt:lpstr>
      <vt:lpstr>Timer</vt:lpstr>
      <vt:lpstr>Process Management</vt:lpstr>
      <vt:lpstr>Process Management Activities</vt:lpstr>
      <vt:lpstr>Memory Management</vt:lpstr>
      <vt:lpstr>File-system Management</vt:lpstr>
      <vt:lpstr>Mass-Storage Management</vt:lpstr>
      <vt:lpstr>Caching</vt:lpstr>
      <vt:lpstr>Characteristics of Various Types of Storage</vt:lpstr>
      <vt:lpstr>Migration of data “A” from Disk to Register</vt:lpstr>
      <vt:lpstr>I/O Subsystem</vt:lpstr>
      <vt:lpstr>Protection and Security</vt:lpstr>
      <vt:lpstr>Virtualization</vt:lpstr>
      <vt:lpstr>Virtualization (cont.)</vt:lpstr>
      <vt:lpstr>Computing Environments - Virtualization</vt:lpstr>
      <vt:lpstr>PowerPoint Presentation</vt:lpstr>
      <vt:lpstr>Operating System Structure</vt:lpstr>
      <vt:lpstr>Monolithic Structure – Original UNIX</vt:lpstr>
      <vt:lpstr>Traditional UNIX System Structure</vt:lpstr>
      <vt:lpstr>Linux System Structure</vt:lpstr>
      <vt:lpstr>Layered Approach</vt:lpstr>
      <vt:lpstr>Microkernels</vt:lpstr>
      <vt:lpstr>Microkernel System Structure </vt:lpstr>
      <vt:lpstr>Modules</vt:lpstr>
      <vt:lpstr>Hybrid Systems</vt:lpstr>
      <vt:lpstr>macOS and iOS Structure</vt:lpstr>
      <vt:lpstr>Darwin</vt:lpstr>
      <vt:lpstr>iOS</vt:lpstr>
      <vt:lpstr>Android</vt:lpstr>
      <vt:lpstr>Android Architecture</vt:lpstr>
      <vt:lpstr>Building and Booting an Operating System</vt:lpstr>
      <vt:lpstr>Building and Booting Linux</vt:lpstr>
      <vt:lpstr>System Boot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Sukhandeep Kaur</dc:creator>
  <cp:lastModifiedBy>Sukhandeep Kaur</cp:lastModifiedBy>
  <cp:revision>9</cp:revision>
  <dcterms:created xsi:type="dcterms:W3CDTF">2026-01-28T00:28:00Z</dcterms:created>
  <dcterms:modified xsi:type="dcterms:W3CDTF">2026-01-30T04:56:58Z</dcterms:modified>
</cp:coreProperties>
</file>