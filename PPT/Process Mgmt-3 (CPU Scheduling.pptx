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1" r:id="rId17"/>
    <p:sldId id="345" r:id="rId18"/>
    <p:sldId id="422" r:id="rId19"/>
    <p:sldId id="424" r:id="rId20"/>
    <p:sldId id="423" r:id="rId21"/>
    <p:sldId id="350" r:id="rId22"/>
    <p:sldId id="351" r:id="rId23"/>
    <p:sldId id="352" r:id="rId24"/>
    <p:sldId id="353" r:id="rId25"/>
    <p:sldId id="348" r:id="rId26"/>
    <p:sldId id="425" r:id="rId27"/>
    <p:sldId id="427" r:id="rId28"/>
    <p:sldId id="426" r:id="rId29"/>
    <p:sldId id="354" r:id="rId30"/>
    <p:sldId id="400" r:id="rId31"/>
    <p:sldId id="356" r:id="rId32"/>
    <p:sldId id="40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94660"/>
  </p:normalViewPr>
  <p:slideViewPr>
    <p:cSldViewPr snapToGrid="0">
      <p:cViewPr varScale="1">
        <p:scale>
          <a:sx n="60" d="100"/>
          <a:sy n="60" d="100"/>
        </p:scale>
        <p:origin x="-882" y="-9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7F70C5-DA78-474E-A2C6-8654BC755EDB}" type="datetimeFigureOut">
              <a:rPr lang="en-IN" smtClean="0"/>
              <a:pPr/>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9211D-DF6C-4868-AAE6-BC640C0302CA}" type="slidenum">
              <a:rPr lang="en-IN" smtClean="0"/>
              <a:pPr/>
              <a:t>‹#›</a:t>
            </a:fld>
            <a:endParaRPr lang="en-IN"/>
          </a:p>
        </p:txBody>
      </p:sp>
    </p:spTree>
    <p:extLst>
      <p:ext uri="{BB962C8B-B14F-4D97-AF65-F5344CB8AC3E}">
        <p14:creationId xmlns:p14="http://schemas.microsoft.com/office/powerpoint/2010/main" xmlns="" val="4137932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xmlns=""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xmlns=""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xmlns=""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xmlns=""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xmlns=""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xmlns=""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xmlns=""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xmlns=""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xmlns=""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xmlns=""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xmlns=""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280788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214611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xmlns=""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xmlns=""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xmlns=""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xmlns=""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xmlns=""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xmlns=""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xmlns=""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xmlns=""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xmlns=""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xmlns=""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xmlns=""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xmlns=""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xmlns=""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xmlns=""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xmlns=""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xmlns=""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xmlns=""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xmlns=""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55754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xmlns=""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xmlns=""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xmlns=""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92089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xmlns=""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xmlns=""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xmlns=""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xmlns=""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xmlns=""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xmlns=""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xmlns=""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xmlns=""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xmlns=""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xmlns=""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xmlns=""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xmlns=""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383223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xmlns=""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xmlns=""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xmlns=""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98005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xmlns=""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xmlns=""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xmlns=""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xmlns=""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xmlns=""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xmlns=""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xmlns=""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xmlns=""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xmlns=""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xmlns=""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xmlns=""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xmlns=""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xmlns=""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xmlns=""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xmlns=""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xmlns=""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xmlns=""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xmlns=""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xmlns=""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xmlns=""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xmlns=""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904063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xmlns=""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xmlns=""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xmlns=""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9750707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xmlns=""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xmlns=""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xmlns=""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xmlns=""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xmlns=""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xmlns=""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xmlns=""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xmlns=""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xmlns=""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36136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43879D-CC90-EC94-8C30-002399467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0698C96-4CEA-9079-C6F1-79CC2F5C1F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F8BB601-6319-7D62-8D64-271A308F7AA8}"/>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DCF54B4B-EB45-F7F0-2936-526ABEC255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43E6220-732D-CDB2-A220-B4D972E3C9CF}"/>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796192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233460-6546-0A0D-2663-8FD9637DEC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30D9B82-0186-F600-E37F-5B6DE0E809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6C0750A-5268-BD1B-2230-042BF975BB29}"/>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0C4DD46E-29DD-E4D1-9038-E28B645D9C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6B04D81-0309-7246-0318-BA33F35898B4}"/>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390840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E59EFB-B43D-B886-D74E-248842F3CE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6E90AD5-DBBC-2E40-DB82-73AF11BF4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5749D71-BADB-32D9-F258-B6BA82AB42BE}"/>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49CA30BC-A474-2B29-729D-FE64AC67C1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1E145F6-6BC7-7CC3-3B7E-D5EE5B11D128}"/>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339697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A1A620-E871-2C91-C93B-BE59CB17A3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C8BDA01-0577-A589-EEA6-D7BA174BA2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0484FBF2-4540-45EA-548D-ED22E11AE4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8B25ED95-A00C-C083-7B17-F698B48085BA}"/>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6" name="Footer Placeholder 5">
            <a:extLst>
              <a:ext uri="{FF2B5EF4-FFF2-40B4-BE49-F238E27FC236}">
                <a16:creationId xmlns:a16="http://schemas.microsoft.com/office/drawing/2014/main" xmlns="" id="{17AD00D2-9F72-2594-E7CA-E882EA35EB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27FD4B9-F607-85B2-5A8C-966F25238421}"/>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1136620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669B46-0E8F-9CAA-E0B2-75CE3717BF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3BF5998-DC6C-D27F-0B39-974A31DAB3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95375ED-2D44-555D-5D3E-A0362AC21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90D22393-28FC-BD0A-9C17-7E32B056A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E36113D-51EA-682B-F798-EF392EADA1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46E6DF5-B92E-34ED-C6E0-0CC8B3E2B402}"/>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8" name="Footer Placeholder 7">
            <a:extLst>
              <a:ext uri="{FF2B5EF4-FFF2-40B4-BE49-F238E27FC236}">
                <a16:creationId xmlns:a16="http://schemas.microsoft.com/office/drawing/2014/main" xmlns="" id="{3AB3DFEC-61BA-E04E-EA63-3C918DD822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53719BD4-E909-1D75-C8CE-3259260FA7BA}"/>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2150357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5AF79B-E7E5-F60A-3206-A6DB684AF4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1C7B0E43-2D1A-12DD-18CE-DC17E03D7353}"/>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4" name="Footer Placeholder 3">
            <a:extLst>
              <a:ext uri="{FF2B5EF4-FFF2-40B4-BE49-F238E27FC236}">
                <a16:creationId xmlns:a16="http://schemas.microsoft.com/office/drawing/2014/main" xmlns="" id="{47B10AF4-D9E5-C06F-9D0C-3EE58F14DEA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FA28E6B7-54B6-5604-6A11-D49E80D4ED0A}"/>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693101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24B4FD3-7AD4-9551-EEC1-EF417EF9F7D8}"/>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3" name="Footer Placeholder 2">
            <a:extLst>
              <a:ext uri="{FF2B5EF4-FFF2-40B4-BE49-F238E27FC236}">
                <a16:creationId xmlns:a16="http://schemas.microsoft.com/office/drawing/2014/main" xmlns="" id="{0DA6CC10-BCDC-FE56-604A-E4D6111D5D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4C00C12-336A-1712-B2FF-5414E646E05F}"/>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2401808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127A9C-9C56-AFA8-8D82-1049EF2A2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2E9ED91-C502-7A1F-3388-72946B6DA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05D5D3C-EA2E-1189-AAC8-5EA370F9B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94724B2-9454-A605-7189-2615B53550AD}"/>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6" name="Footer Placeholder 5">
            <a:extLst>
              <a:ext uri="{FF2B5EF4-FFF2-40B4-BE49-F238E27FC236}">
                <a16:creationId xmlns:a16="http://schemas.microsoft.com/office/drawing/2014/main" xmlns="" id="{3F24ECDC-DD3D-C628-D1EF-98C575A02A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579B918-161C-5B7C-6D71-607824B6877D}"/>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397696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08AC4-B788-200B-FB24-0068130E4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8A43B319-54CF-92D8-A1B3-4CBE7434D4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BCECA26-5DC4-9FE2-77CC-0F492A1C0D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57FFCAC-D5E4-D77C-E4EF-18F976C86585}"/>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6" name="Footer Placeholder 5">
            <a:extLst>
              <a:ext uri="{FF2B5EF4-FFF2-40B4-BE49-F238E27FC236}">
                <a16:creationId xmlns:a16="http://schemas.microsoft.com/office/drawing/2014/main" xmlns="" id="{8641D3B8-36E7-DDA0-9CB7-32490BBC98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AB8A2E9-E426-1BEA-8A7C-592184940590}"/>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2117532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AB8AB4-A6D0-763D-EA10-DEEDF38BED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6BBE35B-AD4E-D201-5427-9446E4F6BA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79A254E-14FE-82F2-C8BC-AFEAAE2B0641}"/>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250DF3BE-BE3F-6CC8-A7D5-6CC17A4617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5499889-CB26-D7BE-3355-5E64BAD0A781}"/>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2044873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DF4D202-F47F-A5BC-81D1-269E4B57C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E9D4375-0DE3-781E-707B-82D58209BD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564F52A-D8FB-AFD7-17C9-AEB7FDC2CF58}"/>
              </a:ext>
            </a:extLst>
          </p:cNvPr>
          <p:cNvSpPr>
            <a:spLocks noGrp="1"/>
          </p:cNvSpPr>
          <p:nvPr>
            <p:ph type="dt" sz="half" idx="10"/>
          </p:nvPr>
        </p:nvSpPr>
        <p:spPr/>
        <p:txBody>
          <a:body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FABE3D5C-3BF3-942C-4DE8-2BD09434EF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9D39105-A4B0-51A2-15DC-87923BED6842}"/>
              </a:ext>
            </a:extLst>
          </p:cNvPr>
          <p:cNvSpPr>
            <a:spLocks noGrp="1"/>
          </p:cNvSpPr>
          <p:nvPr>
            <p:ph type="sldNum" sz="quarter" idx="12"/>
          </p:nvPr>
        </p:nvSpPr>
        <p:spPr/>
        <p:txBody>
          <a:body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1384795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10D7104-F3C7-7D9E-0EFF-C0CAC9685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1C70515-9755-D0B7-8576-F7048B04F6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0B8BEF2-CA89-973D-FF3F-7D956EBBC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CC0AE1-10D7-40FD-B161-5F9D66F92A5B}" type="datetimeFigureOut">
              <a:rPr lang="en-IN" smtClean="0"/>
              <a:pPr/>
              <a:t>10-03-2026</a:t>
            </a:fld>
            <a:endParaRPr lang="en-IN"/>
          </a:p>
        </p:txBody>
      </p:sp>
      <p:sp>
        <p:nvSpPr>
          <p:cNvPr id="5" name="Footer Placeholder 4">
            <a:extLst>
              <a:ext uri="{FF2B5EF4-FFF2-40B4-BE49-F238E27FC236}">
                <a16:creationId xmlns:a16="http://schemas.microsoft.com/office/drawing/2014/main" xmlns="" id="{E2A3F618-FFA2-64E2-40D6-EE8CF5C29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3877DE70-479D-D43C-FCBC-99145AF979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7D7706-051E-4601-B0D5-51CBE38FD6E4}" type="slidenum">
              <a:rPr lang="en-IN" smtClean="0"/>
              <a:pPr/>
              <a:t>‹#›</a:t>
            </a:fld>
            <a:endParaRPr lang="en-IN"/>
          </a:p>
        </p:txBody>
      </p:sp>
    </p:spTree>
    <p:extLst>
      <p:ext uri="{BB962C8B-B14F-4D97-AF65-F5344CB8AC3E}">
        <p14:creationId xmlns:p14="http://schemas.microsoft.com/office/powerpoint/2010/main" xmlns="" val="3594125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F51712-8A37-4A02-FF08-1D32669D19E8}"/>
              </a:ext>
            </a:extLst>
          </p:cNvPr>
          <p:cNvSpPr>
            <a:spLocks noGrp="1"/>
          </p:cNvSpPr>
          <p:nvPr>
            <p:ph type="ctrTitle"/>
          </p:nvPr>
        </p:nvSpPr>
        <p:spPr/>
        <p:txBody>
          <a:bodyPr/>
          <a:lstStyle/>
          <a:p>
            <a:r>
              <a:rPr lang="en-IN" dirty="0"/>
              <a:t>Process Mgmt-3 (CPU Scheduling</a:t>
            </a:r>
          </a:p>
        </p:txBody>
      </p:sp>
      <p:sp>
        <p:nvSpPr>
          <p:cNvPr id="3" name="Subtitle 2">
            <a:extLst>
              <a:ext uri="{FF2B5EF4-FFF2-40B4-BE49-F238E27FC236}">
                <a16:creationId xmlns:a16="http://schemas.microsoft.com/office/drawing/2014/main" xmlns="" id="{2453C201-E4A1-3B96-D01C-2EF66D58C92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xmlns="" val="4269508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xmlns="" id="{94B4645F-2E7F-4FF4-B07A-CC49BE5E143C}"/>
              </a:ext>
            </a:extLst>
          </p:cNvPr>
          <p:cNvSpPr>
            <a:spLocks noGrp="1" noChangeArrowheads="1"/>
          </p:cNvSpPr>
          <p:nvPr>
            <p:ph type="title"/>
          </p:nvPr>
        </p:nvSpPr>
        <p:spPr>
          <a:xfrm>
            <a:off x="2438400" y="222868"/>
            <a:ext cx="7772400" cy="576262"/>
          </a:xfrm>
        </p:spPr>
        <p:txBody>
          <a:bodyPr>
            <a:normAutofit fontScale="90000"/>
          </a:bodyPr>
          <a:lstStyle/>
          <a:p>
            <a:pPr eaLnBrk="1" hangingPunct="1"/>
            <a:r>
              <a:rPr lang="en-US" altLang="en-US" dirty="0"/>
              <a:t>Outline</a:t>
            </a:r>
          </a:p>
        </p:txBody>
      </p:sp>
      <p:sp>
        <p:nvSpPr>
          <p:cNvPr id="7170" name="Rectangle 3">
            <a:extLst>
              <a:ext uri="{FF2B5EF4-FFF2-40B4-BE49-F238E27FC236}">
                <a16:creationId xmlns:a16="http://schemas.microsoft.com/office/drawing/2014/main" xmlns="" id="{8762292C-9CCE-49EA-9062-F046A880FAC9}"/>
              </a:ext>
            </a:extLst>
          </p:cNvPr>
          <p:cNvSpPr>
            <a:spLocks noGrp="1" noChangeArrowheads="1"/>
          </p:cNvSpPr>
          <p:nvPr>
            <p:ph type="body" idx="1"/>
          </p:nvPr>
        </p:nvSpPr>
        <p:spPr>
          <a:xfrm>
            <a:off x="2381250" y="1195389"/>
            <a:ext cx="7335838" cy="3773487"/>
          </a:xfrm>
        </p:spPr>
        <p:txBody>
          <a:bodyPr>
            <a:normAutofit lnSpcReduction="10000"/>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xmlns="" id="{BA2D33B9-5D6A-48BD-BC85-C1B098FA91BE}"/>
              </a:ext>
            </a:extLst>
          </p:cNvPr>
          <p:cNvSpPr>
            <a:spLocks noGrp="1"/>
          </p:cNvSpPr>
          <p:nvPr>
            <p:ph type="title"/>
          </p:nvPr>
        </p:nvSpPr>
        <p:spPr>
          <a:xfrm>
            <a:off x="1981200" y="222868"/>
            <a:ext cx="8229600" cy="576262"/>
          </a:xfrm>
        </p:spPr>
        <p:txBody>
          <a:bodyPr>
            <a:normAutofit fontScale="90000"/>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xmlns="" id="{3DAC903C-4247-4B47-AD8D-48C1A580FDF4}"/>
              </a:ext>
            </a:extLst>
          </p:cNvPr>
          <p:cNvSpPr>
            <a:spLocks noGrp="1"/>
          </p:cNvSpPr>
          <p:nvPr>
            <p:ph idx="1"/>
          </p:nvPr>
        </p:nvSpPr>
        <p:spPr>
          <a:xfrm>
            <a:off x="2376841" y="1233490"/>
            <a:ext cx="7575863" cy="4400395"/>
          </a:xfrm>
        </p:spPr>
        <p:txBody>
          <a:bodyPr>
            <a:normAutofit fontScale="92500"/>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xmlns="" id="{AC8CABCD-F408-4385-AC6D-CB5E8038C31B}"/>
              </a:ext>
            </a:extLst>
          </p:cNvPr>
          <p:cNvSpPr>
            <a:spLocks noGrp="1" noChangeArrowheads="1"/>
          </p:cNvSpPr>
          <p:nvPr>
            <p:ph type="title"/>
          </p:nvPr>
        </p:nvSpPr>
        <p:spPr>
          <a:xfrm>
            <a:off x="1981200" y="223450"/>
            <a:ext cx="8229600" cy="576262"/>
          </a:xfrm>
        </p:spPr>
        <p:txBody>
          <a:bodyPr>
            <a:normAutofit fontScale="90000"/>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xmlns="" id="{B2D356C4-1B27-4D4C-8A80-D241E2CD7B36}"/>
              </a:ext>
            </a:extLst>
          </p:cNvPr>
          <p:cNvSpPr>
            <a:spLocks noGrp="1" noChangeArrowheads="1"/>
          </p:cNvSpPr>
          <p:nvPr>
            <p:ph type="body" idx="1"/>
          </p:nvPr>
        </p:nvSpPr>
        <p:spPr>
          <a:xfrm>
            <a:off x="2365376" y="1274764"/>
            <a:ext cx="3978275" cy="5057775"/>
          </a:xfrm>
        </p:spPr>
        <p:txBody>
          <a:bodyPr>
            <a:normAutofit lnSpcReduction="10000"/>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xmlns="" id="{42D4194B-20FB-49DE-95E2-D3F1F7D61B94}"/>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910388" y="1169989"/>
            <a:ext cx="2603500" cy="4846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xmlns="" id="{272FB29C-A265-4A5A-90F0-4EA35A17174F}"/>
              </a:ext>
            </a:extLst>
          </p:cNvPr>
          <p:cNvSpPr>
            <a:spLocks noGrp="1" noChangeArrowheads="1"/>
          </p:cNvSpPr>
          <p:nvPr>
            <p:ph type="title"/>
          </p:nvPr>
        </p:nvSpPr>
        <p:spPr>
          <a:xfrm>
            <a:off x="2590800" y="222868"/>
            <a:ext cx="7620000" cy="576262"/>
          </a:xfrm>
        </p:spPr>
        <p:txBody>
          <a:bodyPr>
            <a:normAutofit fontScale="90000"/>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xmlns="" id="{199A0D9E-EDB0-4B00-B274-814CD65DE927}"/>
              </a:ext>
            </a:extLst>
          </p:cNvPr>
          <p:cNvSpPr txBox="1">
            <a:spLocks noChangeArrowheads="1"/>
          </p:cNvSpPr>
          <p:nvPr/>
        </p:nvSpPr>
        <p:spPr bwMode="auto">
          <a:xfrm>
            <a:off x="2803526" y="1323975"/>
            <a:ext cx="3725863"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xmlns="" id="{A278EA04-1701-4441-AB9A-E05347064EE2}"/>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41764" y="2479676"/>
            <a:ext cx="4922837" cy="2944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2362200" y="229606"/>
            <a:ext cx="7848600" cy="576262"/>
          </a:xfrm>
        </p:spPr>
        <p:txBody>
          <a:bodyPr>
            <a:normAutofit fontScale="90000"/>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type="body" idx="1"/>
          </p:nvPr>
        </p:nvSpPr>
        <p:spPr>
          <a:xfrm>
            <a:off x="2362201" y="1169989"/>
            <a:ext cx="7227276" cy="4808781"/>
          </a:xfrm>
        </p:spPr>
        <p:txBody>
          <a:bodyPr>
            <a:normAutofit fontScale="85000" lnSpcReduction="10000"/>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type="body" idx="1"/>
          </p:nvPr>
        </p:nvSpPr>
        <p:spPr>
          <a:xfrm>
            <a:off x="2455985" y="1193435"/>
            <a:ext cx="6828692" cy="4707181"/>
          </a:xfrm>
        </p:spPr>
        <p:txBody>
          <a:bodyPr>
            <a:normAutofit fontScale="92500" lnSpcReduction="10000"/>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xmlns=""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type="body" idx="1"/>
          </p:nvPr>
        </p:nvSpPr>
        <p:spPr>
          <a:xfrm>
            <a:off x="2455985" y="1193435"/>
            <a:ext cx="6273800" cy="4621212"/>
          </a:xfrm>
        </p:spPr>
        <p:txBody>
          <a:bodyPr>
            <a:normAutofit lnSpcReduction="10000"/>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xmlns=""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xmlns="" id="{C185CC1F-4F14-4AFD-8E13-6930EBB32CE9}"/>
              </a:ext>
            </a:extLst>
          </p:cNvPr>
          <p:cNvSpPr>
            <a:spLocks noGrp="1" noChangeArrowheads="1"/>
          </p:cNvSpPr>
          <p:nvPr>
            <p:ph type="title"/>
          </p:nvPr>
        </p:nvSpPr>
        <p:spPr>
          <a:xfrm>
            <a:off x="1981200" y="217330"/>
            <a:ext cx="8229600" cy="576263"/>
          </a:xfrm>
        </p:spPr>
        <p:txBody>
          <a:bodyPr>
            <a:normAutofit fontScale="90000"/>
          </a:bodyPr>
          <a:lstStyle/>
          <a:p>
            <a:pPr eaLnBrk="1" hangingPunct="1"/>
            <a:r>
              <a:rPr lang="en-US" altLang="en-US" dirty="0"/>
              <a:t>Dispatcher</a:t>
            </a:r>
          </a:p>
        </p:txBody>
      </p:sp>
      <p:sp>
        <p:nvSpPr>
          <p:cNvPr id="17410" name="Rectangle 3">
            <a:extLst>
              <a:ext uri="{FF2B5EF4-FFF2-40B4-BE49-F238E27FC236}">
                <a16:creationId xmlns:a16="http://schemas.microsoft.com/office/drawing/2014/main" xmlns="" id="{E113DAE6-D3A7-45EF-87B5-890976FCB8D4}"/>
              </a:ext>
            </a:extLst>
          </p:cNvPr>
          <p:cNvSpPr>
            <a:spLocks noGrp="1" noChangeArrowheads="1"/>
          </p:cNvSpPr>
          <p:nvPr>
            <p:ph type="body" idx="1"/>
          </p:nvPr>
        </p:nvSpPr>
        <p:spPr>
          <a:xfrm>
            <a:off x="2373083" y="1119236"/>
            <a:ext cx="4754548" cy="4515661"/>
          </a:xfrm>
        </p:spPr>
        <p:txBody>
          <a:bodyPr>
            <a:normAutofit fontScale="92500" lnSpcReduction="10000"/>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a:t>
            </a:r>
            <a:r>
              <a:rPr lang="en-US" altLang="en-US" dirty="0">
                <a:solidFill>
                  <a:srgbClr val="FF0000"/>
                </a:solidFill>
              </a:rPr>
              <a:t>time it takes for the dispatcher to stop one process and start another running</a:t>
            </a:r>
          </a:p>
        </p:txBody>
      </p:sp>
      <p:pic>
        <p:nvPicPr>
          <p:cNvPr id="17411" name="Picture 1">
            <a:extLst>
              <a:ext uri="{FF2B5EF4-FFF2-40B4-BE49-F238E27FC236}">
                <a16:creationId xmlns:a16="http://schemas.microsoft.com/office/drawing/2014/main" xmlns="" id="{4B24D036-ECCD-4EE8-9908-C3EEA54E5CE0}"/>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80824" y="1109785"/>
            <a:ext cx="5424942" cy="36484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xmlns="" id="{684BC100-CBCD-4FBD-A30F-9EBDD59CA0FB}"/>
              </a:ext>
            </a:extLst>
          </p:cNvPr>
          <p:cNvSpPr>
            <a:spLocks noGrp="1" noChangeArrowheads="1"/>
          </p:cNvSpPr>
          <p:nvPr>
            <p:ph type="title"/>
          </p:nvPr>
        </p:nvSpPr>
        <p:spPr>
          <a:xfrm>
            <a:off x="2514600" y="214313"/>
            <a:ext cx="7696200" cy="576262"/>
          </a:xfrm>
        </p:spPr>
        <p:txBody>
          <a:bodyPr>
            <a:normAutofit fontScale="90000"/>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xmlns="" id="{4338C466-115B-47DE-A288-6C7152DF0770}"/>
              </a:ext>
            </a:extLst>
          </p:cNvPr>
          <p:cNvSpPr>
            <a:spLocks noGrp="1" noChangeArrowheads="1"/>
          </p:cNvSpPr>
          <p:nvPr>
            <p:ph type="body" idx="1"/>
          </p:nvPr>
        </p:nvSpPr>
        <p:spPr>
          <a:xfrm>
            <a:off x="2373086" y="1246189"/>
            <a:ext cx="6692761" cy="4904520"/>
          </a:xfrm>
        </p:spPr>
        <p:txBody>
          <a:bodyPr>
            <a:normAutofit fontScale="92500"/>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xmlns="" id="{A22DB2EC-3AE5-4A50-BF1F-F8FE7B96CE4B}"/>
              </a:ext>
            </a:extLst>
          </p:cNvPr>
          <p:cNvSpPr>
            <a:spLocks noGrp="1" noChangeArrowheads="1"/>
          </p:cNvSpPr>
          <p:nvPr>
            <p:ph type="title"/>
          </p:nvPr>
        </p:nvSpPr>
        <p:spPr>
          <a:xfrm>
            <a:off x="2947451"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xmlns="" id="{DA102F21-0BD1-4162-8066-37183DF9B945}"/>
              </a:ext>
            </a:extLst>
          </p:cNvPr>
          <p:cNvSpPr>
            <a:spLocks noGrp="1" noChangeArrowheads="1"/>
          </p:cNvSpPr>
          <p:nvPr>
            <p:ph type="body" idx="1"/>
          </p:nvPr>
        </p:nvSpPr>
        <p:spPr>
          <a:xfrm>
            <a:off x="2376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xmlns="" id="{A3AF8A99-5400-4B88-80AE-AE6C448E0574}"/>
              </a:ext>
            </a:extLst>
          </p:cNvPr>
          <p:cNvSpPr>
            <a:spLocks noGrp="1" noChangeArrowheads="1"/>
          </p:cNvSpPr>
          <p:nvPr>
            <p:ph type="title"/>
          </p:nvPr>
        </p:nvSpPr>
        <p:spPr>
          <a:xfrm>
            <a:off x="2631397" y="287515"/>
            <a:ext cx="7997825" cy="457200"/>
          </a:xfrm>
        </p:spPr>
        <p:txBody>
          <a:bodyPr>
            <a:normAutofit fontScale="90000"/>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xmlns="" id="{00593719-A5A4-4326-8529-37EC324927D6}"/>
              </a:ext>
            </a:extLst>
          </p:cNvPr>
          <p:cNvSpPr>
            <a:spLocks noGrp="1" noChangeArrowheads="1"/>
          </p:cNvSpPr>
          <p:nvPr>
            <p:ph type="body" idx="1"/>
          </p:nvPr>
        </p:nvSpPr>
        <p:spPr>
          <a:xfrm>
            <a:off x="2357439" y="1250950"/>
            <a:ext cx="7566025" cy="4114800"/>
          </a:xfrm>
        </p:spPr>
        <p:txBody>
          <a:bodyPr>
            <a:normAutofit fontScale="77500" lnSpcReduction="20000"/>
          </a:bodyPr>
          <a:lstStyle/>
          <a:p>
            <a:pPr>
              <a:buNone/>
              <a:tabLst>
                <a:tab pos="3028950" algn="ctr"/>
                <a:tab pos="4633913" algn="ctr"/>
              </a:tabLst>
            </a:pPr>
            <a:r>
              <a:rPr lang="en-US" altLang="en-US" sz="1600"/>
              <a:t>		</a:t>
            </a:r>
            <a:r>
              <a:rPr lang="en-US" altLang="en-US" u="sng"/>
              <a:t>Process</a:t>
            </a:r>
            <a:r>
              <a:rPr lang="en-US" altLang="en-US"/>
              <a:t>	</a:t>
            </a:r>
            <a:r>
              <a:rPr lang="en-US" altLang="en-US" u="sng"/>
              <a:t>Burst Time	</a:t>
            </a:r>
          </a:p>
          <a:p>
            <a:pPr>
              <a:buNone/>
              <a:tabLst>
                <a:tab pos="3028950" algn="ctr"/>
                <a:tab pos="4633913" algn="ctr"/>
              </a:tabLst>
            </a:pPr>
            <a:r>
              <a:rPr lang="en-US" altLang="en-US"/>
              <a:t>		 </a:t>
            </a:r>
            <a:r>
              <a:rPr lang="en-US" altLang="en-US" i="1"/>
              <a:t>P</a:t>
            </a:r>
            <a:r>
              <a:rPr lang="en-US" altLang="en-US" i="1" baseline="-25000"/>
              <a:t>1</a:t>
            </a:r>
            <a:r>
              <a:rPr lang="en-US" altLang="en-US"/>
              <a:t>	24</a:t>
            </a:r>
          </a:p>
          <a:p>
            <a:pPr>
              <a:buNone/>
              <a:tabLst>
                <a:tab pos="3028950" algn="ctr"/>
                <a:tab pos="4633913" algn="ctr"/>
              </a:tabLst>
            </a:pPr>
            <a:r>
              <a:rPr lang="en-US" altLang="en-US"/>
              <a:t>		 </a:t>
            </a:r>
            <a:r>
              <a:rPr lang="en-US" altLang="en-US" i="1"/>
              <a:t>P</a:t>
            </a:r>
            <a:r>
              <a:rPr lang="en-US" altLang="en-US" i="1" baseline="-25000"/>
              <a:t>2</a:t>
            </a:r>
            <a:r>
              <a:rPr lang="en-US" altLang="en-US"/>
              <a:t> 	3</a:t>
            </a:r>
          </a:p>
          <a:p>
            <a:pPr>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buNone/>
              <a:tabLst>
                <a:tab pos="3028950" algn="ctr"/>
                <a:tab pos="4633913" algn="ctr"/>
              </a:tabLst>
            </a:pPr>
            <a:endParaRPr lang="en-US" altLang="en-US" sz="1600"/>
          </a:p>
          <a:p>
            <a:pPr>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xmlns="" id="{6693C49E-F1BF-40FA-ACEB-79D52B112DBB}"/>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695575" y="3479800"/>
            <a:ext cx="6954838" cy="801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xmlns="" id="{624DA10D-55B3-4B35-A002-F73DC17E003A}"/>
              </a:ext>
            </a:extLst>
          </p:cNvPr>
          <p:cNvSpPr>
            <a:spLocks noGrp="1" noChangeArrowheads="1"/>
          </p:cNvSpPr>
          <p:nvPr>
            <p:ph type="title"/>
          </p:nvPr>
        </p:nvSpPr>
        <p:spPr>
          <a:xfrm>
            <a:off x="2506664" y="231158"/>
            <a:ext cx="7704137" cy="576262"/>
          </a:xfrm>
        </p:spPr>
        <p:txBody>
          <a:bodyPr>
            <a:normAutofit fontScale="90000"/>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xmlns="" id="{332EE341-968F-42D6-9F71-9462061509EC}"/>
              </a:ext>
            </a:extLst>
          </p:cNvPr>
          <p:cNvSpPr>
            <a:spLocks noGrp="1" noChangeArrowheads="1"/>
          </p:cNvSpPr>
          <p:nvPr>
            <p:ph type="body" idx="1"/>
          </p:nvPr>
        </p:nvSpPr>
        <p:spPr>
          <a:xfrm>
            <a:off x="2379664" y="1233489"/>
            <a:ext cx="7704137" cy="4530725"/>
          </a:xfrm>
        </p:spPr>
        <p:txBody>
          <a:bodyPr>
            <a:normAutofit fontScale="62500" lnSpcReduction="20000"/>
          </a:bodyPr>
          <a:lstStyle/>
          <a:p>
            <a:pPr>
              <a:buNone/>
              <a:tabLst>
                <a:tab pos="3649345" algn="ctr"/>
              </a:tabLst>
              <a:defRPr/>
            </a:pPr>
            <a:r>
              <a:rPr lang="en-US" altLang="en-US" dirty="0">
                <a:cs typeface="ＭＳ Ｐゴシック" charset="-128"/>
              </a:rPr>
              <a:t>Suppose that the processes arrive in the order:</a:t>
            </a:r>
          </a:p>
          <a:p>
            <a:pPr>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a:tabLst>
                <a:tab pos="3649345" algn="ctr"/>
              </a:tabLst>
              <a:defRPr/>
            </a:pPr>
            <a:r>
              <a:rPr lang="en-US" dirty="0"/>
              <a:t>The </a:t>
            </a:r>
            <a:r>
              <a:rPr lang="en-US" b="1" dirty="0"/>
              <a:t>Convoy Effect</a:t>
            </a:r>
            <a:r>
              <a:rPr lang="en-US" dirty="0"/>
              <a:t> happens when a </a:t>
            </a:r>
            <a:r>
              <a:rPr lang="en-US" b="1" dirty="0"/>
              <a:t>large (CPU-bound) process occupies the CPU for a long time</a:t>
            </a:r>
            <a:r>
              <a:rPr lang="en-US" dirty="0"/>
              <a:t>, while </a:t>
            </a:r>
            <a:r>
              <a:rPr lang="en-US" b="1" dirty="0"/>
              <a:t>smaller (I/O-bound) processes are forced to wait</a:t>
            </a:r>
            <a:r>
              <a:rPr lang="en-US" dirty="0"/>
              <a:t>, forming a queue like a convoy (group moving together slowly).</a:t>
            </a:r>
            <a:endParaRPr lang="en-US" altLang="en-US" dirty="0">
              <a:cs typeface="ＭＳ Ｐゴシック" charset="-128"/>
            </a:endParaRPr>
          </a:p>
          <a:p>
            <a:pPr lvl="1">
              <a:tabLst>
                <a:tab pos="3649345" algn="ctr"/>
              </a:tabLst>
              <a:defRPr/>
            </a:pPr>
            <a:r>
              <a:rPr lang="en-US" altLang="en-US" dirty="0"/>
              <a:t>Consider one CPU-bound and many I/O-bound processes</a:t>
            </a:r>
          </a:p>
          <a:p>
            <a:pPr marL="457200" lvl="1" indent="0">
              <a:buNone/>
              <a:tabLst>
                <a:tab pos="3649345" algn="ctr"/>
              </a:tabLst>
              <a:defRPr/>
            </a:pPr>
            <a:endParaRPr lang="en-US" altLang="en-US" dirty="0"/>
          </a:p>
        </p:txBody>
      </p:sp>
      <p:pic>
        <p:nvPicPr>
          <p:cNvPr id="25603" name="Picture 1">
            <a:extLst>
              <a:ext uri="{FF2B5EF4-FFF2-40B4-BE49-F238E27FC236}">
                <a16:creationId xmlns:a16="http://schemas.microsoft.com/office/drawing/2014/main" xmlns="" id="{AA51E2F7-6758-4662-8420-58D4F08902A5}"/>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794001" y="2632076"/>
            <a:ext cx="7123113" cy="804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xmlns="" id="{75370DA6-23EE-4245-8D59-2BE3CA11205A}"/>
              </a:ext>
            </a:extLst>
          </p:cNvPr>
          <p:cNvSpPr>
            <a:spLocks noGrp="1" noChangeArrowheads="1"/>
          </p:cNvSpPr>
          <p:nvPr>
            <p:ph type="title"/>
          </p:nvPr>
        </p:nvSpPr>
        <p:spPr>
          <a:xfrm>
            <a:off x="2632910" y="129252"/>
            <a:ext cx="7704137" cy="576262"/>
          </a:xfrm>
        </p:spPr>
        <p:txBody>
          <a:bodyPr>
            <a:normAutofit fontScale="90000"/>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xmlns="" id="{823814F7-CEBB-4A55-80A1-4EA7BB1EEA9B}"/>
              </a:ext>
            </a:extLst>
          </p:cNvPr>
          <p:cNvSpPr>
            <a:spLocks noGrp="1" noChangeArrowheads="1"/>
          </p:cNvSpPr>
          <p:nvPr>
            <p:ph type="body" idx="1"/>
          </p:nvPr>
        </p:nvSpPr>
        <p:spPr>
          <a:xfrm>
            <a:off x="2345094" y="1233489"/>
            <a:ext cx="6760325" cy="4345509"/>
          </a:xfrm>
        </p:spPr>
        <p:txBody>
          <a:bodyPr>
            <a:normAutofit fontScale="92500" lnSpcReduction="10000"/>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xmlns=""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xmlns="" id="{A3AF8A99-5400-4B88-80AE-AE6C448E0574}"/>
              </a:ext>
            </a:extLst>
          </p:cNvPr>
          <p:cNvSpPr>
            <a:spLocks noGrp="1" noChangeArrowheads="1"/>
          </p:cNvSpPr>
          <p:nvPr>
            <p:ph type="title"/>
          </p:nvPr>
        </p:nvSpPr>
        <p:spPr>
          <a:xfrm>
            <a:off x="2631397" y="287515"/>
            <a:ext cx="7997825" cy="457200"/>
          </a:xfrm>
        </p:spPr>
        <p:txBody>
          <a:bodyPr>
            <a:normAutofit fontScale="90000"/>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xmlns="" id="{00593719-A5A4-4326-8529-37EC324927D6}"/>
              </a:ext>
            </a:extLst>
          </p:cNvPr>
          <p:cNvSpPr>
            <a:spLocks noGrp="1" noChangeArrowheads="1"/>
          </p:cNvSpPr>
          <p:nvPr>
            <p:ph type="body" idx="1"/>
          </p:nvPr>
        </p:nvSpPr>
        <p:spPr>
          <a:xfrm>
            <a:off x="2357438" y="1250950"/>
            <a:ext cx="7788048" cy="4594679"/>
          </a:xfrm>
        </p:spPr>
        <p:txBody>
          <a:bodyPr>
            <a:normAutofit fontScale="92500" lnSpcReduction="20000"/>
          </a:bodyPr>
          <a:lstStyle/>
          <a:p>
            <a:pPr>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buNone/>
              <a:tabLst>
                <a:tab pos="3028950" algn="ctr"/>
                <a:tab pos="4633913" algn="ctr"/>
              </a:tabLst>
            </a:pPr>
            <a:endParaRPr lang="en-US" altLang="en-US" i="1" baseline="-25000" dirty="0"/>
          </a:p>
          <a:p>
            <a:pPr>
              <a:tabLst>
                <a:tab pos="3028950" algn="ctr"/>
                <a:tab pos="4633913" algn="ctr"/>
              </a:tabLst>
            </a:pPr>
            <a:r>
              <a:rPr lang="en-US" altLang="en-US" dirty="0"/>
              <a:t>SJF scheduling chart</a:t>
            </a:r>
            <a:br>
              <a:rPr lang="en-US" altLang="en-US"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endParaRPr lang="en-US" altLang="en-US" sz="1600" dirty="0"/>
          </a:p>
          <a:p>
            <a:pPr marL="0" indent="0">
              <a:buNone/>
              <a:tabLst>
                <a:tab pos="3028950" algn="ctr"/>
                <a:tab pos="4633913" algn="ctr"/>
              </a:tabLst>
            </a:pPr>
            <a:endParaRPr lang="en-US" altLang="en-US" dirty="0"/>
          </a:p>
          <a:p>
            <a:pPr>
              <a:tabLst>
                <a:tab pos="3028950" algn="ctr"/>
                <a:tab pos="4633913" algn="ctr"/>
              </a:tabLst>
            </a:pPr>
            <a:r>
              <a:rPr lang="en-US" altLang="en-US" dirty="0"/>
              <a:t>Average waiting time = (3 + 16 + 9 + 0) / 4 = 7</a:t>
            </a:r>
          </a:p>
        </p:txBody>
      </p:sp>
      <p:pic>
        <p:nvPicPr>
          <p:cNvPr id="5" name="Picture 1">
            <a:extLst>
              <a:ext uri="{FF2B5EF4-FFF2-40B4-BE49-F238E27FC236}">
                <a16:creationId xmlns:a16="http://schemas.microsoft.com/office/drawing/2014/main" xmlns="" id="{DADC6AF8-4597-4452-983E-FCBE4FEE15E2}"/>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050952" y="3755574"/>
            <a:ext cx="6093760" cy="8273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51022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xmlns="" id="{7A3CFFB8-E2A9-4251-9DDA-A9BF289B2979}"/>
              </a:ext>
            </a:extLst>
          </p:cNvPr>
          <p:cNvSpPr>
            <a:spLocks noGrp="1" noChangeArrowheads="1"/>
          </p:cNvSpPr>
          <p:nvPr>
            <p:ph type="title"/>
          </p:nvPr>
        </p:nvSpPr>
        <p:spPr>
          <a:xfrm>
            <a:off x="2511629" y="165919"/>
            <a:ext cx="8249492" cy="611187"/>
          </a:xfrm>
        </p:spPr>
        <p:txBody>
          <a:bodyPr>
            <a:normAutofit fontScale="90000"/>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xmlns="" id="{8340EA5D-E641-4F83-8451-8011ACC73F79}"/>
              </a:ext>
            </a:extLst>
          </p:cNvPr>
          <p:cNvSpPr>
            <a:spLocks noGrp="1" noChangeArrowheads="1"/>
          </p:cNvSpPr>
          <p:nvPr>
            <p:ph type="body" idx="1"/>
          </p:nvPr>
        </p:nvSpPr>
        <p:spPr>
          <a:xfrm>
            <a:off x="2326434" y="1233489"/>
            <a:ext cx="7681167" cy="4935537"/>
          </a:xfrm>
        </p:spPr>
        <p:txBody>
          <a:bodyPr>
            <a:normAutofit fontScale="92500" lnSpcReduction="10000"/>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burst</a:t>
            </a: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None/>
              <a:defRPr/>
            </a:pPr>
            <a:endParaRPr lang="en-US" altLang="en-US" dirty="0">
              <a:cs typeface="ＭＳ Ｐゴシック" charset="-128"/>
            </a:endParaRPr>
          </a:p>
          <a:p>
            <a:pPr marL="0" indent="0">
              <a:buNone/>
              <a:defRPr/>
            </a:pPr>
            <a:endParaRPr lang="en-US" altLang="en-US" dirty="0">
              <a:cs typeface="ＭＳ Ｐゴシック" charset="-128"/>
            </a:endParaRPr>
          </a:p>
          <a:p>
            <a:pPr>
              <a:defRPr/>
            </a:pPr>
            <a:r>
              <a:rPr lang="en-US" altLang="en-US" dirty="0">
                <a:cs typeface="ＭＳ Ｐゴシック" charset="-128"/>
              </a:rPr>
              <a:t>Commonly, </a:t>
            </a:r>
            <a:r>
              <a:rPr lang="en-US" altLang="en-US" dirty="0">
                <a:latin typeface="Lucida Grande" pitchFamily="-84" charset="0"/>
                <a:cs typeface="ＭＳ Ｐゴシック" charset="-128"/>
              </a:rPr>
              <a:t>α </a:t>
            </a:r>
            <a:r>
              <a:rPr lang="en-US" altLang="en-US" dirty="0">
                <a:cs typeface="ＭＳ Ｐゴシック" charset="-128"/>
              </a:rPr>
              <a:t>set to ½</a:t>
            </a:r>
          </a:p>
        </p:txBody>
      </p:sp>
      <p:pic>
        <p:nvPicPr>
          <p:cNvPr id="31748" name="Picture 1">
            <a:extLst>
              <a:ext uri="{FF2B5EF4-FFF2-40B4-BE49-F238E27FC236}">
                <a16:creationId xmlns:a16="http://schemas.microsoft.com/office/drawing/2014/main" xmlns="" id="{E328DB97-6C8D-4434-AF77-5C40A02A2876}"/>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4137022" y="3782501"/>
            <a:ext cx="2451100" cy="573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xmlns="" id="{427B0884-5EC4-48E6-847A-70815D91C373}"/>
              </a:ext>
            </a:extLst>
          </p:cNvPr>
          <p:cNvPicPr>
            <a:picLocks noChangeAspect="1"/>
          </p:cNvPicPr>
          <p:nvPr/>
        </p:nvPicPr>
        <p:blipFill>
          <a:blip r:embed="rId4"/>
          <a:stretch>
            <a:fillRect/>
          </a:stretch>
        </p:blipFill>
        <p:spPr>
          <a:xfrm>
            <a:off x="6970578" y="4355589"/>
            <a:ext cx="445770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xmlns="" id="{3ABB015E-7AD3-4A84-AE93-94E9C1B95CA6}"/>
              </a:ext>
            </a:extLst>
          </p:cNvPr>
          <p:cNvSpPr>
            <a:spLocks noGrp="1" noChangeArrowheads="1"/>
          </p:cNvSpPr>
          <p:nvPr>
            <p:ph type="title"/>
          </p:nvPr>
        </p:nvSpPr>
        <p:spPr>
          <a:xfrm>
            <a:off x="2334949" y="131829"/>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xmlns="" id="{13C6E507-3240-4702-A49A-38E2AFA029A1}"/>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92501" y="1598614"/>
            <a:ext cx="5470525" cy="3965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xmlns="" id="{D9F41D91-5CCD-4C10-BD4B-8757760950E9}"/>
              </a:ext>
            </a:extLst>
          </p:cNvPr>
          <p:cNvSpPr>
            <a:spLocks noGrp="1" noChangeArrowheads="1"/>
          </p:cNvSpPr>
          <p:nvPr>
            <p:ph type="title"/>
          </p:nvPr>
        </p:nvSpPr>
        <p:spPr>
          <a:xfrm>
            <a:off x="2699461" y="229606"/>
            <a:ext cx="7451725" cy="576262"/>
          </a:xfrm>
        </p:spPr>
        <p:txBody>
          <a:bodyPr>
            <a:normAutofit fontScale="90000"/>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xmlns="" id="{D651A984-67C5-468C-8F88-230FFA867BD5}"/>
              </a:ext>
            </a:extLst>
          </p:cNvPr>
          <p:cNvSpPr>
            <a:spLocks noGrp="1" noChangeArrowheads="1"/>
          </p:cNvSpPr>
          <p:nvPr>
            <p:ph type="body" idx="1"/>
          </p:nvPr>
        </p:nvSpPr>
        <p:spPr>
          <a:xfrm>
            <a:off x="2317102" y="1233489"/>
            <a:ext cx="7834083" cy="4530725"/>
          </a:xfrm>
        </p:spPr>
        <p:txBody>
          <a:bodyPr>
            <a:normAutofit fontScale="92500" lnSpcReduction="20000"/>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xmlns="" id="{75370DA6-23EE-4245-8D59-2BE3CA11205A}"/>
              </a:ext>
            </a:extLst>
          </p:cNvPr>
          <p:cNvSpPr>
            <a:spLocks noGrp="1" noChangeArrowheads="1"/>
          </p:cNvSpPr>
          <p:nvPr>
            <p:ph type="title"/>
          </p:nvPr>
        </p:nvSpPr>
        <p:spPr>
          <a:xfrm>
            <a:off x="2724350"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xmlns="" id="{823814F7-CEBB-4A55-80A1-4EA7BB1EEA9B}"/>
              </a:ext>
            </a:extLst>
          </p:cNvPr>
          <p:cNvSpPr>
            <a:spLocks noGrp="1" noChangeArrowheads="1"/>
          </p:cNvSpPr>
          <p:nvPr>
            <p:ph type="body" idx="1"/>
          </p:nvPr>
        </p:nvSpPr>
        <p:spPr>
          <a:xfrm>
            <a:off x="2345094" y="1139970"/>
            <a:ext cx="8387863"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Tree>
    <p:extLst>
      <p:ext uri="{BB962C8B-B14F-4D97-AF65-F5344CB8AC3E}">
        <p14:creationId xmlns:p14="http://schemas.microsoft.com/office/powerpoint/2010/main" xmlns="" val="2452641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xmlns="" id="{E841C6C2-8CFF-4FDC-A9E1-6B260CB17106}"/>
              </a:ext>
            </a:extLst>
          </p:cNvPr>
          <p:cNvSpPr>
            <a:spLocks noGrp="1" noChangeArrowheads="1"/>
          </p:cNvSpPr>
          <p:nvPr>
            <p:ph type="title"/>
          </p:nvPr>
        </p:nvSpPr>
        <p:spPr>
          <a:xfrm>
            <a:off x="2882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xmlns="" id="{F6B280F4-20CD-4AA5-887B-A75AC06E0F7C}"/>
              </a:ext>
            </a:extLst>
          </p:cNvPr>
          <p:cNvSpPr>
            <a:spLocks noGrp="1" noChangeArrowheads="1"/>
          </p:cNvSpPr>
          <p:nvPr>
            <p:ph type="body" idx="1"/>
          </p:nvPr>
        </p:nvSpPr>
        <p:spPr>
          <a:xfrm>
            <a:off x="2326434" y="1233489"/>
            <a:ext cx="7707085" cy="4530725"/>
          </a:xfrm>
        </p:spPr>
        <p:txBody>
          <a:bodyPr>
            <a:normAutofit fontScale="77500" lnSpcReduction="20000"/>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xmlns="" id="{100802A9-2833-4519-B21E-A1B2D0AF971D}"/>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970214" y="4284663"/>
            <a:ext cx="6535737" cy="80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2618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xmlns="" id="{0C539CA8-5BE8-4B08-A540-B4382F3C2212}"/>
              </a:ext>
            </a:extLst>
          </p:cNvPr>
          <p:cNvSpPr>
            <a:spLocks noGrp="1" noChangeArrowheads="1"/>
          </p:cNvSpPr>
          <p:nvPr>
            <p:ph type="title"/>
          </p:nvPr>
        </p:nvSpPr>
        <p:spPr>
          <a:xfrm>
            <a:off x="1981200" y="153418"/>
            <a:ext cx="8229600" cy="576262"/>
          </a:xfrm>
        </p:spPr>
        <p:txBody>
          <a:bodyPr>
            <a:normAutofit fontScale="90000"/>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xmlns="" id="{8A6C6617-67BF-4484-A025-320FA2994436}"/>
              </a:ext>
            </a:extLst>
          </p:cNvPr>
          <p:cNvSpPr>
            <a:spLocks noGrp="1" noChangeArrowheads="1"/>
          </p:cNvSpPr>
          <p:nvPr>
            <p:ph type="body" idx="1"/>
          </p:nvPr>
        </p:nvSpPr>
        <p:spPr>
          <a:xfrm>
            <a:off x="1031620" y="1552952"/>
            <a:ext cx="8577075" cy="4381822"/>
          </a:xfrm>
        </p:spPr>
        <p:txBody>
          <a:bodyPr>
            <a:normAutofit fontScale="85000" lnSpcReduction="20000"/>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xmlns="" id="{6DF101FA-59C2-4431-9504-FC73D47453BC}"/>
              </a:ext>
            </a:extLst>
          </p:cNvPr>
          <p:cNvSpPr>
            <a:spLocks noGrp="1" noChangeArrowheads="1"/>
          </p:cNvSpPr>
          <p:nvPr>
            <p:ph type="title"/>
          </p:nvPr>
        </p:nvSpPr>
        <p:spPr>
          <a:xfrm>
            <a:off x="3118430" y="0"/>
            <a:ext cx="8418610" cy="647700"/>
          </a:xfrm>
        </p:spPr>
        <p:txBody>
          <a:bodyPr>
            <a:normAutofit fontScale="90000"/>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xmlns="" id="{E17EE130-D776-4D6D-84E6-F464A160ACBF}"/>
              </a:ext>
            </a:extLst>
          </p:cNvPr>
          <p:cNvSpPr>
            <a:spLocks noGrp="1" noChangeArrowheads="1"/>
          </p:cNvSpPr>
          <p:nvPr>
            <p:ph type="body" idx="1"/>
          </p:nvPr>
        </p:nvSpPr>
        <p:spPr>
          <a:xfrm>
            <a:off x="2478088" y="1193800"/>
            <a:ext cx="7460707" cy="4639841"/>
          </a:xfrm>
        </p:spPr>
        <p:txBody>
          <a:bodyPr>
            <a:normAutofit fontScale="85000" lnSpcReduction="20000"/>
          </a:bodyPr>
          <a:lstStyle/>
          <a:p>
            <a:pPr>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buNone/>
              <a:tabLst>
                <a:tab pos="2219325" algn="ctr"/>
                <a:tab pos="3994150" algn="ctr"/>
              </a:tabLst>
            </a:pPr>
            <a:r>
              <a:rPr lang="en-US" altLang="en-US" i="1" dirty="0"/>
              <a:t>		P</a:t>
            </a:r>
            <a:r>
              <a:rPr lang="en-US" altLang="en-US" i="1" baseline="-25000" dirty="0"/>
              <a:t>1	</a:t>
            </a:r>
            <a:r>
              <a:rPr lang="en-US" altLang="en-US" dirty="0"/>
              <a:t>24</a:t>
            </a:r>
          </a:p>
          <a:p>
            <a:pPr>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tabLst>
                <a:tab pos="2219325" algn="ctr"/>
                <a:tab pos="3994150" algn="ctr"/>
              </a:tabLst>
            </a:pPr>
            <a:r>
              <a:rPr lang="en-US" altLang="en-US" dirty="0"/>
              <a:t>Typically, higher average turnaround than SJF, but better </a:t>
            </a:r>
            <a:r>
              <a:rPr lang="en-US" altLang="en-US" b="1" i="1" dirty="0"/>
              <a:t>response</a:t>
            </a:r>
          </a:p>
          <a:p>
            <a:pPr>
              <a:tabLst>
                <a:tab pos="2219325" algn="ctr"/>
                <a:tab pos="3994150" algn="ctr"/>
              </a:tabLst>
            </a:pPr>
            <a:r>
              <a:rPr lang="en-US" altLang="en-US" dirty="0"/>
              <a:t>q should be large compared to context switch time</a:t>
            </a:r>
          </a:p>
          <a:p>
            <a:pPr lvl="1">
              <a:tabLst>
                <a:tab pos="2219325" algn="ctr"/>
                <a:tab pos="3994150" algn="ctr"/>
              </a:tabLst>
            </a:pPr>
            <a:r>
              <a:rPr lang="en-US" altLang="en-US" dirty="0"/>
              <a:t>q usually 10 milliseconds  to 100 milliseconds, </a:t>
            </a:r>
          </a:p>
          <a:p>
            <a:pPr lvl="1">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xmlns="" id="{0835376E-2FE4-439A-B19A-4C86254AE5E6}"/>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922589" y="2926443"/>
            <a:ext cx="6770687" cy="788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xmlns="" id="{14D05664-D904-4350-AFC8-65EA9CF0431F}"/>
              </a:ext>
            </a:extLst>
          </p:cNvPr>
          <p:cNvSpPr>
            <a:spLocks noGrp="1" noChangeArrowheads="1"/>
          </p:cNvSpPr>
          <p:nvPr>
            <p:ph type="title"/>
          </p:nvPr>
        </p:nvSpPr>
        <p:spPr>
          <a:xfrm>
            <a:off x="2809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xmlns="" id="{3018707B-932C-4506-B190-526E13C48538}"/>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092450" y="1890714"/>
            <a:ext cx="6630988" cy="2770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xmlns="" id="{A4B4E05D-43D4-46FF-8EED-AA150E4C753C}"/>
              </a:ext>
            </a:extLst>
          </p:cNvPr>
          <p:cNvSpPr>
            <a:spLocks noGrp="1" noChangeArrowheads="1"/>
          </p:cNvSpPr>
          <p:nvPr>
            <p:ph type="title"/>
          </p:nvPr>
        </p:nvSpPr>
        <p:spPr>
          <a:xfrm>
            <a:off x="2306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xmlns="" id="{39A4C5F4-2866-44DE-AC4E-665A67CEF2FC}"/>
              </a:ext>
            </a:extLst>
          </p:cNvPr>
          <p:cNvSpPr txBox="1">
            <a:spLocks noChangeArrowheads="1"/>
          </p:cNvSpPr>
          <p:nvPr/>
        </p:nvSpPr>
        <p:spPr bwMode="auto">
          <a:xfrm>
            <a:off x="7691439" y="3354389"/>
            <a:ext cx="2312987" cy="49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xmlns="" id="{D2AB9074-3E6B-4C59-9AF1-F5390D98DA03}"/>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68588" y="1557339"/>
            <a:ext cx="4684712" cy="3894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xmlns="" id="{97EB9085-4F50-4C0E-A2E6-8B8193DC54B9}"/>
              </a:ext>
            </a:extLst>
          </p:cNvPr>
          <p:cNvSpPr>
            <a:spLocks noGrp="1" noChangeArrowheads="1"/>
          </p:cNvSpPr>
          <p:nvPr>
            <p:ph type="title"/>
          </p:nvPr>
        </p:nvSpPr>
        <p:spPr>
          <a:xfrm>
            <a:off x="2487614" y="109861"/>
            <a:ext cx="7723187" cy="576262"/>
          </a:xfrm>
        </p:spPr>
        <p:txBody>
          <a:bodyPr>
            <a:normAutofit fontScale="90000"/>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xmlns="" id="{328AB413-1FAE-4AEC-A110-AFD45B9A75C2}"/>
              </a:ext>
            </a:extLst>
          </p:cNvPr>
          <p:cNvSpPr>
            <a:spLocks noGrp="1" noChangeArrowheads="1"/>
          </p:cNvSpPr>
          <p:nvPr>
            <p:ph type="body" idx="1"/>
          </p:nvPr>
        </p:nvSpPr>
        <p:spPr>
          <a:xfrm>
            <a:off x="2345094" y="1233489"/>
            <a:ext cx="7723186" cy="4530725"/>
          </a:xfrm>
        </p:spPr>
        <p:txBody>
          <a:bodyPr>
            <a:normAutofit fontScale="85000" lnSpcReduction="20000"/>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xmlns="" id="{BD1CE599-A709-401F-8DD0-F7F4CCB2DDF1}"/>
              </a:ext>
            </a:extLst>
          </p:cNvPr>
          <p:cNvSpPr>
            <a:spLocks noGrp="1" noChangeArrowheads="1"/>
          </p:cNvSpPr>
          <p:nvPr>
            <p:ph type="title"/>
          </p:nvPr>
        </p:nvSpPr>
        <p:spPr>
          <a:xfrm>
            <a:off x="2930526" y="136087"/>
            <a:ext cx="7280275" cy="576262"/>
          </a:xfrm>
        </p:spPr>
        <p:txBody>
          <a:bodyPr>
            <a:normAutofit fontScale="90000"/>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xmlns="" id="{CDADF2B2-580D-4F09-8A23-D969CD614667}"/>
              </a:ext>
            </a:extLst>
          </p:cNvPr>
          <p:cNvSpPr>
            <a:spLocks noGrp="1" noChangeArrowheads="1"/>
          </p:cNvSpPr>
          <p:nvPr>
            <p:ph type="body" idx="1"/>
          </p:nvPr>
        </p:nvSpPr>
        <p:spPr>
          <a:xfrm>
            <a:off x="2330450" y="1233488"/>
            <a:ext cx="7973868" cy="4907539"/>
          </a:xfrm>
          <a:noFill/>
        </p:spPr>
        <p:txBody>
          <a:bodyPr>
            <a:normAutofit fontScale="85000" lnSpcReduction="20000"/>
          </a:bodyPr>
          <a:lstStyle/>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xmlns="" id="{A77EE5E1-F152-4172-9935-567FC2AB99C8}"/>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321051" y="4400551"/>
            <a:ext cx="6467475" cy="752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xmlns="" id="{CDE24674-CB1D-4389-9B31-B04F87B0ABF8}"/>
              </a:ext>
            </a:extLst>
          </p:cNvPr>
          <p:cNvSpPr>
            <a:spLocks noGrp="1" noChangeArrowheads="1"/>
          </p:cNvSpPr>
          <p:nvPr>
            <p:ph type="title"/>
          </p:nvPr>
        </p:nvSpPr>
        <p:spPr>
          <a:xfrm>
            <a:off x="2976826" y="137006"/>
            <a:ext cx="7280275" cy="576262"/>
          </a:xfrm>
        </p:spPr>
        <p:txBody>
          <a:bodyPr>
            <a:normAutofit fontScale="90000"/>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xmlns="" id="{2105BD44-B36B-488F-9B4A-6D230FFCC50A}"/>
              </a:ext>
            </a:extLst>
          </p:cNvPr>
          <p:cNvSpPr>
            <a:spLocks noGrp="1" noChangeArrowheads="1"/>
          </p:cNvSpPr>
          <p:nvPr>
            <p:ph type="body" idx="1"/>
          </p:nvPr>
        </p:nvSpPr>
        <p:spPr>
          <a:xfrm>
            <a:off x="2330451" y="1142048"/>
            <a:ext cx="7675077" cy="4887912"/>
          </a:xfrm>
          <a:noFill/>
        </p:spPr>
        <p:txBody>
          <a:bodyPr>
            <a:normAutofit fontScale="92500"/>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xmlns="" id="{E776F08C-5E1F-44C8-AB6B-D21CDC72CD10}"/>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4996389" y="6096422"/>
            <a:ext cx="6200925" cy="7246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231695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xmlns="" id="{AF43CD99-B0BB-4EB6-B798-512BB1BA6A01}"/>
              </a:ext>
            </a:extLst>
          </p:cNvPr>
          <p:cNvSpPr>
            <a:spLocks noGrp="1" noChangeArrowheads="1"/>
          </p:cNvSpPr>
          <p:nvPr>
            <p:ph type="title"/>
          </p:nvPr>
        </p:nvSpPr>
        <p:spPr>
          <a:xfrm>
            <a:off x="2184400" y="181838"/>
            <a:ext cx="8026400" cy="576262"/>
          </a:xfrm>
        </p:spPr>
        <p:txBody>
          <a:bodyPr>
            <a:normAutofit fontScale="90000"/>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xmlns="" id="{ABB3FE17-4C94-4A31-A709-AB137253300C}"/>
              </a:ext>
            </a:extLst>
          </p:cNvPr>
          <p:cNvSpPr>
            <a:spLocks noGrp="1" noChangeArrowheads="1"/>
          </p:cNvSpPr>
          <p:nvPr>
            <p:ph type="body" idx="1"/>
          </p:nvPr>
        </p:nvSpPr>
        <p:spPr>
          <a:xfrm>
            <a:off x="2354425"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xmlns="" val="3206840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xmlns="" id="{1CD96B60-8A48-434B-B0B3-7D137B28C363}"/>
              </a:ext>
            </a:extLst>
          </p:cNvPr>
          <p:cNvSpPr>
            <a:spLocks noGrp="1" noChangeArrowheads="1"/>
          </p:cNvSpPr>
          <p:nvPr>
            <p:ph type="title"/>
          </p:nvPr>
        </p:nvSpPr>
        <p:spPr>
          <a:xfrm>
            <a:off x="2497138" y="219305"/>
            <a:ext cx="7713662" cy="576262"/>
          </a:xfrm>
        </p:spPr>
        <p:txBody>
          <a:bodyPr>
            <a:normAutofit fontScale="90000"/>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xmlns="" id="{1C367D1A-7DE2-4C9D-8F9F-8D980F3D95B0}"/>
              </a:ext>
            </a:extLst>
          </p:cNvPr>
          <p:cNvSpPr>
            <a:spLocks noGrp="1" noChangeArrowheads="1"/>
          </p:cNvSpPr>
          <p:nvPr>
            <p:ph type="body" idx="1"/>
          </p:nvPr>
        </p:nvSpPr>
        <p:spPr>
          <a:xfrm>
            <a:off x="2335764" y="1068389"/>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xmlns="" id="{B29FEE3D-3750-4508-92A3-9B9E46FECE1F}"/>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82836" y="2892426"/>
            <a:ext cx="3073400" cy="339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xmlns="" id="{6F1CB462-9D7D-4499-AF00-7FB8FBEF7A03}"/>
              </a:ext>
            </a:extLst>
          </p:cNvPr>
          <p:cNvSpPr>
            <a:spLocks noGrp="1"/>
          </p:cNvSpPr>
          <p:nvPr>
            <p:ph type="title"/>
          </p:nvPr>
        </p:nvSpPr>
        <p:spPr>
          <a:xfrm>
            <a:off x="2414429" y="215191"/>
            <a:ext cx="7880350" cy="576262"/>
          </a:xfrm>
        </p:spPr>
        <p:txBody>
          <a:bodyPr>
            <a:normAutofit fontScale="90000"/>
          </a:bodyPr>
          <a:lstStyle/>
          <a:p>
            <a:r>
              <a:rPr lang="en-US" altLang="en-US" dirty="0"/>
              <a:t>Multilevel Queue</a:t>
            </a:r>
          </a:p>
        </p:txBody>
      </p:sp>
      <p:sp>
        <p:nvSpPr>
          <p:cNvPr id="56322" name="Content Placeholder 2">
            <a:extLst>
              <a:ext uri="{FF2B5EF4-FFF2-40B4-BE49-F238E27FC236}">
                <a16:creationId xmlns:a16="http://schemas.microsoft.com/office/drawing/2014/main" xmlns=""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xmlns="" id="{E45EDF43-47DE-4E7F-B77E-5ED79D91AC0C}"/>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3851223" y="3064578"/>
            <a:ext cx="5583238" cy="2970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xmlns="" id="{AF43CD99-B0BB-4EB6-B798-512BB1BA6A01}"/>
              </a:ext>
            </a:extLst>
          </p:cNvPr>
          <p:cNvSpPr>
            <a:spLocks noGrp="1" noChangeArrowheads="1"/>
          </p:cNvSpPr>
          <p:nvPr>
            <p:ph type="title"/>
          </p:nvPr>
        </p:nvSpPr>
        <p:spPr>
          <a:xfrm>
            <a:off x="2184400" y="181838"/>
            <a:ext cx="8026400" cy="576262"/>
          </a:xfrm>
        </p:spPr>
        <p:txBody>
          <a:bodyPr>
            <a:normAutofit fontScale="90000"/>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xmlns="" id="{ABB3FE17-4C94-4A31-A709-AB137253300C}"/>
              </a:ext>
            </a:extLst>
          </p:cNvPr>
          <p:cNvSpPr>
            <a:spLocks noGrp="1" noChangeArrowheads="1"/>
          </p:cNvSpPr>
          <p:nvPr>
            <p:ph type="body" idx="1"/>
          </p:nvPr>
        </p:nvSpPr>
        <p:spPr>
          <a:xfrm>
            <a:off x="2354425" y="1144347"/>
            <a:ext cx="7341303" cy="4399927"/>
          </a:xfrm>
        </p:spPr>
        <p:txBody>
          <a:bodyPr>
            <a:normAutofit fontScale="92500" lnSpcReduction="20000"/>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xmlns="" id="{4CCD566E-DD44-408E-84CD-E9F177C9548D}"/>
              </a:ext>
            </a:extLst>
          </p:cNvPr>
          <p:cNvSpPr>
            <a:spLocks noGrp="1" noChangeArrowheads="1"/>
          </p:cNvSpPr>
          <p:nvPr>
            <p:ph type="title"/>
          </p:nvPr>
        </p:nvSpPr>
        <p:spPr>
          <a:xfrm>
            <a:off x="2762138" y="42179"/>
            <a:ext cx="8186349" cy="679450"/>
          </a:xfrm>
        </p:spPr>
        <p:txBody>
          <a:bodyPr>
            <a:normAutofit fontScale="90000"/>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xmlns="" id="{613E5F61-646B-48FF-83DC-0216A8F01A46}"/>
              </a:ext>
            </a:extLst>
          </p:cNvPr>
          <p:cNvSpPr>
            <a:spLocks noGrp="1" noChangeArrowheads="1"/>
          </p:cNvSpPr>
          <p:nvPr>
            <p:ph type="body" idx="1"/>
          </p:nvPr>
        </p:nvSpPr>
        <p:spPr>
          <a:xfrm>
            <a:off x="2330450"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xmlns="" id="{BE9B9DB7-2D01-4469-B225-66245C9CC07C}"/>
              </a:ext>
            </a:extLst>
          </p:cNvPr>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72769" y="2673752"/>
            <a:ext cx="3344406" cy="20315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52647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6076</TotalTime>
  <Words>1292</Words>
  <Application>Microsoft Office PowerPoint</Application>
  <PresentationFormat>Custom</PresentationFormat>
  <Paragraphs>262</Paragraphs>
  <Slides>32</Slides>
  <Notes>30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Process Mgmt-3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Mgmt-3 (CPU Scheduling</dc:title>
  <dc:creator>Sukhandeep Kaur</dc:creator>
  <cp:lastModifiedBy>hp</cp:lastModifiedBy>
  <cp:revision>20</cp:revision>
  <dcterms:created xsi:type="dcterms:W3CDTF">2026-02-01T06:23:25Z</dcterms:created>
  <dcterms:modified xsi:type="dcterms:W3CDTF">2026-03-10T07:41:22Z</dcterms:modified>
</cp:coreProperties>
</file>